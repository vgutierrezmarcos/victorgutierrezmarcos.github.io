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 y menú" id="{9C265430-4CD7-B96B-8331-BBBE629608BB}">
          <p14:sldIdLst>
            <p14:sldId id="256"/>
            <p14:sldId id="257"/>
          </p14:sldIdLst>
        </p14:section>
        <p14:section name="Tercer ejercicio" id="{70C2B632-BFC7-28CE-021F-FC4F28330D51}">
          <p14:sldIdLst>
            <p14:sldId id="258"/>
            <p14:sldId id="259"/>
            <p14:sldId id="260"/>
          </p14:sldIdLst>
        </p14:section>
        <p14:section name="Primer ejercicio" id="{304C739D-ADA9-B22C-F200-F5B23144572C}">
          <p14:sldIdLst>
            <p14:sldId id="261"/>
            <p14:sldId id="262"/>
            <p14:sldId id="263"/>
          </p14:sldIdLst>
        </p14:section>
        <p14:section name="Temas del tercer ejercicio" id="{FE0B3E2D-613B-0050-5448-774D1A6FEC5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Temas del primer ejercicio" id="{2282F632-3729-4D67-5BCB-3D22CC874061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156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7A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28600" y="73152"/>
            <a:ext cx="6400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A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elcabadogarcia.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image" Target="../media/image1.png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slide" Target="slide18.xml"/><Relationship Id="rId18" Type="http://schemas.openxmlformats.org/officeDocument/2006/relationships/slide" Target="slide23.xml"/><Relationship Id="rId26" Type="http://schemas.openxmlformats.org/officeDocument/2006/relationships/slide" Target="slide31.xml"/><Relationship Id="rId39" Type="http://schemas.openxmlformats.org/officeDocument/2006/relationships/slide" Target="slide44.xml"/><Relationship Id="rId21" Type="http://schemas.openxmlformats.org/officeDocument/2006/relationships/slide" Target="slide26.xml"/><Relationship Id="rId34" Type="http://schemas.openxmlformats.org/officeDocument/2006/relationships/slide" Target="slide39.xml"/><Relationship Id="rId42" Type="http://schemas.openxmlformats.org/officeDocument/2006/relationships/slide" Target="slide47.xml"/><Relationship Id="rId47" Type="http://schemas.openxmlformats.org/officeDocument/2006/relationships/slide" Target="slide52.xml"/><Relationship Id="rId50" Type="http://schemas.openxmlformats.org/officeDocument/2006/relationships/slide" Target="slide4.xml"/><Relationship Id="rId7" Type="http://schemas.openxmlformats.org/officeDocument/2006/relationships/slide" Target="slide12.xml"/><Relationship Id="rId2" Type="http://schemas.openxmlformats.org/officeDocument/2006/relationships/notesSlide" Target="../notesSlides/notesSlide3.xml"/><Relationship Id="rId16" Type="http://schemas.openxmlformats.org/officeDocument/2006/relationships/slide" Target="slide21.xml"/><Relationship Id="rId29" Type="http://schemas.openxmlformats.org/officeDocument/2006/relationships/slide" Target="slide34.xml"/><Relationship Id="rId11" Type="http://schemas.openxmlformats.org/officeDocument/2006/relationships/slide" Target="slide16.xml"/><Relationship Id="rId24" Type="http://schemas.openxmlformats.org/officeDocument/2006/relationships/slide" Target="slide29.xml"/><Relationship Id="rId32" Type="http://schemas.openxmlformats.org/officeDocument/2006/relationships/slide" Target="slide37.xml"/><Relationship Id="rId37" Type="http://schemas.openxmlformats.org/officeDocument/2006/relationships/slide" Target="slide42.xml"/><Relationship Id="rId40" Type="http://schemas.openxmlformats.org/officeDocument/2006/relationships/slide" Target="slide45.xml"/><Relationship Id="rId45" Type="http://schemas.openxmlformats.org/officeDocument/2006/relationships/slide" Target="slide50.xml"/><Relationship Id="rId5" Type="http://schemas.openxmlformats.org/officeDocument/2006/relationships/slide" Target="slide10.xml"/><Relationship Id="rId15" Type="http://schemas.openxmlformats.org/officeDocument/2006/relationships/slide" Target="slide20.xml"/><Relationship Id="rId23" Type="http://schemas.openxmlformats.org/officeDocument/2006/relationships/slide" Target="slide28.xml"/><Relationship Id="rId28" Type="http://schemas.openxmlformats.org/officeDocument/2006/relationships/slide" Target="slide33.xml"/><Relationship Id="rId36" Type="http://schemas.openxmlformats.org/officeDocument/2006/relationships/slide" Target="slide41.xml"/><Relationship Id="rId49" Type="http://schemas.openxmlformats.org/officeDocument/2006/relationships/slide" Target="slide5.xml"/><Relationship Id="rId10" Type="http://schemas.openxmlformats.org/officeDocument/2006/relationships/slide" Target="slide15.xml"/><Relationship Id="rId19" Type="http://schemas.openxmlformats.org/officeDocument/2006/relationships/slide" Target="slide24.xml"/><Relationship Id="rId31" Type="http://schemas.openxmlformats.org/officeDocument/2006/relationships/slide" Target="slide36.xml"/><Relationship Id="rId44" Type="http://schemas.openxmlformats.org/officeDocument/2006/relationships/slide" Target="slide49.xml"/><Relationship Id="rId4" Type="http://schemas.openxmlformats.org/officeDocument/2006/relationships/image" Target="../media/image1.png"/><Relationship Id="rId9" Type="http://schemas.openxmlformats.org/officeDocument/2006/relationships/slide" Target="slide14.xml"/><Relationship Id="rId14" Type="http://schemas.openxmlformats.org/officeDocument/2006/relationships/slide" Target="slide19.xml"/><Relationship Id="rId22" Type="http://schemas.openxmlformats.org/officeDocument/2006/relationships/slide" Target="slide27.xml"/><Relationship Id="rId27" Type="http://schemas.openxmlformats.org/officeDocument/2006/relationships/slide" Target="slide32.xml"/><Relationship Id="rId30" Type="http://schemas.openxmlformats.org/officeDocument/2006/relationships/slide" Target="slide35.xml"/><Relationship Id="rId35" Type="http://schemas.openxmlformats.org/officeDocument/2006/relationships/slide" Target="slide40.xml"/><Relationship Id="rId43" Type="http://schemas.openxmlformats.org/officeDocument/2006/relationships/slide" Target="slide48.xml"/><Relationship Id="rId48" Type="http://schemas.openxmlformats.org/officeDocument/2006/relationships/slide" Target="slide2.xml"/><Relationship Id="rId8" Type="http://schemas.openxmlformats.org/officeDocument/2006/relationships/slide" Target="slide13.xml"/><Relationship Id="rId3" Type="http://schemas.openxmlformats.org/officeDocument/2006/relationships/slide" Target="slide9.xml"/><Relationship Id="rId12" Type="http://schemas.openxmlformats.org/officeDocument/2006/relationships/slide" Target="slide17.xml"/><Relationship Id="rId17" Type="http://schemas.openxmlformats.org/officeDocument/2006/relationships/slide" Target="slide22.xml"/><Relationship Id="rId25" Type="http://schemas.openxmlformats.org/officeDocument/2006/relationships/slide" Target="slide30.xml"/><Relationship Id="rId33" Type="http://schemas.openxmlformats.org/officeDocument/2006/relationships/slide" Target="slide38.xml"/><Relationship Id="rId38" Type="http://schemas.openxmlformats.org/officeDocument/2006/relationships/slide" Target="slide43.xml"/><Relationship Id="rId46" Type="http://schemas.openxmlformats.org/officeDocument/2006/relationships/slide" Target="slide51.xml"/><Relationship Id="rId20" Type="http://schemas.openxmlformats.org/officeDocument/2006/relationships/slide" Target="slide25.xml"/><Relationship Id="rId41" Type="http://schemas.openxmlformats.org/officeDocument/2006/relationships/slide" Target="slide46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slide" Target="slide16.xml"/><Relationship Id="rId18" Type="http://schemas.openxmlformats.org/officeDocument/2006/relationships/slide" Target="slide27.xml"/><Relationship Id="rId26" Type="http://schemas.openxmlformats.org/officeDocument/2006/relationships/slide" Target="slide49.xml"/><Relationship Id="rId39" Type="http://schemas.openxmlformats.org/officeDocument/2006/relationships/slide" Target="slide43.xml"/><Relationship Id="rId21" Type="http://schemas.openxmlformats.org/officeDocument/2006/relationships/slide" Target="slide25.xml"/><Relationship Id="rId34" Type="http://schemas.openxmlformats.org/officeDocument/2006/relationships/slide" Target="slide38.xml"/><Relationship Id="rId42" Type="http://schemas.openxmlformats.org/officeDocument/2006/relationships/slide" Target="slide52.xml"/><Relationship Id="rId47" Type="http://schemas.openxmlformats.org/officeDocument/2006/relationships/slide" Target="slide46.xml"/><Relationship Id="rId50" Type="http://schemas.openxmlformats.org/officeDocument/2006/relationships/slide" Target="slide3.xml"/><Relationship Id="rId7" Type="http://schemas.openxmlformats.org/officeDocument/2006/relationships/slide" Target="slide12.xml"/><Relationship Id="rId2" Type="http://schemas.openxmlformats.org/officeDocument/2006/relationships/notesSlide" Target="../notesSlides/notesSlide4.xml"/><Relationship Id="rId16" Type="http://schemas.openxmlformats.org/officeDocument/2006/relationships/slide" Target="slide21.xml"/><Relationship Id="rId29" Type="http://schemas.openxmlformats.org/officeDocument/2006/relationships/slide" Target="slide33.xml"/><Relationship Id="rId11" Type="http://schemas.openxmlformats.org/officeDocument/2006/relationships/slide" Target="slide20.xml"/><Relationship Id="rId24" Type="http://schemas.openxmlformats.org/officeDocument/2006/relationships/slide" Target="slide22.xml"/><Relationship Id="rId32" Type="http://schemas.openxmlformats.org/officeDocument/2006/relationships/slide" Target="slide41.xml"/><Relationship Id="rId37" Type="http://schemas.openxmlformats.org/officeDocument/2006/relationships/slide" Target="slide39.xml"/><Relationship Id="rId40" Type="http://schemas.openxmlformats.org/officeDocument/2006/relationships/slide" Target="slide50.xml"/><Relationship Id="rId45" Type="http://schemas.openxmlformats.org/officeDocument/2006/relationships/slide" Target="slide47.xml"/><Relationship Id="rId5" Type="http://schemas.openxmlformats.org/officeDocument/2006/relationships/slide" Target="slide10.xml"/><Relationship Id="rId15" Type="http://schemas.openxmlformats.org/officeDocument/2006/relationships/slide" Target="slide18.xml"/><Relationship Id="rId23" Type="http://schemas.openxmlformats.org/officeDocument/2006/relationships/slide" Target="slide28.xml"/><Relationship Id="rId28" Type="http://schemas.openxmlformats.org/officeDocument/2006/relationships/slide" Target="slide34.xml"/><Relationship Id="rId36" Type="http://schemas.openxmlformats.org/officeDocument/2006/relationships/slide" Target="slide40.xml"/><Relationship Id="rId49" Type="http://schemas.openxmlformats.org/officeDocument/2006/relationships/slide" Target="slide5.xml"/><Relationship Id="rId10" Type="http://schemas.openxmlformats.org/officeDocument/2006/relationships/slide" Target="slide13.xml"/><Relationship Id="rId19" Type="http://schemas.openxmlformats.org/officeDocument/2006/relationships/slide" Target="slide23.xml"/><Relationship Id="rId31" Type="http://schemas.openxmlformats.org/officeDocument/2006/relationships/slide" Target="slide35.xml"/><Relationship Id="rId44" Type="http://schemas.openxmlformats.org/officeDocument/2006/relationships/slide" Target="slide45.xml"/><Relationship Id="rId4" Type="http://schemas.openxmlformats.org/officeDocument/2006/relationships/image" Target="../media/image1.png"/><Relationship Id="rId9" Type="http://schemas.openxmlformats.org/officeDocument/2006/relationships/slide" Target="slide14.xml"/><Relationship Id="rId14" Type="http://schemas.openxmlformats.org/officeDocument/2006/relationships/slide" Target="slide26.xml"/><Relationship Id="rId22" Type="http://schemas.openxmlformats.org/officeDocument/2006/relationships/slide" Target="slide29.xml"/><Relationship Id="rId27" Type="http://schemas.openxmlformats.org/officeDocument/2006/relationships/slide" Target="slide31.xml"/><Relationship Id="rId30" Type="http://schemas.openxmlformats.org/officeDocument/2006/relationships/slide" Target="slide32.xml"/><Relationship Id="rId35" Type="http://schemas.openxmlformats.org/officeDocument/2006/relationships/slide" Target="slide42.xml"/><Relationship Id="rId43" Type="http://schemas.openxmlformats.org/officeDocument/2006/relationships/slide" Target="slide44.xml"/><Relationship Id="rId48" Type="http://schemas.openxmlformats.org/officeDocument/2006/relationships/slide" Target="slide2.xml"/><Relationship Id="rId8" Type="http://schemas.openxmlformats.org/officeDocument/2006/relationships/slide" Target="slide15.xml"/><Relationship Id="rId3" Type="http://schemas.openxmlformats.org/officeDocument/2006/relationships/slide" Target="slide9.xml"/><Relationship Id="rId12" Type="http://schemas.openxmlformats.org/officeDocument/2006/relationships/slide" Target="slide19.xml"/><Relationship Id="rId17" Type="http://schemas.openxmlformats.org/officeDocument/2006/relationships/slide" Target="slide17.xml"/><Relationship Id="rId25" Type="http://schemas.openxmlformats.org/officeDocument/2006/relationships/slide" Target="slide30.xml"/><Relationship Id="rId33" Type="http://schemas.openxmlformats.org/officeDocument/2006/relationships/slide" Target="slide36.xml"/><Relationship Id="rId38" Type="http://schemas.openxmlformats.org/officeDocument/2006/relationships/slide" Target="slide37.xml"/><Relationship Id="rId46" Type="http://schemas.openxmlformats.org/officeDocument/2006/relationships/slide" Target="slide48.xml"/><Relationship Id="rId20" Type="http://schemas.openxmlformats.org/officeDocument/2006/relationships/slide" Target="slide24.xml"/><Relationship Id="rId41" Type="http://schemas.openxmlformats.org/officeDocument/2006/relationships/slide" Target="slide5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50.xml"/><Relationship Id="rId3" Type="http://schemas.openxmlformats.org/officeDocument/2006/relationships/slide" Target="slide11.xml"/><Relationship Id="rId7" Type="http://schemas.openxmlformats.org/officeDocument/2006/relationships/slide" Target="slide22.xml"/><Relationship Id="rId12" Type="http://schemas.openxmlformats.org/officeDocument/2006/relationships/slide" Target="slide44.xml"/><Relationship Id="rId17" Type="http://schemas.openxmlformats.org/officeDocument/2006/relationships/slide" Target="slide3.xml"/><Relationship Id="rId2" Type="http://schemas.openxmlformats.org/officeDocument/2006/relationships/notesSlide" Target="../notesSlides/notesSlide5.xml"/><Relationship Id="rId16" Type="http://schemas.openxmlformats.org/officeDocument/2006/relationships/slide" Target="slide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6.xml"/><Relationship Id="rId11" Type="http://schemas.openxmlformats.org/officeDocument/2006/relationships/slide" Target="slide43.xml"/><Relationship Id="rId5" Type="http://schemas.openxmlformats.org/officeDocument/2006/relationships/slide" Target="slide19.xml"/><Relationship Id="rId15" Type="http://schemas.openxmlformats.org/officeDocument/2006/relationships/slide" Target="slide2.xml"/><Relationship Id="rId10" Type="http://schemas.openxmlformats.org/officeDocument/2006/relationships/slide" Target="slide36.xml"/><Relationship Id="rId4" Type="http://schemas.openxmlformats.org/officeDocument/2006/relationships/image" Target="../media/image1.png"/><Relationship Id="rId9" Type="http://schemas.openxmlformats.org/officeDocument/2006/relationships/slide" Target="slide32.xml"/><Relationship Id="rId1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slide" Target="slide62.xml"/><Relationship Id="rId18" Type="http://schemas.openxmlformats.org/officeDocument/2006/relationships/slide" Target="slide67.xml"/><Relationship Id="rId26" Type="http://schemas.openxmlformats.org/officeDocument/2006/relationships/slide" Target="slide75.xml"/><Relationship Id="rId39" Type="http://schemas.openxmlformats.org/officeDocument/2006/relationships/slide" Target="slide88.xml"/><Relationship Id="rId21" Type="http://schemas.openxmlformats.org/officeDocument/2006/relationships/slide" Target="slide70.xml"/><Relationship Id="rId34" Type="http://schemas.openxmlformats.org/officeDocument/2006/relationships/slide" Target="slide83.xml"/><Relationship Id="rId42" Type="http://schemas.openxmlformats.org/officeDocument/2006/relationships/slide" Target="slide7.xml"/><Relationship Id="rId7" Type="http://schemas.openxmlformats.org/officeDocument/2006/relationships/slide" Target="slide56.xml"/><Relationship Id="rId2" Type="http://schemas.openxmlformats.org/officeDocument/2006/relationships/notesSlide" Target="../notesSlides/notesSlide6.xml"/><Relationship Id="rId16" Type="http://schemas.openxmlformats.org/officeDocument/2006/relationships/slide" Target="slide65.xml"/><Relationship Id="rId20" Type="http://schemas.openxmlformats.org/officeDocument/2006/relationships/slide" Target="slide69.xml"/><Relationship Id="rId29" Type="http://schemas.openxmlformats.org/officeDocument/2006/relationships/slide" Target="slide78.xml"/><Relationship Id="rId41" Type="http://schemas.openxmlformats.org/officeDocument/2006/relationships/slide" Target="slide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55.xml"/><Relationship Id="rId11" Type="http://schemas.openxmlformats.org/officeDocument/2006/relationships/slide" Target="slide60.xml"/><Relationship Id="rId24" Type="http://schemas.openxmlformats.org/officeDocument/2006/relationships/slide" Target="slide73.xml"/><Relationship Id="rId32" Type="http://schemas.openxmlformats.org/officeDocument/2006/relationships/slide" Target="slide81.xml"/><Relationship Id="rId37" Type="http://schemas.openxmlformats.org/officeDocument/2006/relationships/slide" Target="slide86.xml"/><Relationship Id="rId40" Type="http://schemas.openxmlformats.org/officeDocument/2006/relationships/slide" Target="slide2.xml"/><Relationship Id="rId5" Type="http://schemas.openxmlformats.org/officeDocument/2006/relationships/slide" Target="slide54.xml"/><Relationship Id="rId15" Type="http://schemas.openxmlformats.org/officeDocument/2006/relationships/slide" Target="slide64.xml"/><Relationship Id="rId23" Type="http://schemas.openxmlformats.org/officeDocument/2006/relationships/slide" Target="slide72.xml"/><Relationship Id="rId28" Type="http://schemas.openxmlformats.org/officeDocument/2006/relationships/slide" Target="slide77.xml"/><Relationship Id="rId36" Type="http://schemas.openxmlformats.org/officeDocument/2006/relationships/slide" Target="slide85.xml"/><Relationship Id="rId10" Type="http://schemas.openxmlformats.org/officeDocument/2006/relationships/slide" Target="slide59.xml"/><Relationship Id="rId19" Type="http://schemas.openxmlformats.org/officeDocument/2006/relationships/slide" Target="slide68.xml"/><Relationship Id="rId31" Type="http://schemas.openxmlformats.org/officeDocument/2006/relationships/slide" Target="slide80.xml"/><Relationship Id="rId4" Type="http://schemas.openxmlformats.org/officeDocument/2006/relationships/image" Target="../media/image1.png"/><Relationship Id="rId9" Type="http://schemas.openxmlformats.org/officeDocument/2006/relationships/slide" Target="slide58.xml"/><Relationship Id="rId14" Type="http://schemas.openxmlformats.org/officeDocument/2006/relationships/slide" Target="slide63.xml"/><Relationship Id="rId22" Type="http://schemas.openxmlformats.org/officeDocument/2006/relationships/slide" Target="slide71.xml"/><Relationship Id="rId27" Type="http://schemas.openxmlformats.org/officeDocument/2006/relationships/slide" Target="slide76.xml"/><Relationship Id="rId30" Type="http://schemas.openxmlformats.org/officeDocument/2006/relationships/slide" Target="slide79.xml"/><Relationship Id="rId35" Type="http://schemas.openxmlformats.org/officeDocument/2006/relationships/slide" Target="slide84.xml"/><Relationship Id="rId8" Type="http://schemas.openxmlformats.org/officeDocument/2006/relationships/slide" Target="slide57.xml"/><Relationship Id="rId3" Type="http://schemas.openxmlformats.org/officeDocument/2006/relationships/slide" Target="slide53.xml"/><Relationship Id="rId12" Type="http://schemas.openxmlformats.org/officeDocument/2006/relationships/slide" Target="slide61.xml"/><Relationship Id="rId17" Type="http://schemas.openxmlformats.org/officeDocument/2006/relationships/slide" Target="slide66.xml"/><Relationship Id="rId25" Type="http://schemas.openxmlformats.org/officeDocument/2006/relationships/slide" Target="slide74.xml"/><Relationship Id="rId33" Type="http://schemas.openxmlformats.org/officeDocument/2006/relationships/slide" Target="slide82.xml"/><Relationship Id="rId38" Type="http://schemas.openxmlformats.org/officeDocument/2006/relationships/slide" Target="slide8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slide" Target="slide53.xml"/><Relationship Id="rId18" Type="http://schemas.openxmlformats.org/officeDocument/2006/relationships/slide" Target="slide79.xml"/><Relationship Id="rId26" Type="http://schemas.openxmlformats.org/officeDocument/2006/relationships/slide" Target="slide72.xml"/><Relationship Id="rId39" Type="http://schemas.openxmlformats.org/officeDocument/2006/relationships/slide" Target="slide64.xml"/><Relationship Id="rId21" Type="http://schemas.openxmlformats.org/officeDocument/2006/relationships/slide" Target="slide77.xml"/><Relationship Id="rId34" Type="http://schemas.openxmlformats.org/officeDocument/2006/relationships/slide" Target="slide85.xml"/><Relationship Id="rId42" Type="http://schemas.openxmlformats.org/officeDocument/2006/relationships/slide" Target="slide6.xml"/><Relationship Id="rId7" Type="http://schemas.openxmlformats.org/officeDocument/2006/relationships/slide" Target="slide63.xml"/><Relationship Id="rId2" Type="http://schemas.openxmlformats.org/officeDocument/2006/relationships/notesSlide" Target="../notesSlides/notesSlide7.xml"/><Relationship Id="rId16" Type="http://schemas.openxmlformats.org/officeDocument/2006/relationships/slide" Target="slide61.xml"/><Relationship Id="rId20" Type="http://schemas.openxmlformats.org/officeDocument/2006/relationships/slide" Target="slide83.xml"/><Relationship Id="rId29" Type="http://schemas.openxmlformats.org/officeDocument/2006/relationships/slide" Target="slide75.xml"/><Relationship Id="rId41" Type="http://schemas.openxmlformats.org/officeDocument/2006/relationships/slide" Target="slide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62.xml"/><Relationship Id="rId11" Type="http://schemas.openxmlformats.org/officeDocument/2006/relationships/slide" Target="slide58.xml"/><Relationship Id="rId24" Type="http://schemas.openxmlformats.org/officeDocument/2006/relationships/slide" Target="slide78.xml"/><Relationship Id="rId32" Type="http://schemas.openxmlformats.org/officeDocument/2006/relationships/slide" Target="slide70.xml"/><Relationship Id="rId37" Type="http://schemas.openxmlformats.org/officeDocument/2006/relationships/slide" Target="slide86.xml"/><Relationship Id="rId40" Type="http://schemas.openxmlformats.org/officeDocument/2006/relationships/slide" Target="slide2.xml"/><Relationship Id="rId5" Type="http://schemas.openxmlformats.org/officeDocument/2006/relationships/slide" Target="slide56.xml"/><Relationship Id="rId15" Type="http://schemas.openxmlformats.org/officeDocument/2006/relationships/slide" Target="slide69.xml"/><Relationship Id="rId23" Type="http://schemas.openxmlformats.org/officeDocument/2006/relationships/slide" Target="slide80.xml"/><Relationship Id="rId28" Type="http://schemas.openxmlformats.org/officeDocument/2006/relationships/slide" Target="slide74.xml"/><Relationship Id="rId36" Type="http://schemas.openxmlformats.org/officeDocument/2006/relationships/slide" Target="slide87.xml"/><Relationship Id="rId10" Type="http://schemas.openxmlformats.org/officeDocument/2006/relationships/slide" Target="slide57.xml"/><Relationship Id="rId19" Type="http://schemas.openxmlformats.org/officeDocument/2006/relationships/slide" Target="slide82.xml"/><Relationship Id="rId31" Type="http://schemas.openxmlformats.org/officeDocument/2006/relationships/slide" Target="slide67.xml"/><Relationship Id="rId4" Type="http://schemas.openxmlformats.org/officeDocument/2006/relationships/image" Target="../media/image1.png"/><Relationship Id="rId9" Type="http://schemas.openxmlformats.org/officeDocument/2006/relationships/slide" Target="slide54.xml"/><Relationship Id="rId14" Type="http://schemas.openxmlformats.org/officeDocument/2006/relationships/slide" Target="slide68.xml"/><Relationship Id="rId22" Type="http://schemas.openxmlformats.org/officeDocument/2006/relationships/slide" Target="slide81.xml"/><Relationship Id="rId27" Type="http://schemas.openxmlformats.org/officeDocument/2006/relationships/slide" Target="slide73.xml"/><Relationship Id="rId30" Type="http://schemas.openxmlformats.org/officeDocument/2006/relationships/slide" Target="slide66.xml"/><Relationship Id="rId35" Type="http://schemas.openxmlformats.org/officeDocument/2006/relationships/slide" Target="slide88.xml"/><Relationship Id="rId8" Type="http://schemas.openxmlformats.org/officeDocument/2006/relationships/slide" Target="slide60.xml"/><Relationship Id="rId3" Type="http://schemas.openxmlformats.org/officeDocument/2006/relationships/slide" Target="slide55.xml"/><Relationship Id="rId12" Type="http://schemas.openxmlformats.org/officeDocument/2006/relationships/slide" Target="slide59.xml"/><Relationship Id="rId17" Type="http://schemas.openxmlformats.org/officeDocument/2006/relationships/slide" Target="slide76.xml"/><Relationship Id="rId25" Type="http://schemas.openxmlformats.org/officeDocument/2006/relationships/slide" Target="slide71.xml"/><Relationship Id="rId33" Type="http://schemas.openxmlformats.org/officeDocument/2006/relationships/slide" Target="slide84.xml"/><Relationship Id="rId38" Type="http://schemas.openxmlformats.org/officeDocument/2006/relationships/slide" Target="slide6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4.xml"/><Relationship Id="rId13" Type="http://schemas.openxmlformats.org/officeDocument/2006/relationships/slide" Target="slide76.xml"/><Relationship Id="rId3" Type="http://schemas.openxmlformats.org/officeDocument/2006/relationships/slide" Target="slide53.xml"/><Relationship Id="rId7" Type="http://schemas.openxmlformats.org/officeDocument/2006/relationships/slide" Target="slide62.xml"/><Relationship Id="rId12" Type="http://schemas.openxmlformats.org/officeDocument/2006/relationships/slide" Target="slide71.xml"/><Relationship Id="rId17" Type="http://schemas.openxmlformats.org/officeDocument/2006/relationships/slide" Target="slide6.xml"/><Relationship Id="rId2" Type="http://schemas.openxmlformats.org/officeDocument/2006/relationships/notesSlide" Target="../notesSlides/notesSlide8.xml"/><Relationship Id="rId16" Type="http://schemas.openxmlformats.org/officeDocument/2006/relationships/slide" Target="slide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61.xml"/><Relationship Id="rId11" Type="http://schemas.openxmlformats.org/officeDocument/2006/relationships/slide" Target="slide68.xml"/><Relationship Id="rId5" Type="http://schemas.openxmlformats.org/officeDocument/2006/relationships/slide" Target="slide55.xml"/><Relationship Id="rId15" Type="http://schemas.openxmlformats.org/officeDocument/2006/relationships/slide" Target="slide2.xml"/><Relationship Id="rId10" Type="http://schemas.openxmlformats.org/officeDocument/2006/relationships/slide" Target="slide66.xml"/><Relationship Id="rId4" Type="http://schemas.openxmlformats.org/officeDocument/2006/relationships/image" Target="../media/image1.png"/><Relationship Id="rId9" Type="http://schemas.openxmlformats.org/officeDocument/2006/relationships/slide" Target="slide65.xml"/><Relationship Id="rId14" Type="http://schemas.openxmlformats.org/officeDocument/2006/relationships/slide" Target="slide8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10.xml"/><Relationship Id="rId7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uelcabadogarcia.es/microeconomia/01-tema-a1.html" TargetMode="Externa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9.xml"/><Relationship Id="rId7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uelcabadogarcia.es/microeconomia/02-tema-a2.html" TargetMode="Externa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2.xml"/><Relationship Id="rId7" Type="http://schemas.openxmlformats.org/officeDocument/2006/relationships/slide" Target="slide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4.xml"/><Relationship Id="rId11" Type="http://schemas.openxmlformats.org/officeDocument/2006/relationships/slide" Target="slide3.xml"/><Relationship Id="rId5" Type="http://schemas.openxmlformats.org/officeDocument/2006/relationships/slide" Target="slide13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hyperlink" Target="https://manuelcabadogarcia.es/microeconomia/03-tema-a3.htm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1.xml"/><Relationship Id="rId7" Type="http://schemas.openxmlformats.org/officeDocument/2006/relationships/slide" Target="slide1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4.xml"/><Relationship Id="rId11" Type="http://schemas.openxmlformats.org/officeDocument/2006/relationships/slide" Target="slide3.xml"/><Relationship Id="rId5" Type="http://schemas.openxmlformats.org/officeDocument/2006/relationships/slide" Target="slide13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hyperlink" Target="https://manuelcabadogarcia.es/microeconomia/04-tema-a4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1.xml"/><Relationship Id="rId7" Type="http://schemas.openxmlformats.org/officeDocument/2006/relationships/slide" Target="slide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4.xml"/><Relationship Id="rId11" Type="http://schemas.openxmlformats.org/officeDocument/2006/relationships/slide" Target="slide3.xml"/><Relationship Id="rId5" Type="http://schemas.openxmlformats.org/officeDocument/2006/relationships/slide" Target="slide12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hyperlink" Target="https://manuelcabadogarcia.es/microeconomia/05-tema-a5.html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1.xml"/><Relationship Id="rId7" Type="http://schemas.openxmlformats.org/officeDocument/2006/relationships/slide" Target="slide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3.xml"/><Relationship Id="rId11" Type="http://schemas.openxmlformats.org/officeDocument/2006/relationships/slide" Target="slide3.xml"/><Relationship Id="rId5" Type="http://schemas.openxmlformats.org/officeDocument/2006/relationships/slide" Target="slide12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hyperlink" Target="https://manuelcabadogarcia.es/microeconomia/06-tema-a6.html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1.xml"/><Relationship Id="rId7" Type="http://schemas.openxmlformats.org/officeDocument/2006/relationships/slide" Target="slide14.xml"/><Relationship Id="rId12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3.xml"/><Relationship Id="rId11" Type="http://schemas.openxmlformats.org/officeDocument/2006/relationships/slide" Target="slide2.xml"/><Relationship Id="rId5" Type="http://schemas.openxmlformats.org/officeDocument/2006/relationships/slide" Target="slide12.xml"/><Relationship Id="rId10" Type="http://schemas.openxmlformats.org/officeDocument/2006/relationships/hyperlink" Target="https://manuelcabadogarcia.es/microeconomia/07-tema-a7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slide" Target="slide3.xml"/><Relationship Id="rId3" Type="http://schemas.openxmlformats.org/officeDocument/2006/relationships/slide" Target="slide17.xml"/><Relationship Id="rId7" Type="http://schemas.openxmlformats.org/officeDocument/2006/relationships/slide" Target="slide26.xml"/><Relationship Id="rId12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1.xml"/><Relationship Id="rId11" Type="http://schemas.openxmlformats.org/officeDocument/2006/relationships/hyperlink" Target="https://manuelcabadogarcia.es/microeconomia/08-tema-a8.html" TargetMode="External"/><Relationship Id="rId5" Type="http://schemas.openxmlformats.org/officeDocument/2006/relationships/slide" Target="slide18.xml"/><Relationship Id="rId10" Type="http://schemas.openxmlformats.org/officeDocument/2006/relationships/slide" Target="slide4.xml"/><Relationship Id="rId4" Type="http://schemas.openxmlformats.org/officeDocument/2006/relationships/image" Target="../media/image1.png"/><Relationship Id="rId9" Type="http://schemas.openxmlformats.org/officeDocument/2006/relationships/slide" Target="slide1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16.xml"/><Relationship Id="rId7" Type="http://schemas.openxmlformats.org/officeDocument/2006/relationships/slide" Target="slide26.xml"/><Relationship Id="rId12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1.xml"/><Relationship Id="rId11" Type="http://schemas.openxmlformats.org/officeDocument/2006/relationships/slide" Target="slide2.xml"/><Relationship Id="rId5" Type="http://schemas.openxmlformats.org/officeDocument/2006/relationships/slide" Target="slide18.xml"/><Relationship Id="rId10" Type="http://schemas.openxmlformats.org/officeDocument/2006/relationships/hyperlink" Target="https://manuelcabadogarcia.es/microeconomia/09-tema-a9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3" Type="http://schemas.openxmlformats.org/officeDocument/2006/relationships/slide" Target="slide16.xml"/><Relationship Id="rId7" Type="http://schemas.openxmlformats.org/officeDocument/2006/relationships/slide" Target="slide26.xml"/><Relationship Id="rId12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1.xml"/><Relationship Id="rId11" Type="http://schemas.openxmlformats.org/officeDocument/2006/relationships/slide" Target="slide2.xml"/><Relationship Id="rId5" Type="http://schemas.openxmlformats.org/officeDocument/2006/relationships/slide" Target="slide17.xml"/><Relationship Id="rId10" Type="http://schemas.openxmlformats.org/officeDocument/2006/relationships/hyperlink" Target="https://manuelcabadogarcia.es/microeconomia/10-tema-a10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20.xml"/><Relationship Id="rId7" Type="http://schemas.openxmlformats.org/officeDocument/2006/relationships/slide" Target="slide16.xml"/><Relationship Id="rId12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1.xml"/><Relationship Id="rId11" Type="http://schemas.openxmlformats.org/officeDocument/2006/relationships/slide" Target="slide4.xml"/><Relationship Id="rId5" Type="http://schemas.openxmlformats.org/officeDocument/2006/relationships/slide" Target="slide13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hyperlink" Target="https://manuelcabadogarcia.es/microeconomia/11-tema-a11.html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manuelcabadogarcia.es/microeconomia/12-tema-a12.html" TargetMode="External"/><Relationship Id="rId3" Type="http://schemas.openxmlformats.org/officeDocument/2006/relationships/slide" Target="slide19.xml"/><Relationship Id="rId7" Type="http://schemas.openxmlformats.org/officeDocument/2006/relationships/slide" Target="slide4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1.xml"/><Relationship Id="rId11" Type="http://schemas.openxmlformats.org/officeDocument/2006/relationships/slide" Target="slide3.xml"/><Relationship Id="rId5" Type="http://schemas.openxmlformats.org/officeDocument/2006/relationships/slide" Target="slide13.xml"/><Relationship Id="rId10" Type="http://schemas.openxmlformats.org/officeDocument/2006/relationships/slide" Target="slide4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slide" Target="slide16.xml"/><Relationship Id="rId7" Type="http://schemas.openxmlformats.org/officeDocument/2006/relationships/slide" Target="slide26.xml"/><Relationship Id="rId12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8.xml"/><Relationship Id="rId11" Type="http://schemas.openxmlformats.org/officeDocument/2006/relationships/slide" Target="slide2.xml"/><Relationship Id="rId5" Type="http://schemas.openxmlformats.org/officeDocument/2006/relationships/slide" Target="slide17.xml"/><Relationship Id="rId10" Type="http://schemas.openxmlformats.org/officeDocument/2006/relationships/hyperlink" Target="https://manuelcabadogarcia.es/microeconomia/13-tema-a13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hyperlink" Target="https://manuelcabadogarcia.es/microeconomia/14-tema-a14.html" TargetMode="External"/><Relationship Id="rId3" Type="http://schemas.openxmlformats.org/officeDocument/2006/relationships/slide" Target="slide23.xml"/><Relationship Id="rId7" Type="http://schemas.openxmlformats.org/officeDocument/2006/relationships/slide" Target="slide27.xml"/><Relationship Id="rId12" Type="http://schemas.openxmlformats.org/officeDocument/2006/relationships/slide" Target="slide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5.xml"/><Relationship Id="rId11" Type="http://schemas.openxmlformats.org/officeDocument/2006/relationships/slide" Target="slide44.xml"/><Relationship Id="rId5" Type="http://schemas.openxmlformats.org/officeDocument/2006/relationships/slide" Target="slide24.xml"/><Relationship Id="rId15" Type="http://schemas.openxmlformats.org/officeDocument/2006/relationships/slide" Target="slide3.xml"/><Relationship Id="rId10" Type="http://schemas.openxmlformats.org/officeDocument/2006/relationships/slide" Target="slide30.xml"/><Relationship Id="rId4" Type="http://schemas.openxmlformats.org/officeDocument/2006/relationships/image" Target="../media/image1.png"/><Relationship Id="rId9" Type="http://schemas.openxmlformats.org/officeDocument/2006/relationships/slide" Target="slide29.xml"/><Relationship Id="rId1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2.xml"/><Relationship Id="rId3" Type="http://schemas.openxmlformats.org/officeDocument/2006/relationships/slide" Target="slide22.xml"/><Relationship Id="rId7" Type="http://schemas.openxmlformats.org/officeDocument/2006/relationships/slide" Target="slide27.xml"/><Relationship Id="rId12" Type="http://schemas.openxmlformats.org/officeDocument/2006/relationships/hyperlink" Target="https://manuelcabadogarcia.es/microeconomia/15-tema-a15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5.xml"/><Relationship Id="rId11" Type="http://schemas.openxmlformats.org/officeDocument/2006/relationships/slide" Target="slide4.xml"/><Relationship Id="rId5" Type="http://schemas.openxmlformats.org/officeDocument/2006/relationships/slide" Target="slide24.xml"/><Relationship Id="rId10" Type="http://schemas.openxmlformats.org/officeDocument/2006/relationships/slide" Target="slide30.xml"/><Relationship Id="rId4" Type="http://schemas.openxmlformats.org/officeDocument/2006/relationships/image" Target="../media/image1.png"/><Relationship Id="rId9" Type="http://schemas.openxmlformats.org/officeDocument/2006/relationships/slide" Target="slide29.xml"/><Relationship Id="rId14" Type="http://schemas.openxmlformats.org/officeDocument/2006/relationships/slide" Target="slide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2.xml"/><Relationship Id="rId3" Type="http://schemas.openxmlformats.org/officeDocument/2006/relationships/slide" Target="slide22.xml"/><Relationship Id="rId7" Type="http://schemas.openxmlformats.org/officeDocument/2006/relationships/slide" Target="slide27.xml"/><Relationship Id="rId12" Type="http://schemas.openxmlformats.org/officeDocument/2006/relationships/hyperlink" Target="https://manuelcabadogarcia.es/microeconomia/16-tema-a16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5.xml"/><Relationship Id="rId11" Type="http://schemas.openxmlformats.org/officeDocument/2006/relationships/slide" Target="slide4.xml"/><Relationship Id="rId5" Type="http://schemas.openxmlformats.org/officeDocument/2006/relationships/slide" Target="slide23.xml"/><Relationship Id="rId10" Type="http://schemas.openxmlformats.org/officeDocument/2006/relationships/slide" Target="slide30.xml"/><Relationship Id="rId4" Type="http://schemas.openxmlformats.org/officeDocument/2006/relationships/image" Target="../media/image1.png"/><Relationship Id="rId9" Type="http://schemas.openxmlformats.org/officeDocument/2006/relationships/slide" Target="slide29.xml"/><Relationship Id="rId14" Type="http://schemas.openxmlformats.org/officeDocument/2006/relationships/slide" Target="slide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2.xml"/><Relationship Id="rId3" Type="http://schemas.openxmlformats.org/officeDocument/2006/relationships/slide" Target="slide22.xml"/><Relationship Id="rId7" Type="http://schemas.openxmlformats.org/officeDocument/2006/relationships/slide" Target="slide27.xml"/><Relationship Id="rId12" Type="http://schemas.openxmlformats.org/officeDocument/2006/relationships/hyperlink" Target="https://manuelcabadogarcia.es/microeconomia/17-tema-a17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4.xml"/><Relationship Id="rId5" Type="http://schemas.openxmlformats.org/officeDocument/2006/relationships/slide" Target="slide23.xml"/><Relationship Id="rId10" Type="http://schemas.openxmlformats.org/officeDocument/2006/relationships/slide" Target="slide30.xml"/><Relationship Id="rId4" Type="http://schemas.openxmlformats.org/officeDocument/2006/relationships/image" Target="../media/image1.png"/><Relationship Id="rId9" Type="http://schemas.openxmlformats.org/officeDocument/2006/relationships/slide" Target="slide29.xml"/><Relationship Id="rId14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6.xml"/><Relationship Id="rId7" Type="http://schemas.openxmlformats.org/officeDocument/2006/relationships/slide" Target="slide2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8.xml"/><Relationship Id="rId11" Type="http://schemas.openxmlformats.org/officeDocument/2006/relationships/slide" Target="slide3.xml"/><Relationship Id="rId5" Type="http://schemas.openxmlformats.org/officeDocument/2006/relationships/slide" Target="slide17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hyperlink" Target="https://manuelcabadogarcia.es/microeconomia/18-tema-a18.html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2.xml"/><Relationship Id="rId3" Type="http://schemas.openxmlformats.org/officeDocument/2006/relationships/slide" Target="slide22.xml"/><Relationship Id="rId7" Type="http://schemas.openxmlformats.org/officeDocument/2006/relationships/slide" Target="slide25.xml"/><Relationship Id="rId12" Type="http://schemas.openxmlformats.org/officeDocument/2006/relationships/hyperlink" Target="https://manuelcabadogarcia.es/microeconomia/19-tema-a19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4.xml"/><Relationship Id="rId5" Type="http://schemas.openxmlformats.org/officeDocument/2006/relationships/slide" Target="slide23.xml"/><Relationship Id="rId10" Type="http://schemas.openxmlformats.org/officeDocument/2006/relationships/slide" Target="slide30.xml"/><Relationship Id="rId4" Type="http://schemas.openxmlformats.org/officeDocument/2006/relationships/image" Target="../media/image1.png"/><Relationship Id="rId9" Type="http://schemas.openxmlformats.org/officeDocument/2006/relationships/slide" Target="slide29.xml"/><Relationship Id="rId14" Type="http://schemas.openxmlformats.org/officeDocument/2006/relationships/slide" Target="slide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hyperlink" Target="https://manuelcabadogarcia.es/microeconomia/20-tema-a20.html" TargetMode="External"/><Relationship Id="rId3" Type="http://schemas.openxmlformats.org/officeDocument/2006/relationships/slide" Target="slide22.xml"/><Relationship Id="rId7" Type="http://schemas.openxmlformats.org/officeDocument/2006/relationships/slide" Target="slide25.xml"/><Relationship Id="rId12" Type="http://schemas.openxmlformats.org/officeDocument/2006/relationships/slide" Target="slide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38.xml"/><Relationship Id="rId5" Type="http://schemas.openxmlformats.org/officeDocument/2006/relationships/slide" Target="slide23.xml"/><Relationship Id="rId15" Type="http://schemas.openxmlformats.org/officeDocument/2006/relationships/slide" Target="slide3.xml"/><Relationship Id="rId10" Type="http://schemas.openxmlformats.org/officeDocument/2006/relationships/slide" Target="slide30.xml"/><Relationship Id="rId4" Type="http://schemas.openxmlformats.org/officeDocument/2006/relationships/image" Target="../media/image1.png"/><Relationship Id="rId9" Type="http://schemas.openxmlformats.org/officeDocument/2006/relationships/slide" Target="slide29.xml"/><Relationship Id="rId1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slide" Target="slide4.xml"/><Relationship Id="rId3" Type="http://schemas.openxmlformats.org/officeDocument/2006/relationships/slide" Target="slide22.xml"/><Relationship Id="rId7" Type="http://schemas.openxmlformats.org/officeDocument/2006/relationships/slide" Target="slide25.xml"/><Relationship Id="rId12" Type="http://schemas.openxmlformats.org/officeDocument/2006/relationships/slide" Target="slide19.xml"/><Relationship Id="rId2" Type="http://schemas.openxmlformats.org/officeDocument/2006/relationships/notesSlide" Target="../notesSlides/notesSlide29.xml"/><Relationship Id="rId16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38.xml"/><Relationship Id="rId5" Type="http://schemas.openxmlformats.org/officeDocument/2006/relationships/slide" Target="slide23.xml"/><Relationship Id="rId15" Type="http://schemas.openxmlformats.org/officeDocument/2006/relationships/slide" Target="slide2.xml"/><Relationship Id="rId10" Type="http://schemas.openxmlformats.org/officeDocument/2006/relationships/slide" Target="slide30.xml"/><Relationship Id="rId4" Type="http://schemas.openxmlformats.org/officeDocument/2006/relationships/image" Target="../media/image1.png"/><Relationship Id="rId9" Type="http://schemas.openxmlformats.org/officeDocument/2006/relationships/slide" Target="slide28.xml"/><Relationship Id="rId14" Type="http://schemas.openxmlformats.org/officeDocument/2006/relationships/hyperlink" Target="https://manuelcabadogarcia.es/microeconomia/21-tema-a21.html" TargetMode="Externa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slide" Target="slide2.xml"/><Relationship Id="rId3" Type="http://schemas.openxmlformats.org/officeDocument/2006/relationships/slide" Target="slide22.xml"/><Relationship Id="rId7" Type="http://schemas.openxmlformats.org/officeDocument/2006/relationships/slide" Target="slide25.xml"/><Relationship Id="rId12" Type="http://schemas.openxmlformats.org/officeDocument/2006/relationships/hyperlink" Target="https://manuelcabadogarcia.es/microeconomia/22-tema-a22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4.xml"/><Relationship Id="rId5" Type="http://schemas.openxmlformats.org/officeDocument/2006/relationships/slide" Target="slide23.xml"/><Relationship Id="rId10" Type="http://schemas.openxmlformats.org/officeDocument/2006/relationships/slide" Target="slide29.xml"/><Relationship Id="rId4" Type="http://schemas.openxmlformats.org/officeDocument/2006/relationships/image" Target="../media/image1.png"/><Relationship Id="rId9" Type="http://schemas.openxmlformats.org/officeDocument/2006/relationships/slide" Target="slide28.xml"/><Relationship Id="rId14" Type="http://schemas.openxmlformats.org/officeDocument/2006/relationships/slide" Target="slide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49.xml"/><Relationship Id="rId7" Type="http://schemas.openxmlformats.org/officeDocument/2006/relationships/slide" Target="slide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uelcabadogarcia.es/macroeconomia/01-tema-b1.html" TargetMode="External"/><Relationship Id="rId5" Type="http://schemas.openxmlformats.org/officeDocument/2006/relationships/slide" Target="slide32.xml"/><Relationship Id="rId4" Type="http://schemas.openxmlformats.org/officeDocument/2006/relationships/image" Target="../media/image1.png"/><Relationship Id="rId9" Type="http://schemas.openxmlformats.org/officeDocument/2006/relationships/slide" Target="slide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33.xml"/><Relationship Id="rId7" Type="http://schemas.openxmlformats.org/officeDocument/2006/relationships/slide" Target="slide10.xml"/><Relationship Id="rId12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5.xml"/><Relationship Id="rId11" Type="http://schemas.openxmlformats.org/officeDocument/2006/relationships/slide" Target="slide2.xml"/><Relationship Id="rId5" Type="http://schemas.openxmlformats.org/officeDocument/2006/relationships/slide" Target="slide34.xml"/><Relationship Id="rId10" Type="http://schemas.openxmlformats.org/officeDocument/2006/relationships/hyperlink" Target="https://manuelcabadogarcia.es/macroeconomia/02-tema-b2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manuelcabadogarcia.es/macroeconomia/03-tema-b3.html" TargetMode="External"/><Relationship Id="rId3" Type="http://schemas.openxmlformats.org/officeDocument/2006/relationships/slide" Target="slide32.xml"/><Relationship Id="rId7" Type="http://schemas.openxmlformats.org/officeDocument/2006/relationships/slide" Target="slide1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5.xml"/><Relationship Id="rId11" Type="http://schemas.openxmlformats.org/officeDocument/2006/relationships/slide" Target="slide3.xml"/><Relationship Id="rId5" Type="http://schemas.openxmlformats.org/officeDocument/2006/relationships/slide" Target="slide34.xml"/><Relationship Id="rId10" Type="http://schemas.openxmlformats.org/officeDocument/2006/relationships/slide" Target="slide4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manuelcabadogarcia.es/macroeconomia/04-tema-b4.html" TargetMode="External"/><Relationship Id="rId3" Type="http://schemas.openxmlformats.org/officeDocument/2006/relationships/slide" Target="slide32.xml"/><Relationship Id="rId7" Type="http://schemas.openxmlformats.org/officeDocument/2006/relationships/slide" Target="slide1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5.xml"/><Relationship Id="rId11" Type="http://schemas.openxmlformats.org/officeDocument/2006/relationships/slide" Target="slide3.xml"/><Relationship Id="rId5" Type="http://schemas.openxmlformats.org/officeDocument/2006/relationships/slide" Target="slide33.xml"/><Relationship Id="rId10" Type="http://schemas.openxmlformats.org/officeDocument/2006/relationships/slide" Target="slide4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13" Type="http://schemas.openxmlformats.org/officeDocument/2006/relationships/slide" Target="slide3.xml"/><Relationship Id="rId3" Type="http://schemas.openxmlformats.org/officeDocument/2006/relationships/slide" Target="slide32.xml"/><Relationship Id="rId7" Type="http://schemas.openxmlformats.org/officeDocument/2006/relationships/slide" Target="slide10.xml"/><Relationship Id="rId12" Type="http://schemas.openxmlformats.org/officeDocument/2006/relationships/slide" Target="slide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4.xml"/><Relationship Id="rId11" Type="http://schemas.openxmlformats.org/officeDocument/2006/relationships/slide" Target="slide2.xml"/><Relationship Id="rId5" Type="http://schemas.openxmlformats.org/officeDocument/2006/relationships/slide" Target="slide33.xml"/><Relationship Id="rId10" Type="http://schemas.openxmlformats.org/officeDocument/2006/relationships/hyperlink" Target="https://manuelcabadogarcia.es/macroeconomia/05-tema-b5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2.xml"/><Relationship Id="rId3" Type="http://schemas.openxmlformats.org/officeDocument/2006/relationships/slide" Target="slide37.xml"/><Relationship Id="rId7" Type="http://schemas.openxmlformats.org/officeDocument/2006/relationships/slide" Target="slide40.xml"/><Relationship Id="rId12" Type="http://schemas.openxmlformats.org/officeDocument/2006/relationships/hyperlink" Target="https://manuelcabadogarcia.es/macroeconomia/06-tema-b6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9.xml"/><Relationship Id="rId11" Type="http://schemas.openxmlformats.org/officeDocument/2006/relationships/slide" Target="slide35.xml"/><Relationship Id="rId5" Type="http://schemas.openxmlformats.org/officeDocument/2006/relationships/slide" Target="slide38.xml"/><Relationship Id="rId15" Type="http://schemas.openxmlformats.org/officeDocument/2006/relationships/slide" Target="slide3.xml"/><Relationship Id="rId10" Type="http://schemas.openxmlformats.org/officeDocument/2006/relationships/slide" Target="slide32.xml"/><Relationship Id="rId4" Type="http://schemas.openxmlformats.org/officeDocument/2006/relationships/image" Target="../media/image1.png"/><Relationship Id="rId9" Type="http://schemas.openxmlformats.org/officeDocument/2006/relationships/slide" Target="slide42.xml"/><Relationship Id="rId14" Type="http://schemas.openxmlformats.org/officeDocument/2006/relationships/slide" Target="slide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4.xml"/><Relationship Id="rId3" Type="http://schemas.openxmlformats.org/officeDocument/2006/relationships/slide" Target="slide36.xml"/><Relationship Id="rId7" Type="http://schemas.openxmlformats.org/officeDocument/2006/relationships/slide" Target="slide40.xml"/><Relationship Id="rId12" Type="http://schemas.openxmlformats.org/officeDocument/2006/relationships/slide" Target="slide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9.xml"/><Relationship Id="rId11" Type="http://schemas.openxmlformats.org/officeDocument/2006/relationships/hyperlink" Target="https://manuelcabadogarcia.es/macroeconomia/07-tema-b7.html" TargetMode="External"/><Relationship Id="rId5" Type="http://schemas.openxmlformats.org/officeDocument/2006/relationships/slide" Target="slide38.xml"/><Relationship Id="rId10" Type="http://schemas.openxmlformats.org/officeDocument/2006/relationships/slide" Target="slide32.xml"/><Relationship Id="rId4" Type="http://schemas.openxmlformats.org/officeDocument/2006/relationships/image" Target="../media/image1.png"/><Relationship Id="rId9" Type="http://schemas.openxmlformats.org/officeDocument/2006/relationships/slide" Target="slide42.xml"/><Relationship Id="rId14" Type="http://schemas.openxmlformats.org/officeDocument/2006/relationships/slide" Target="slide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29.xml"/><Relationship Id="rId3" Type="http://schemas.openxmlformats.org/officeDocument/2006/relationships/slide" Target="slide36.xml"/><Relationship Id="rId7" Type="http://schemas.openxmlformats.org/officeDocument/2006/relationships/slide" Target="slide40.xml"/><Relationship Id="rId12" Type="http://schemas.openxmlformats.org/officeDocument/2006/relationships/slide" Target="slide43.xml"/><Relationship Id="rId17" Type="http://schemas.openxmlformats.org/officeDocument/2006/relationships/slide" Target="slide3.xml"/><Relationship Id="rId2" Type="http://schemas.openxmlformats.org/officeDocument/2006/relationships/notesSlide" Target="../notesSlides/notesSlide38.xml"/><Relationship Id="rId16" Type="http://schemas.openxmlformats.org/officeDocument/2006/relationships/slide" Target="slide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9.xml"/><Relationship Id="rId11" Type="http://schemas.openxmlformats.org/officeDocument/2006/relationships/slide" Target="slide32.xml"/><Relationship Id="rId5" Type="http://schemas.openxmlformats.org/officeDocument/2006/relationships/slide" Target="slide37.xml"/><Relationship Id="rId15" Type="http://schemas.openxmlformats.org/officeDocument/2006/relationships/slide" Target="slide2.xml"/><Relationship Id="rId10" Type="http://schemas.openxmlformats.org/officeDocument/2006/relationships/slide" Target="slide28.xml"/><Relationship Id="rId4" Type="http://schemas.openxmlformats.org/officeDocument/2006/relationships/image" Target="../media/image1.png"/><Relationship Id="rId9" Type="http://schemas.openxmlformats.org/officeDocument/2006/relationships/slide" Target="slide42.xml"/><Relationship Id="rId14" Type="http://schemas.openxmlformats.org/officeDocument/2006/relationships/hyperlink" Target="https://manuelcabadogarcia.es/macroeconomia/08-tema-b8.html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4.xml"/><Relationship Id="rId3" Type="http://schemas.openxmlformats.org/officeDocument/2006/relationships/slide" Target="slide36.xml"/><Relationship Id="rId7" Type="http://schemas.openxmlformats.org/officeDocument/2006/relationships/slide" Target="slide40.xml"/><Relationship Id="rId12" Type="http://schemas.openxmlformats.org/officeDocument/2006/relationships/slide" Target="slide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8.xml"/><Relationship Id="rId11" Type="http://schemas.openxmlformats.org/officeDocument/2006/relationships/hyperlink" Target="https://manuelcabadogarcia.es/macroeconomia/09-tema-b9.html" TargetMode="External"/><Relationship Id="rId5" Type="http://schemas.openxmlformats.org/officeDocument/2006/relationships/slide" Target="slide37.xml"/><Relationship Id="rId10" Type="http://schemas.openxmlformats.org/officeDocument/2006/relationships/slide" Target="slide32.xml"/><Relationship Id="rId4" Type="http://schemas.openxmlformats.org/officeDocument/2006/relationships/image" Target="../media/image1.png"/><Relationship Id="rId9" Type="http://schemas.openxmlformats.org/officeDocument/2006/relationships/slide" Target="slide42.xml"/><Relationship Id="rId14" Type="http://schemas.openxmlformats.org/officeDocument/2006/relationships/slide" Target="slide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2.xml"/><Relationship Id="rId3" Type="http://schemas.openxmlformats.org/officeDocument/2006/relationships/slide" Target="slide36.xml"/><Relationship Id="rId7" Type="http://schemas.openxmlformats.org/officeDocument/2006/relationships/slide" Target="slide39.xml"/><Relationship Id="rId12" Type="http://schemas.openxmlformats.org/officeDocument/2006/relationships/hyperlink" Target="https://manuelcabadogarcia.es/macroeconomia/10-tema-b10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8.xml"/><Relationship Id="rId11" Type="http://schemas.openxmlformats.org/officeDocument/2006/relationships/slide" Target="slide35.xml"/><Relationship Id="rId5" Type="http://schemas.openxmlformats.org/officeDocument/2006/relationships/slide" Target="slide37.xml"/><Relationship Id="rId15" Type="http://schemas.openxmlformats.org/officeDocument/2006/relationships/slide" Target="slide3.xml"/><Relationship Id="rId10" Type="http://schemas.openxmlformats.org/officeDocument/2006/relationships/slide" Target="slide32.xml"/><Relationship Id="rId4" Type="http://schemas.openxmlformats.org/officeDocument/2006/relationships/image" Target="../media/image1.png"/><Relationship Id="rId9" Type="http://schemas.openxmlformats.org/officeDocument/2006/relationships/slide" Target="slide42.xml"/><Relationship Id="rId14" Type="http://schemas.openxmlformats.org/officeDocument/2006/relationships/slide" Target="slide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13" Type="http://schemas.openxmlformats.org/officeDocument/2006/relationships/slide" Target="slide2.xml"/><Relationship Id="rId3" Type="http://schemas.openxmlformats.org/officeDocument/2006/relationships/slide" Target="slide36.xml"/><Relationship Id="rId7" Type="http://schemas.openxmlformats.org/officeDocument/2006/relationships/slide" Target="slide39.xml"/><Relationship Id="rId12" Type="http://schemas.openxmlformats.org/officeDocument/2006/relationships/hyperlink" Target="https://manuelcabadogarcia.es/macroeconomia/11-tema-b11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8.xml"/><Relationship Id="rId11" Type="http://schemas.openxmlformats.org/officeDocument/2006/relationships/slide" Target="slide4.xml"/><Relationship Id="rId5" Type="http://schemas.openxmlformats.org/officeDocument/2006/relationships/slide" Target="slide37.xml"/><Relationship Id="rId10" Type="http://schemas.openxmlformats.org/officeDocument/2006/relationships/slide" Target="slide32.xml"/><Relationship Id="rId4" Type="http://schemas.openxmlformats.org/officeDocument/2006/relationships/image" Target="../media/image1.png"/><Relationship Id="rId9" Type="http://schemas.openxmlformats.org/officeDocument/2006/relationships/slide" Target="slide42.xml"/><Relationship Id="rId14" Type="http://schemas.openxmlformats.org/officeDocument/2006/relationships/slide" Target="slide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13" Type="http://schemas.openxmlformats.org/officeDocument/2006/relationships/slide" Target="slide2.xml"/><Relationship Id="rId3" Type="http://schemas.openxmlformats.org/officeDocument/2006/relationships/slide" Target="slide36.xml"/><Relationship Id="rId7" Type="http://schemas.openxmlformats.org/officeDocument/2006/relationships/slide" Target="slide39.xml"/><Relationship Id="rId12" Type="http://schemas.openxmlformats.org/officeDocument/2006/relationships/hyperlink" Target="https://manuelcabadogarcia.es/macroeconomia/12-tema-b12.html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8.xml"/><Relationship Id="rId11" Type="http://schemas.openxmlformats.org/officeDocument/2006/relationships/slide" Target="slide43.xml"/><Relationship Id="rId5" Type="http://schemas.openxmlformats.org/officeDocument/2006/relationships/slide" Target="slide37.xml"/><Relationship Id="rId15" Type="http://schemas.openxmlformats.org/officeDocument/2006/relationships/slide" Target="slide3.xml"/><Relationship Id="rId10" Type="http://schemas.openxmlformats.org/officeDocument/2006/relationships/slide" Target="slide32.xml"/><Relationship Id="rId4" Type="http://schemas.openxmlformats.org/officeDocument/2006/relationships/image" Target="../media/image1.png"/><Relationship Id="rId9" Type="http://schemas.openxmlformats.org/officeDocument/2006/relationships/slide" Target="slide41.xml"/><Relationship Id="rId14" Type="http://schemas.openxmlformats.org/officeDocument/2006/relationships/slide" Target="slide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42.xml"/><Relationship Id="rId7" Type="http://schemas.openxmlformats.org/officeDocument/2006/relationships/slide" Target="slide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uelcabadogarcia.es/macroeconomia/13-tema-b13.html" TargetMode="External"/><Relationship Id="rId5" Type="http://schemas.openxmlformats.org/officeDocument/2006/relationships/slide" Target="slide38.xml"/><Relationship Id="rId4" Type="http://schemas.openxmlformats.org/officeDocument/2006/relationships/image" Target="../media/image1.png"/><Relationship Id="rId9" Type="http://schemas.openxmlformats.org/officeDocument/2006/relationships/slide" Target="slide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slide" Target="slide45.xml"/><Relationship Id="rId7" Type="http://schemas.openxmlformats.org/officeDocument/2006/relationships/slide" Target="slide48.xml"/><Relationship Id="rId12" Type="http://schemas.openxmlformats.org/officeDocument/2006/relationships/slide" Target="slide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7.xml"/><Relationship Id="rId11" Type="http://schemas.openxmlformats.org/officeDocument/2006/relationships/slide" Target="slide2.xml"/><Relationship Id="rId5" Type="http://schemas.openxmlformats.org/officeDocument/2006/relationships/slide" Target="slide46.xml"/><Relationship Id="rId10" Type="http://schemas.openxmlformats.org/officeDocument/2006/relationships/hyperlink" Target="https://manuelcabadogarcia.es/macroeconomia/14-tema-b14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44.xml"/><Relationship Id="rId7" Type="http://schemas.openxmlformats.org/officeDocument/2006/relationships/slide" Target="slide48.xml"/><Relationship Id="rId12" Type="http://schemas.openxmlformats.org/officeDocument/2006/relationships/slide" Target="slide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7.xml"/><Relationship Id="rId11" Type="http://schemas.openxmlformats.org/officeDocument/2006/relationships/slide" Target="slide2.xml"/><Relationship Id="rId5" Type="http://schemas.openxmlformats.org/officeDocument/2006/relationships/slide" Target="slide46.xml"/><Relationship Id="rId10" Type="http://schemas.openxmlformats.org/officeDocument/2006/relationships/hyperlink" Target="https://manuelcabadogarcia.es/macroeconomia/15-tema-b15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44.xml"/><Relationship Id="rId7" Type="http://schemas.openxmlformats.org/officeDocument/2006/relationships/slide" Target="slide48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7.xml"/><Relationship Id="rId11" Type="http://schemas.openxmlformats.org/officeDocument/2006/relationships/slide" Target="slide3.xml"/><Relationship Id="rId5" Type="http://schemas.openxmlformats.org/officeDocument/2006/relationships/slide" Target="slide45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hyperlink" Target="https://manuelcabadogarcia.es/macroeconomia/16-tema-b16.html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44.xml"/><Relationship Id="rId7" Type="http://schemas.openxmlformats.org/officeDocument/2006/relationships/slide" Target="slide48.xml"/><Relationship Id="rId12" Type="http://schemas.openxmlformats.org/officeDocument/2006/relationships/slide" Target="slide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6.xml"/><Relationship Id="rId11" Type="http://schemas.openxmlformats.org/officeDocument/2006/relationships/slide" Target="slide2.xml"/><Relationship Id="rId5" Type="http://schemas.openxmlformats.org/officeDocument/2006/relationships/slide" Target="slide45.xml"/><Relationship Id="rId10" Type="http://schemas.openxmlformats.org/officeDocument/2006/relationships/hyperlink" Target="https://manuelcabadogarcia.es/macroeconomia/17-tema-b17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slide" Target="slide44.xml"/><Relationship Id="rId7" Type="http://schemas.openxmlformats.org/officeDocument/2006/relationships/slide" Target="slide47.xml"/><Relationship Id="rId12" Type="http://schemas.openxmlformats.org/officeDocument/2006/relationships/slide" Target="slide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6.xml"/><Relationship Id="rId11" Type="http://schemas.openxmlformats.org/officeDocument/2006/relationships/slide" Target="slide2.xml"/><Relationship Id="rId5" Type="http://schemas.openxmlformats.org/officeDocument/2006/relationships/slide" Target="slide45.xml"/><Relationship Id="rId10" Type="http://schemas.openxmlformats.org/officeDocument/2006/relationships/hyperlink" Target="https://manuelcabadogarcia.es/macroeconomia/18-tema-b18.html" TargetMode="External"/><Relationship Id="rId4" Type="http://schemas.openxmlformats.org/officeDocument/2006/relationships/image" Target="../media/image1.png"/><Relationship Id="rId9" Type="http://schemas.openxmlformats.org/officeDocument/2006/relationships/slide" Target="slide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31.xml"/><Relationship Id="rId7" Type="http://schemas.openxmlformats.org/officeDocument/2006/relationships/slide" Target="slide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uelcabadogarcia.es/macroeconomia/19-tema-b19.html" TargetMode="External"/><Relationship Id="rId5" Type="http://schemas.openxmlformats.org/officeDocument/2006/relationships/slide" Target="slide50.xml"/><Relationship Id="rId4" Type="http://schemas.openxmlformats.org/officeDocument/2006/relationships/image" Target="../media/image1.png"/><Relationship Id="rId9" Type="http://schemas.openxmlformats.org/officeDocument/2006/relationships/slide" Target="slide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manuelcabadogarcia.es/macroeconomia/20-tema-b20.html" TargetMode="External"/><Relationship Id="rId3" Type="http://schemas.openxmlformats.org/officeDocument/2006/relationships/slide" Target="slide51.xml"/><Relationship Id="rId7" Type="http://schemas.openxmlformats.org/officeDocument/2006/relationships/slide" Target="slide4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9.xml"/><Relationship Id="rId5" Type="http://schemas.openxmlformats.org/officeDocument/2006/relationships/slide" Target="slide52.xml"/><Relationship Id="rId10" Type="http://schemas.openxmlformats.org/officeDocument/2006/relationships/slide" Target="slide3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50.xml"/><Relationship Id="rId7" Type="http://schemas.openxmlformats.org/officeDocument/2006/relationships/hyperlink" Target="https://manuelcabadogarcia.es/macroeconomia/21-tema-b21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.xml"/><Relationship Id="rId5" Type="http://schemas.openxmlformats.org/officeDocument/2006/relationships/slide" Target="slide52.xml"/><Relationship Id="rId4" Type="http://schemas.openxmlformats.org/officeDocument/2006/relationships/image" Target="../media/image1.png"/><Relationship Id="rId9" Type="http://schemas.openxmlformats.org/officeDocument/2006/relationships/slide" Target="slide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s://manuelcabadogarcia.es/macroeconomia/22-tema-b22.html" TargetMode="External"/><Relationship Id="rId3" Type="http://schemas.openxmlformats.org/officeDocument/2006/relationships/slide" Target="slide50.xml"/><Relationship Id="rId7" Type="http://schemas.openxmlformats.org/officeDocument/2006/relationships/slide" Target="slide4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8.xml"/><Relationship Id="rId5" Type="http://schemas.openxmlformats.org/officeDocument/2006/relationships/slide" Target="slide51.xml"/><Relationship Id="rId10" Type="http://schemas.openxmlformats.org/officeDocument/2006/relationships/slide" Target="slide3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slide" Target="slide54.xml"/><Relationship Id="rId7" Type="http://schemas.openxmlformats.org/officeDocument/2006/relationships/slide" Target="slide59.xml"/><Relationship Id="rId12" Type="http://schemas.openxmlformats.org/officeDocument/2006/relationships/slide" Target="slide6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8.xml"/><Relationship Id="rId11" Type="http://schemas.openxmlformats.org/officeDocument/2006/relationships/slide" Target="slide7.xml"/><Relationship Id="rId5" Type="http://schemas.openxmlformats.org/officeDocument/2006/relationships/slide" Target="slide57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slide" Target="slide79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slide" Target="slide53.xml"/><Relationship Id="rId7" Type="http://schemas.openxmlformats.org/officeDocument/2006/relationships/slide" Target="slide59.xml"/><Relationship Id="rId12" Type="http://schemas.openxmlformats.org/officeDocument/2006/relationships/slide" Target="slide6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8.xml"/><Relationship Id="rId11" Type="http://schemas.openxmlformats.org/officeDocument/2006/relationships/slide" Target="slide7.xml"/><Relationship Id="rId5" Type="http://schemas.openxmlformats.org/officeDocument/2006/relationships/slide" Target="slide57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56.xml"/><Relationship Id="rId7" Type="http://schemas.openxmlformats.org/officeDocument/2006/relationships/slide" Target="slide7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54.xml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7" Type="http://schemas.openxmlformats.org/officeDocument/2006/relationships/slide" Target="slide6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5" Type="http://schemas.openxmlformats.org/officeDocument/2006/relationships/slide" Target="slide2.xml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slide" Target="slide53.xml"/><Relationship Id="rId7" Type="http://schemas.openxmlformats.org/officeDocument/2006/relationships/slide" Target="slide59.xml"/><Relationship Id="rId12" Type="http://schemas.openxmlformats.org/officeDocument/2006/relationships/slide" Target="slide6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8.xml"/><Relationship Id="rId11" Type="http://schemas.openxmlformats.org/officeDocument/2006/relationships/slide" Target="slide7.xml"/><Relationship Id="rId5" Type="http://schemas.openxmlformats.org/officeDocument/2006/relationships/slide" Target="slide54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slide" Target="slide6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slide" Target="slide53.xml"/><Relationship Id="rId7" Type="http://schemas.openxmlformats.org/officeDocument/2006/relationships/slide" Target="slide59.xml"/><Relationship Id="rId12" Type="http://schemas.openxmlformats.org/officeDocument/2006/relationships/slide" Target="slide6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7.xml"/><Relationship Id="rId11" Type="http://schemas.openxmlformats.org/officeDocument/2006/relationships/slide" Target="slide7.xml"/><Relationship Id="rId5" Type="http://schemas.openxmlformats.org/officeDocument/2006/relationships/slide" Target="slide54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slide" Target="slide6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slide" Target="slide53.xml"/><Relationship Id="rId7" Type="http://schemas.openxmlformats.org/officeDocument/2006/relationships/slide" Target="slide58.xml"/><Relationship Id="rId12" Type="http://schemas.openxmlformats.org/officeDocument/2006/relationships/slide" Target="slide6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7.xml"/><Relationship Id="rId11" Type="http://schemas.openxmlformats.org/officeDocument/2006/relationships/slide" Target="slide7.xml"/><Relationship Id="rId5" Type="http://schemas.openxmlformats.org/officeDocument/2006/relationships/slide" Target="slide54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slide" Target="slide66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" Target="slide59.xml"/><Relationship Id="rId3" Type="http://schemas.openxmlformats.org/officeDocument/2006/relationships/slide" Target="slide53.xml"/><Relationship Id="rId7" Type="http://schemas.openxmlformats.org/officeDocument/2006/relationships/slide" Target="slide58.xml"/><Relationship Id="rId12" Type="http://schemas.openxmlformats.org/officeDocument/2006/relationships/slide" Target="slide6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7.xml"/><Relationship Id="rId11" Type="http://schemas.openxmlformats.org/officeDocument/2006/relationships/slide" Target="slide7.xml"/><Relationship Id="rId5" Type="http://schemas.openxmlformats.org/officeDocument/2006/relationships/slide" Target="slide54.xml"/><Relationship Id="rId10" Type="http://schemas.openxmlformats.org/officeDocument/2006/relationships/slide" Target="slide2.xml"/><Relationship Id="rId4" Type="http://schemas.openxmlformats.org/officeDocument/2006/relationships/image" Target="../media/image1.png"/><Relationship Id="rId9" Type="http://schemas.openxmlformats.org/officeDocument/2006/relationships/slide" Target="slide6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77.xml"/><Relationship Id="rId7" Type="http://schemas.openxmlformats.org/officeDocument/2006/relationships/slide" Target="slide2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0.xml"/><Relationship Id="rId5" Type="http://schemas.openxmlformats.org/officeDocument/2006/relationships/slide" Target="slide58.xml"/><Relationship Id="rId4" Type="http://schemas.openxmlformats.org/officeDocument/2006/relationships/image" Target="../media/image1.png"/><Relationship Id="rId9" Type="http://schemas.openxmlformats.org/officeDocument/2006/relationships/slide" Target="slide6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63.xml"/><Relationship Id="rId7" Type="http://schemas.openxmlformats.org/officeDocument/2006/relationships/slide" Target="slide83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7.xml"/><Relationship Id="rId5" Type="http://schemas.openxmlformats.org/officeDocument/2006/relationships/slide" Target="slide85.xml"/><Relationship Id="rId10" Type="http://schemas.openxmlformats.org/officeDocument/2006/relationships/slide" Target="slide6.xml"/><Relationship Id="rId4" Type="http://schemas.openxmlformats.org/officeDocument/2006/relationships/image" Target="../media/image1.png"/><Relationship Id="rId9" Type="http://schemas.openxmlformats.org/officeDocument/2006/relationships/slide" Target="slide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62.xml"/><Relationship Id="rId7" Type="http://schemas.openxmlformats.org/officeDocument/2006/relationships/slide" Target="slide7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82.xml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80.xml"/><Relationship Id="rId7" Type="http://schemas.openxmlformats.org/officeDocument/2006/relationships/slide" Target="slide7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73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80.xml"/><Relationship Id="rId7" Type="http://schemas.openxmlformats.org/officeDocument/2006/relationships/slide" Target="slide7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75.xml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67.xml"/><Relationship Id="rId7" Type="http://schemas.openxmlformats.org/officeDocument/2006/relationships/slide" Target="slide2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5" Type="http://schemas.openxmlformats.org/officeDocument/2006/relationships/slide" Target="slide70.xml"/><Relationship Id="rId4" Type="http://schemas.openxmlformats.org/officeDocument/2006/relationships/image" Target="../media/image1.png"/><Relationship Id="rId9" Type="http://schemas.openxmlformats.org/officeDocument/2006/relationships/slide" Target="slide6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66.xml"/><Relationship Id="rId7" Type="http://schemas.openxmlformats.org/officeDocument/2006/relationships/slide" Target="slide7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70.xml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69.xml"/><Relationship Id="rId7" Type="http://schemas.openxmlformats.org/officeDocument/2006/relationships/slide" Target="slide2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2.xml"/><Relationship Id="rId5" Type="http://schemas.openxmlformats.org/officeDocument/2006/relationships/slide" Target="slide76.xml"/><Relationship Id="rId4" Type="http://schemas.openxmlformats.org/officeDocument/2006/relationships/image" Target="../media/image1.png"/><Relationship Id="rId9" Type="http://schemas.openxmlformats.org/officeDocument/2006/relationships/slide" Target="slide6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68.xml"/><Relationship Id="rId7" Type="http://schemas.openxmlformats.org/officeDocument/2006/relationships/slide" Target="slide7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83.xml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66.xml"/><Relationship Id="rId7" Type="http://schemas.openxmlformats.org/officeDocument/2006/relationships/slide" Target="slide87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1.xml"/><Relationship Id="rId5" Type="http://schemas.openxmlformats.org/officeDocument/2006/relationships/slide" Target="slide67.xml"/><Relationship Id="rId10" Type="http://schemas.openxmlformats.org/officeDocument/2006/relationships/slide" Target="slide6.xml"/><Relationship Id="rId4" Type="http://schemas.openxmlformats.org/officeDocument/2006/relationships/image" Target="../media/image1.png"/><Relationship Id="rId9" Type="http://schemas.openxmlformats.org/officeDocument/2006/relationships/slide" Target="slide7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78.xml"/><Relationship Id="rId3" Type="http://schemas.openxmlformats.org/officeDocument/2006/relationships/slide" Target="slide72.xml"/><Relationship Id="rId7" Type="http://schemas.openxmlformats.org/officeDocument/2006/relationships/slide" Target="slide75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4.xml"/><Relationship Id="rId11" Type="http://schemas.openxmlformats.org/officeDocument/2006/relationships/slide" Target="slide6.xml"/><Relationship Id="rId5" Type="http://schemas.openxmlformats.org/officeDocument/2006/relationships/slide" Target="slide73.xml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71.xml"/><Relationship Id="rId7" Type="http://schemas.openxmlformats.org/officeDocument/2006/relationships/slide" Target="slide75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4.xml"/><Relationship Id="rId5" Type="http://schemas.openxmlformats.org/officeDocument/2006/relationships/slide" Target="slide73.xml"/><Relationship Id="rId10" Type="http://schemas.openxmlformats.org/officeDocument/2006/relationships/slide" Target="slide6.xml"/><Relationship Id="rId4" Type="http://schemas.openxmlformats.org/officeDocument/2006/relationships/image" Target="../media/image1.png"/><Relationship Id="rId9" Type="http://schemas.openxmlformats.org/officeDocument/2006/relationships/slide" Target="slide7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64.xml"/><Relationship Id="rId3" Type="http://schemas.openxmlformats.org/officeDocument/2006/relationships/slide" Target="slide71.xml"/><Relationship Id="rId7" Type="http://schemas.openxmlformats.org/officeDocument/2006/relationships/slide" Target="slide75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4.xml"/><Relationship Id="rId11" Type="http://schemas.openxmlformats.org/officeDocument/2006/relationships/slide" Target="slide6.xml"/><Relationship Id="rId5" Type="http://schemas.openxmlformats.org/officeDocument/2006/relationships/slide" Target="slide72.xml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" Target="slide83.xml"/><Relationship Id="rId3" Type="http://schemas.openxmlformats.org/officeDocument/2006/relationships/slide" Target="slide71.xml"/><Relationship Id="rId7" Type="http://schemas.openxmlformats.org/officeDocument/2006/relationships/slide" Target="slide75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3.xml"/><Relationship Id="rId11" Type="http://schemas.openxmlformats.org/officeDocument/2006/relationships/slide" Target="slide6.xml"/><Relationship Id="rId5" Type="http://schemas.openxmlformats.org/officeDocument/2006/relationships/slide" Target="slide72.xml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" Target="slide65.xml"/><Relationship Id="rId3" Type="http://schemas.openxmlformats.org/officeDocument/2006/relationships/slide" Target="slide71.xml"/><Relationship Id="rId7" Type="http://schemas.openxmlformats.org/officeDocument/2006/relationships/slide" Target="slide74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3.xml"/><Relationship Id="rId11" Type="http://schemas.openxmlformats.org/officeDocument/2006/relationships/slide" Target="slide6.xml"/><Relationship Id="rId5" Type="http://schemas.openxmlformats.org/officeDocument/2006/relationships/slide" Target="slide72.xml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13" Type="http://schemas.openxmlformats.org/officeDocument/2006/relationships/slide" Target="slide7.xml"/><Relationship Id="rId3" Type="http://schemas.openxmlformats.org/officeDocument/2006/relationships/slide" Target="slide77.xml"/><Relationship Id="rId7" Type="http://schemas.openxmlformats.org/officeDocument/2006/relationships/slide" Target="slide80.xml"/><Relationship Id="rId12" Type="http://schemas.openxmlformats.org/officeDocument/2006/relationships/slide" Target="slide2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9.xml"/><Relationship Id="rId11" Type="http://schemas.openxmlformats.org/officeDocument/2006/relationships/slide" Target="slide68.xml"/><Relationship Id="rId5" Type="http://schemas.openxmlformats.org/officeDocument/2006/relationships/slide" Target="slide78.xml"/><Relationship Id="rId10" Type="http://schemas.openxmlformats.org/officeDocument/2006/relationships/slide" Target="slide83.xml"/><Relationship Id="rId4" Type="http://schemas.openxmlformats.org/officeDocument/2006/relationships/image" Target="../media/image1.png"/><Relationship Id="rId9" Type="http://schemas.openxmlformats.org/officeDocument/2006/relationships/slide" Target="slide82.xml"/><Relationship Id="rId14" Type="http://schemas.openxmlformats.org/officeDocument/2006/relationships/slide" Target="slide6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13" Type="http://schemas.openxmlformats.org/officeDocument/2006/relationships/slide" Target="slide7.xml"/><Relationship Id="rId3" Type="http://schemas.openxmlformats.org/officeDocument/2006/relationships/slide" Target="slide76.xml"/><Relationship Id="rId7" Type="http://schemas.openxmlformats.org/officeDocument/2006/relationships/slide" Target="slide80.xml"/><Relationship Id="rId12" Type="http://schemas.openxmlformats.org/officeDocument/2006/relationships/slide" Target="slide2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9.xml"/><Relationship Id="rId11" Type="http://schemas.openxmlformats.org/officeDocument/2006/relationships/slide" Target="slide61.xml"/><Relationship Id="rId5" Type="http://schemas.openxmlformats.org/officeDocument/2006/relationships/slide" Target="slide78.xml"/><Relationship Id="rId10" Type="http://schemas.openxmlformats.org/officeDocument/2006/relationships/slide" Target="slide83.xml"/><Relationship Id="rId4" Type="http://schemas.openxmlformats.org/officeDocument/2006/relationships/image" Target="../media/image1.png"/><Relationship Id="rId9" Type="http://schemas.openxmlformats.org/officeDocument/2006/relationships/slide" Target="slide82.xml"/><Relationship Id="rId14" Type="http://schemas.openxmlformats.org/officeDocument/2006/relationships/slide" Target="slide6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13" Type="http://schemas.openxmlformats.org/officeDocument/2006/relationships/slide" Target="slide7.xml"/><Relationship Id="rId3" Type="http://schemas.openxmlformats.org/officeDocument/2006/relationships/slide" Target="slide76.xml"/><Relationship Id="rId7" Type="http://schemas.openxmlformats.org/officeDocument/2006/relationships/slide" Target="slide80.xml"/><Relationship Id="rId12" Type="http://schemas.openxmlformats.org/officeDocument/2006/relationships/slide" Target="slide2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9.xml"/><Relationship Id="rId11" Type="http://schemas.openxmlformats.org/officeDocument/2006/relationships/slide" Target="slide71.xml"/><Relationship Id="rId5" Type="http://schemas.openxmlformats.org/officeDocument/2006/relationships/slide" Target="slide77.xml"/><Relationship Id="rId10" Type="http://schemas.openxmlformats.org/officeDocument/2006/relationships/slide" Target="slide83.xml"/><Relationship Id="rId4" Type="http://schemas.openxmlformats.org/officeDocument/2006/relationships/image" Target="../media/image1.png"/><Relationship Id="rId9" Type="http://schemas.openxmlformats.org/officeDocument/2006/relationships/slide" Target="slide82.xml"/><Relationship Id="rId14" Type="http://schemas.openxmlformats.org/officeDocument/2006/relationships/slide" Target="slide6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13" Type="http://schemas.openxmlformats.org/officeDocument/2006/relationships/slide" Target="slide7.xml"/><Relationship Id="rId3" Type="http://schemas.openxmlformats.org/officeDocument/2006/relationships/slide" Target="slide76.xml"/><Relationship Id="rId7" Type="http://schemas.openxmlformats.org/officeDocument/2006/relationships/slide" Target="slide80.xml"/><Relationship Id="rId12" Type="http://schemas.openxmlformats.org/officeDocument/2006/relationships/slide" Target="slide2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8.xml"/><Relationship Id="rId11" Type="http://schemas.openxmlformats.org/officeDocument/2006/relationships/slide" Target="slide53.xml"/><Relationship Id="rId5" Type="http://schemas.openxmlformats.org/officeDocument/2006/relationships/slide" Target="slide77.xml"/><Relationship Id="rId10" Type="http://schemas.openxmlformats.org/officeDocument/2006/relationships/slide" Target="slide83.xml"/><Relationship Id="rId4" Type="http://schemas.openxmlformats.org/officeDocument/2006/relationships/image" Target="../media/image1.png"/><Relationship Id="rId9" Type="http://schemas.openxmlformats.org/officeDocument/2006/relationships/slide" Target="slide82.xml"/><Relationship Id="rId14" Type="http://schemas.openxmlformats.org/officeDocument/2006/relationships/slide" Target="slide6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13" Type="http://schemas.openxmlformats.org/officeDocument/2006/relationships/slide" Target="slide2.xml"/><Relationship Id="rId3" Type="http://schemas.openxmlformats.org/officeDocument/2006/relationships/slide" Target="slide76.xml"/><Relationship Id="rId7" Type="http://schemas.openxmlformats.org/officeDocument/2006/relationships/slide" Target="slide79.xml"/><Relationship Id="rId12" Type="http://schemas.openxmlformats.org/officeDocument/2006/relationships/slide" Target="slide64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8.xml"/><Relationship Id="rId11" Type="http://schemas.openxmlformats.org/officeDocument/2006/relationships/slide" Target="slide65.xml"/><Relationship Id="rId5" Type="http://schemas.openxmlformats.org/officeDocument/2006/relationships/slide" Target="slide77.xml"/><Relationship Id="rId15" Type="http://schemas.openxmlformats.org/officeDocument/2006/relationships/slide" Target="slide6.xml"/><Relationship Id="rId10" Type="http://schemas.openxmlformats.org/officeDocument/2006/relationships/slide" Target="slide83.xml"/><Relationship Id="rId4" Type="http://schemas.openxmlformats.org/officeDocument/2006/relationships/image" Target="../media/image1.png"/><Relationship Id="rId9" Type="http://schemas.openxmlformats.org/officeDocument/2006/relationships/slide" Target="slide82.xml"/><Relationship Id="rId14" Type="http://schemas.openxmlformats.org/officeDocument/2006/relationships/slide" Target="slide7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slide" Target="slide80.xml"/><Relationship Id="rId13" Type="http://schemas.openxmlformats.org/officeDocument/2006/relationships/slide" Target="slide2.xml"/><Relationship Id="rId3" Type="http://schemas.openxmlformats.org/officeDocument/2006/relationships/slide" Target="slide76.xml"/><Relationship Id="rId7" Type="http://schemas.openxmlformats.org/officeDocument/2006/relationships/slide" Target="slide79.xml"/><Relationship Id="rId12" Type="http://schemas.openxmlformats.org/officeDocument/2006/relationships/slide" Target="slide88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8.xml"/><Relationship Id="rId11" Type="http://schemas.openxmlformats.org/officeDocument/2006/relationships/slide" Target="slide70.xml"/><Relationship Id="rId5" Type="http://schemas.openxmlformats.org/officeDocument/2006/relationships/slide" Target="slide77.xml"/><Relationship Id="rId15" Type="http://schemas.openxmlformats.org/officeDocument/2006/relationships/slide" Target="slide6.xml"/><Relationship Id="rId10" Type="http://schemas.openxmlformats.org/officeDocument/2006/relationships/slide" Target="slide83.xml"/><Relationship Id="rId4" Type="http://schemas.openxmlformats.org/officeDocument/2006/relationships/image" Target="../media/image1.png"/><Relationship Id="rId9" Type="http://schemas.openxmlformats.org/officeDocument/2006/relationships/slide" Target="slide82.xml"/><Relationship Id="rId14" Type="http://schemas.openxmlformats.org/officeDocument/2006/relationships/slide" Target="slide7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slide" Target="slide80.xml"/><Relationship Id="rId13" Type="http://schemas.openxmlformats.org/officeDocument/2006/relationships/slide" Target="slide2.xml"/><Relationship Id="rId3" Type="http://schemas.openxmlformats.org/officeDocument/2006/relationships/slide" Target="slide76.xml"/><Relationship Id="rId7" Type="http://schemas.openxmlformats.org/officeDocument/2006/relationships/slide" Target="slide79.xml"/><Relationship Id="rId12" Type="http://schemas.openxmlformats.org/officeDocument/2006/relationships/slide" Target="slide68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8.xml"/><Relationship Id="rId11" Type="http://schemas.openxmlformats.org/officeDocument/2006/relationships/slide" Target="slide63.xml"/><Relationship Id="rId5" Type="http://schemas.openxmlformats.org/officeDocument/2006/relationships/slide" Target="slide77.xml"/><Relationship Id="rId15" Type="http://schemas.openxmlformats.org/officeDocument/2006/relationships/slide" Target="slide6.xml"/><Relationship Id="rId10" Type="http://schemas.openxmlformats.org/officeDocument/2006/relationships/slide" Target="slide83.xml"/><Relationship Id="rId4" Type="http://schemas.openxmlformats.org/officeDocument/2006/relationships/image" Target="../media/image1.png"/><Relationship Id="rId9" Type="http://schemas.openxmlformats.org/officeDocument/2006/relationships/slide" Target="slide81.xml"/><Relationship Id="rId14" Type="http://schemas.openxmlformats.org/officeDocument/2006/relationships/slide" Target="slide7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slide" Target="slide80.xml"/><Relationship Id="rId13" Type="http://schemas.openxmlformats.org/officeDocument/2006/relationships/slide" Target="slide69.xml"/><Relationship Id="rId3" Type="http://schemas.openxmlformats.org/officeDocument/2006/relationships/slide" Target="slide76.xml"/><Relationship Id="rId7" Type="http://schemas.openxmlformats.org/officeDocument/2006/relationships/slide" Target="slide79.xml"/><Relationship Id="rId12" Type="http://schemas.openxmlformats.org/officeDocument/2006/relationships/slide" Target="slide62.xml"/><Relationship Id="rId2" Type="http://schemas.openxmlformats.org/officeDocument/2006/relationships/notesSlide" Target="../notesSlides/notesSlide83.xml"/><Relationship Id="rId16" Type="http://schemas.openxmlformats.org/officeDocument/2006/relationships/slide" Target="slide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8.xml"/><Relationship Id="rId11" Type="http://schemas.openxmlformats.org/officeDocument/2006/relationships/slide" Target="slide74.xml"/><Relationship Id="rId5" Type="http://schemas.openxmlformats.org/officeDocument/2006/relationships/slide" Target="slide77.xml"/><Relationship Id="rId15" Type="http://schemas.openxmlformats.org/officeDocument/2006/relationships/slide" Target="slide7.xml"/><Relationship Id="rId10" Type="http://schemas.openxmlformats.org/officeDocument/2006/relationships/slide" Target="slide82.xml"/><Relationship Id="rId4" Type="http://schemas.openxmlformats.org/officeDocument/2006/relationships/image" Target="../media/image1.png"/><Relationship Id="rId9" Type="http://schemas.openxmlformats.org/officeDocument/2006/relationships/slide" Target="slide81.xml"/><Relationship Id="rId14" Type="http://schemas.openxmlformats.org/officeDocument/2006/relationships/slide" Target="slide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85.xml"/><Relationship Id="rId7" Type="http://schemas.openxmlformats.org/officeDocument/2006/relationships/slide" Target="slide88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7.xml"/><Relationship Id="rId5" Type="http://schemas.openxmlformats.org/officeDocument/2006/relationships/slide" Target="slide86.xml"/><Relationship Id="rId10" Type="http://schemas.openxmlformats.org/officeDocument/2006/relationships/slide" Target="slide6.xml"/><Relationship Id="rId4" Type="http://schemas.openxmlformats.org/officeDocument/2006/relationships/image" Target="../media/image1.png"/><Relationship Id="rId9" Type="http://schemas.openxmlformats.org/officeDocument/2006/relationships/slide" Target="slide7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slide" Target="slide62.xml"/><Relationship Id="rId3" Type="http://schemas.openxmlformats.org/officeDocument/2006/relationships/slide" Target="slide84.xml"/><Relationship Id="rId7" Type="http://schemas.openxmlformats.org/officeDocument/2006/relationships/slide" Target="slide88.xm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7.xml"/><Relationship Id="rId11" Type="http://schemas.openxmlformats.org/officeDocument/2006/relationships/slide" Target="slide6.xml"/><Relationship Id="rId5" Type="http://schemas.openxmlformats.org/officeDocument/2006/relationships/slide" Target="slide86.xml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84.xml"/><Relationship Id="rId7" Type="http://schemas.openxmlformats.org/officeDocument/2006/relationships/slide" Target="slide88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7.xml"/><Relationship Id="rId5" Type="http://schemas.openxmlformats.org/officeDocument/2006/relationships/slide" Target="slide85.xml"/><Relationship Id="rId10" Type="http://schemas.openxmlformats.org/officeDocument/2006/relationships/slide" Target="slide6.xml"/><Relationship Id="rId4" Type="http://schemas.openxmlformats.org/officeDocument/2006/relationships/image" Target="../media/image1.png"/><Relationship Id="rId9" Type="http://schemas.openxmlformats.org/officeDocument/2006/relationships/slide" Target="slide7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slide" Target="slide70.xml"/><Relationship Id="rId3" Type="http://schemas.openxmlformats.org/officeDocument/2006/relationships/slide" Target="slide84.xml"/><Relationship Id="rId7" Type="http://schemas.openxmlformats.org/officeDocument/2006/relationships/slide" Target="slide88.xm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6.xml"/><Relationship Id="rId11" Type="http://schemas.openxmlformats.org/officeDocument/2006/relationships/slide" Target="slide6.xml"/><Relationship Id="rId5" Type="http://schemas.openxmlformats.org/officeDocument/2006/relationships/slide" Target="slide85.xml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3" Type="http://schemas.openxmlformats.org/officeDocument/2006/relationships/slide" Target="slide84.xml"/><Relationship Id="rId7" Type="http://schemas.openxmlformats.org/officeDocument/2006/relationships/slide" Target="slide87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6.xml"/><Relationship Id="rId11" Type="http://schemas.openxmlformats.org/officeDocument/2006/relationships/slide" Target="slide6.xml"/><Relationship Id="rId5" Type="http://schemas.openxmlformats.org/officeDocument/2006/relationships/slide" Target="slide85.xml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Oposición al Cuerpo de Diplomados Comerciales del Estado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9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del temario · Primer y Tercer ejercicio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93776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Cabado García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u="sng" dirty="0">
                <a:solidFill>
                  <a:srgbClr val="E9D6D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manuelcabadogarcia.es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364328" y="41605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7F4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→</a:t>
            </a:r>
            <a:endParaRPr lang="en-US" sz="1400" dirty="0"/>
          </a:p>
        </p:txBody>
      </p:sp>
      <p:pic>
        <p:nvPicPr>
          <p:cNvPr id="6" name="Image 0" descr="Ir al menú">
            <a:hlinkClick r:id="rId4" action="ppaction://hlinksldjump" tooltip="Ir al menú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328" y="4160520"/>
            <a:ext cx="14630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del temario</a:t>
            </a:r>
            <a:endParaRPr lang="en-US" sz="2800" dirty="0"/>
          </a:p>
        </p:txBody>
      </p:sp>
      <p:sp>
        <p:nvSpPr>
          <p:cNvPr id="3" name="Tarjeta Tercer ejercicio"/>
          <p:cNvSpPr/>
          <p:nvPr/>
        </p:nvSpPr>
        <p:spPr>
          <a:xfrm>
            <a:off x="548640" y="1188720"/>
            <a:ext cx="536432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 ejercicio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Microeconomía, Economía del Sector Público, Macroeconomía y Economía Internacional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475488" cy="310896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008376"/>
            <a:ext cx="475488" cy="310896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410712"/>
            <a:ext cx="475488" cy="310896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813048"/>
            <a:ext cx="475488" cy="310896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215384"/>
            <a:ext cx="475488" cy="310896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617720"/>
            <a:ext cx="475488" cy="310896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2606040"/>
            <a:ext cx="475488" cy="310896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35608" y="3008376"/>
            <a:ext cx="475488" cy="310896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410712"/>
            <a:ext cx="475488" cy="310896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35608" y="3813048"/>
            <a:ext cx="475488" cy="310896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5608" y="4215384"/>
            <a:ext cx="475488" cy="310896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08" y="4617720"/>
            <a:ext cx="475488" cy="310896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2536" y="2606040"/>
            <a:ext cx="475488" cy="310896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2536" y="3008376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2536" y="3410712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2536" y="3813048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2536" y="4215384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2536" y="4617720"/>
            <a:ext cx="475488" cy="310896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9464" y="2606040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9464" y="3008376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9464" y="3410712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9464" y="3813048"/>
            <a:ext cx="475488" cy="310896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0804" y="2606040"/>
            <a:ext cx="475488" cy="310896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30804" y="3008376"/>
            <a:ext cx="475488" cy="310896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0804" y="3410712"/>
            <a:ext cx="475488" cy="310896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0804" y="3813048"/>
            <a:ext cx="475488" cy="310896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0804" y="4215384"/>
            <a:ext cx="475488" cy="310896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0804" y="4617720"/>
            <a:ext cx="475488" cy="310896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7732" y="2606040"/>
            <a:ext cx="475488" cy="310896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7732" y="3008376"/>
            <a:ext cx="475488" cy="310896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97732" y="3410712"/>
            <a:ext cx="475488" cy="310896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97732" y="3813048"/>
            <a:ext cx="475488" cy="310896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97732" y="4215384"/>
            <a:ext cx="475488" cy="310896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97732" y="4617720"/>
            <a:ext cx="475488" cy="310896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64660" y="2606040"/>
            <a:ext cx="475488" cy="310896"/>
          </a:xfrm>
          <a:prstGeom prst="rect">
            <a:avLst/>
          </a:prstGeom>
          <a:solidFill>
            <a:srgbClr val="FF9966"/>
          </a:solidFill>
          <a:ln w="6350">
            <a:solidFill>
              <a:srgbClr val="FF99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64660" y="3008376"/>
            <a:ext cx="475488" cy="310896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64660" y="3410712"/>
            <a:ext cx="475488" cy="310896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64660" y="3813048"/>
            <a:ext cx="475488" cy="310896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64660" y="4215384"/>
            <a:ext cx="475488" cy="310896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64660" y="4617720"/>
            <a:ext cx="475488" cy="310896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1588" y="2606040"/>
            <a:ext cx="475488" cy="310896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1588" y="3008376"/>
            <a:ext cx="475488" cy="310896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1588" y="3410712"/>
            <a:ext cx="475488" cy="310896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1588" y="3813048"/>
            <a:ext cx="475488" cy="310896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  <a:prstDash val="solid"/>
          </a:ln>
        </p:spPr>
      </p:sp>
      <p:pic>
        <p:nvPicPr>
          <p:cNvPr id="50" name="Image 0" descr="Listado de temas del tercer ejercicio">
            <a:hlinkClick r:id="rId3" action="ppaction://hlinksldjump" tooltip="Listado de temas del tercer ejerci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06040"/>
            <a:ext cx="4724248" cy="2414016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868680" y="5349240"/>
            <a:ext cx="1483309" cy="411480"/>
          </a:xfrm>
          <a:prstGeom prst="roundRect">
            <a:avLst>
              <a:gd name="adj" fmla="val 17778"/>
            </a:avLst>
          </a:prstGeom>
          <a:solidFill>
            <a:srgbClr val="7A1F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temas</a:t>
            </a:r>
            <a:endParaRPr lang="en-US" sz="1300" dirty="0"/>
          </a:p>
        </p:txBody>
      </p:sp>
      <p:pic>
        <p:nvPicPr>
          <p:cNvPr id="52" name="Image 1" descr="Listado de temas">
            <a:hlinkClick r:id="rId3" action="ppaction://hlinksldjump" tooltip="Listado de tema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49240"/>
            <a:ext cx="1483309" cy="411480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2489149" y="5349240"/>
            <a:ext cx="1483309" cy="411480"/>
          </a:xfrm>
          <a:prstGeom prst="roundRect">
            <a:avLst>
              <a:gd name="adj" fmla="val 17778"/>
            </a:avLst>
          </a:prstGeom>
          <a:solidFill>
            <a:srgbClr val="7A1F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por temas</a:t>
            </a:r>
            <a:endParaRPr lang="en-US" sz="1300" dirty="0"/>
          </a:p>
        </p:txBody>
      </p:sp>
      <p:pic>
        <p:nvPicPr>
          <p:cNvPr id="54" name="Image 2" descr="Esquema por temas">
            <a:hlinkClick r:id="rId5" action="ppaction://hlinksldjump" tooltip="Esquema por tema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149" y="5349240"/>
            <a:ext cx="1483309" cy="411480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4109618" y="5349240"/>
            <a:ext cx="1483309" cy="411480"/>
          </a:xfrm>
          <a:prstGeom prst="roundRect">
            <a:avLst>
              <a:gd name="adj" fmla="val 17778"/>
            </a:avLst>
          </a:prstGeom>
          <a:solidFill>
            <a:srgbClr val="7A1F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300" dirty="0"/>
          </a:p>
        </p:txBody>
      </p:sp>
      <p:pic>
        <p:nvPicPr>
          <p:cNvPr id="56" name="Image 3" descr="Bloques">
            <a:hlinkClick r:id="rId6" action="ppaction://hlinksldjump" tooltip="Bloqu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618" y="5349240"/>
            <a:ext cx="1483309" cy="411480"/>
          </a:xfrm>
          <a:prstGeom prst="rect">
            <a:avLst/>
          </a:prstGeom>
        </p:spPr>
      </p:pic>
      <p:sp>
        <p:nvSpPr>
          <p:cNvPr id="57" name="Tarjeta Primer ejercicio"/>
          <p:cNvSpPr/>
          <p:nvPr/>
        </p:nvSpPr>
        <p:spPr>
          <a:xfrm>
            <a:off x="6278728" y="1188720"/>
            <a:ext cx="536432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598768" y="141732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ejercicio</a:t>
            </a:r>
            <a:endParaRPr lang="en-US" sz="2600" dirty="0"/>
          </a:p>
        </p:txBody>
      </p:sp>
      <p:sp>
        <p:nvSpPr>
          <p:cNvPr id="59" name="Text 53"/>
          <p:cNvSpPr txBox="1"/>
          <p:nvPr/>
        </p:nvSpPr>
        <p:spPr>
          <a:xfrm>
            <a:off x="6598768" y="19202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española, Economía pública, Políticas comunitarias e Instituciones multilaterales</a:t>
            </a:r>
            <a:endParaRPr lang="en-US" sz="1200" dirty="0"/>
          </a:p>
        </p:txBody>
      </p:sp>
      <p:sp>
        <p:nvSpPr>
          <p:cNvPr id="60" name="Shape 54"/>
          <p:cNvSpPr/>
          <p:nvPr/>
        </p:nvSpPr>
        <p:spPr>
          <a:xfrm>
            <a:off x="6598768" y="2606040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6598768" y="3008376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6598768" y="3410712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598768" y="3813048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598768" y="4215384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7165696" y="2606040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7165696" y="3008376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7165696" y="3410712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7165696" y="3813048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165696" y="4215384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732624" y="2606040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7732624" y="3008376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7732624" y="3410712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7732624" y="3813048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7732624" y="4215384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8299552" y="2606040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8299552" y="3008376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8299552" y="3410712"/>
            <a:ext cx="475488" cy="310896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8960891" y="2606040"/>
            <a:ext cx="475488" cy="310896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8960891" y="3008376"/>
            <a:ext cx="475488" cy="310896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>
            <a:off x="8960891" y="3410712"/>
            <a:ext cx="475488" cy="310896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8960891" y="3813048"/>
            <a:ext cx="475488" cy="310896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8960891" y="4215384"/>
            <a:ext cx="475488" cy="310896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9527819" y="2606040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9527819" y="3008376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9527819" y="3410712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9527819" y="3813048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9527819" y="4215384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10094747" y="2606040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10094747" y="3008376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10094747" y="3410712"/>
            <a:ext cx="475488" cy="310896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10094747" y="3813048"/>
            <a:ext cx="475488" cy="310896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10094747" y="4215384"/>
            <a:ext cx="475488" cy="310896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10661675" y="2606040"/>
            <a:ext cx="475488" cy="310896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10661675" y="3008376"/>
            <a:ext cx="475488" cy="310896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  <a:prstDash val="solid"/>
          </a:ln>
        </p:spPr>
      </p:sp>
      <p:sp>
        <p:nvSpPr>
          <p:cNvPr id="95" name="Shape 89"/>
          <p:cNvSpPr/>
          <p:nvPr/>
        </p:nvSpPr>
        <p:spPr>
          <a:xfrm>
            <a:off x="10661675" y="3410712"/>
            <a:ext cx="475488" cy="310896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  <a:prstDash val="solid"/>
          </a:ln>
        </p:spPr>
      </p:sp>
      <p:pic>
        <p:nvPicPr>
          <p:cNvPr id="96" name="Image 4" descr="Listado de temas del primer ejercicio">
            <a:hlinkClick r:id="rId7" action="ppaction://hlinksldjump" tooltip="Listado de temas del primer ejerci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2606040"/>
            <a:ext cx="4724248" cy="2414016"/>
          </a:xfrm>
          <a:prstGeom prst="rect">
            <a:avLst/>
          </a:prstGeom>
        </p:spPr>
      </p:pic>
      <p:sp>
        <p:nvSpPr>
          <p:cNvPr id="97" name="Text 90"/>
          <p:cNvSpPr txBox="1"/>
          <p:nvPr/>
        </p:nvSpPr>
        <p:spPr>
          <a:xfrm>
            <a:off x="6598768" y="5349240"/>
            <a:ext cx="1483309" cy="411480"/>
          </a:xfrm>
          <a:prstGeom prst="roundRect">
            <a:avLst>
              <a:gd name="adj" fmla="val 17778"/>
            </a:avLst>
          </a:prstGeom>
          <a:solidFill>
            <a:srgbClr val="7A1F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temas</a:t>
            </a:r>
            <a:endParaRPr lang="en-US" sz="1300" dirty="0"/>
          </a:p>
        </p:txBody>
      </p:sp>
      <p:pic>
        <p:nvPicPr>
          <p:cNvPr id="98" name="Image 5" descr="Listado de temas">
            <a:hlinkClick r:id="rId7" action="ppaction://hlinksldjump" tooltip="Listado de tema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5349240"/>
            <a:ext cx="1483309" cy="411480"/>
          </a:xfrm>
          <a:prstGeom prst="rect">
            <a:avLst/>
          </a:prstGeom>
        </p:spPr>
      </p:pic>
      <p:sp>
        <p:nvSpPr>
          <p:cNvPr id="99" name="Text 91"/>
          <p:cNvSpPr txBox="1"/>
          <p:nvPr/>
        </p:nvSpPr>
        <p:spPr>
          <a:xfrm>
            <a:off x="8219237" y="5349240"/>
            <a:ext cx="1483309" cy="411480"/>
          </a:xfrm>
          <a:prstGeom prst="roundRect">
            <a:avLst>
              <a:gd name="adj" fmla="val 17778"/>
            </a:avLst>
          </a:prstGeom>
          <a:solidFill>
            <a:srgbClr val="7A1F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por temas</a:t>
            </a:r>
            <a:endParaRPr lang="en-US" sz="1300" dirty="0"/>
          </a:p>
        </p:txBody>
      </p:sp>
      <p:pic>
        <p:nvPicPr>
          <p:cNvPr id="100" name="Image 6" descr="Esquema por temas">
            <a:hlinkClick r:id="rId8" action="ppaction://hlinksldjump" tooltip="Esquema por tema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237" y="5349240"/>
            <a:ext cx="1483309" cy="411480"/>
          </a:xfrm>
          <a:prstGeom prst="rect">
            <a:avLst/>
          </a:prstGeom>
        </p:spPr>
      </p:pic>
      <p:sp>
        <p:nvSpPr>
          <p:cNvPr id="101" name="Text 92"/>
          <p:cNvSpPr txBox="1"/>
          <p:nvPr/>
        </p:nvSpPr>
        <p:spPr>
          <a:xfrm>
            <a:off x="9839706" y="5349240"/>
            <a:ext cx="1483309" cy="411480"/>
          </a:xfrm>
          <a:prstGeom prst="roundRect">
            <a:avLst>
              <a:gd name="adj" fmla="val 17778"/>
            </a:avLst>
          </a:prstGeom>
          <a:solidFill>
            <a:srgbClr val="7A1F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300" dirty="0"/>
          </a:p>
        </p:txBody>
      </p:sp>
      <p:pic>
        <p:nvPicPr>
          <p:cNvPr id="102" name="Image 7" descr="Bloques">
            <a:hlinkClick r:id="rId9" action="ppaction://hlinksldjump" tooltip="Bloqu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706" y="5349240"/>
            <a:ext cx="1483309" cy="411480"/>
          </a:xfrm>
          <a:prstGeom prst="rect">
            <a:avLst/>
          </a:prstGeom>
        </p:spPr>
      </p:pic>
      <p:sp>
        <p:nvSpPr>
          <p:cNvPr id="103" name="Text 93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cualquier tema, bloque o botón para ir a él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 ejercicio · Listado de temas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3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A) Microeconomía y Economía del Sector Público</a:t>
            </a:r>
            <a:endParaRPr lang="en-US" sz="1500" dirty="0"/>
          </a:p>
        </p:txBody>
      </p:sp>
      <p:sp>
        <p:nvSpPr>
          <p:cNvPr id="4" name="Tema 3.A.1"/>
          <p:cNvSpPr txBox="1"/>
          <p:nvPr/>
        </p:nvSpPr>
        <p:spPr>
          <a:xfrm>
            <a:off x="548640" y="1828800"/>
            <a:ext cx="1143000" cy="41148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</a:t>
            </a:r>
            <a:endParaRPr lang="en-US" sz="1400" dirty="0"/>
          </a:p>
        </p:txBody>
      </p:sp>
      <p:pic>
        <p:nvPicPr>
          <p:cNvPr id="5" name="Image 0" descr="3.A.1 · Pensamiento económico: clásicos y neoclásicos">
            <a:hlinkClick r:id="rId3" action="ppaction://hlinksldjump" tooltip="3.A.1 · Pensamiento económico: clásicos y neoclásic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0"/>
            <a:ext cx="1143000" cy="411480"/>
          </a:xfrm>
          <a:prstGeom prst="rect">
            <a:avLst/>
          </a:prstGeom>
        </p:spPr>
      </p:pic>
      <p:sp>
        <p:nvSpPr>
          <p:cNvPr id="6" name="Tema 3.A.2"/>
          <p:cNvSpPr txBox="1"/>
          <p:nvPr/>
        </p:nvSpPr>
        <p:spPr>
          <a:xfrm>
            <a:off x="548640" y="2487168"/>
            <a:ext cx="1143000" cy="41148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400" dirty="0"/>
          </a:p>
        </p:txBody>
      </p:sp>
      <p:pic>
        <p:nvPicPr>
          <p:cNvPr id="7" name="Image 1" descr="3.A.2 · Del pensamiento económico de Keynes a la actualidad">
            <a:hlinkClick r:id="rId5" action="ppaction://hlinksldjump" tooltip="3.A.2 · Del pensamiento económico de Keynes a la actualida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87168"/>
            <a:ext cx="1143000" cy="411480"/>
          </a:xfrm>
          <a:prstGeom prst="rect">
            <a:avLst/>
          </a:prstGeom>
        </p:spPr>
      </p:pic>
      <p:sp>
        <p:nvSpPr>
          <p:cNvPr id="8" name="Tema 3.A.3"/>
          <p:cNvSpPr txBox="1"/>
          <p:nvPr/>
        </p:nvSpPr>
        <p:spPr>
          <a:xfrm>
            <a:off x="548640" y="3145536"/>
            <a:ext cx="1143000" cy="41148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400" dirty="0"/>
          </a:p>
        </p:txBody>
      </p:sp>
      <p:pic>
        <p:nvPicPr>
          <p:cNvPr id="9" name="Image 2" descr="3.A.3 · Teoría de la demanda del consumidor">
            <a:hlinkClick r:id="rId6" action="ppaction://hlinksldjump" tooltip="3.A.3 · Teoría de la demanda del consumido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45536"/>
            <a:ext cx="1143000" cy="411480"/>
          </a:xfrm>
          <a:prstGeom prst="rect">
            <a:avLst/>
          </a:prstGeom>
        </p:spPr>
      </p:pic>
      <p:sp>
        <p:nvSpPr>
          <p:cNvPr id="10" name="Tema 3.A.4"/>
          <p:cNvSpPr txBox="1"/>
          <p:nvPr/>
        </p:nvSpPr>
        <p:spPr>
          <a:xfrm>
            <a:off x="548640" y="3803904"/>
            <a:ext cx="1143000" cy="41148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400" dirty="0"/>
          </a:p>
        </p:txBody>
      </p:sp>
      <p:pic>
        <p:nvPicPr>
          <p:cNvPr id="11" name="Image 3" descr="3.A.4 · Dualidad y elección en situaciones de riesgo">
            <a:hlinkClick r:id="rId7" action="ppaction://hlinksldjump" tooltip="3.A.4 · Dualidad y elección en situaciones de riesg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1143000" cy="411480"/>
          </a:xfrm>
          <a:prstGeom prst="rect">
            <a:avLst/>
          </a:prstGeom>
        </p:spPr>
      </p:pic>
      <p:sp>
        <p:nvSpPr>
          <p:cNvPr id="12" name="Tema 3.A.5"/>
          <p:cNvSpPr txBox="1"/>
          <p:nvPr/>
        </p:nvSpPr>
        <p:spPr>
          <a:xfrm>
            <a:off x="548640" y="4462272"/>
            <a:ext cx="1143000" cy="41148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400" dirty="0"/>
          </a:p>
        </p:txBody>
      </p:sp>
      <p:pic>
        <p:nvPicPr>
          <p:cNvPr id="13" name="Image 4" descr="3.A.5 · Teoría de la producción">
            <a:hlinkClick r:id="rId8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62272"/>
            <a:ext cx="1143000" cy="411480"/>
          </a:xfrm>
          <a:prstGeom prst="rect">
            <a:avLst/>
          </a:prstGeom>
        </p:spPr>
      </p:pic>
      <p:sp>
        <p:nvSpPr>
          <p:cNvPr id="14" name="Tema 3.A.6"/>
          <p:cNvSpPr txBox="1"/>
          <p:nvPr/>
        </p:nvSpPr>
        <p:spPr>
          <a:xfrm>
            <a:off x="548640" y="5120640"/>
            <a:ext cx="1143000" cy="41148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400" dirty="0"/>
          </a:p>
        </p:txBody>
      </p:sp>
      <p:pic>
        <p:nvPicPr>
          <p:cNvPr id="15" name="Image 5" descr="3.A.6 · Teoría de los costes">
            <a:hlinkClick r:id="rId9" action="ppaction://hlinksldjump" tooltip="3.A.6 · Teoría de los cost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20640"/>
            <a:ext cx="1143000" cy="411480"/>
          </a:xfrm>
          <a:prstGeom prst="rect">
            <a:avLst/>
          </a:prstGeom>
        </p:spPr>
      </p:pic>
      <p:sp>
        <p:nvSpPr>
          <p:cNvPr id="16" name="Tema 3.A.7"/>
          <p:cNvSpPr txBox="1"/>
          <p:nvPr/>
        </p:nvSpPr>
        <p:spPr>
          <a:xfrm>
            <a:off x="1925269" y="1828800"/>
            <a:ext cx="1143000" cy="41148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400" dirty="0"/>
          </a:p>
        </p:txBody>
      </p:sp>
      <p:pic>
        <p:nvPicPr>
          <p:cNvPr id="17" name="Image 6" descr="3.A.7 · El modelo de competencia perfecta">
            <a:hlinkClick r:id="rId10" action="ppaction://hlinksldjump" tooltip="3.A.7 · El modelo de competencia perfect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1828800"/>
            <a:ext cx="1143000" cy="411480"/>
          </a:xfrm>
          <a:prstGeom prst="rect">
            <a:avLst/>
          </a:prstGeom>
        </p:spPr>
      </p:pic>
      <p:sp>
        <p:nvSpPr>
          <p:cNvPr id="18" name="Tema 3.A.8"/>
          <p:cNvSpPr txBox="1"/>
          <p:nvPr/>
        </p:nvSpPr>
        <p:spPr>
          <a:xfrm>
            <a:off x="1925269" y="2487168"/>
            <a:ext cx="1143000" cy="41148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400" dirty="0"/>
          </a:p>
        </p:txBody>
      </p:sp>
      <p:pic>
        <p:nvPicPr>
          <p:cNvPr id="19" name="Image 7" descr="3.A.8 · Teoría del monopolio y su regulación">
            <a:hlinkClick r:id="rId11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2487168"/>
            <a:ext cx="1143000" cy="411480"/>
          </a:xfrm>
          <a:prstGeom prst="rect">
            <a:avLst/>
          </a:prstGeom>
        </p:spPr>
      </p:pic>
      <p:sp>
        <p:nvSpPr>
          <p:cNvPr id="20" name="Tema 3.A.9"/>
          <p:cNvSpPr txBox="1"/>
          <p:nvPr/>
        </p:nvSpPr>
        <p:spPr>
          <a:xfrm>
            <a:off x="1925269" y="3145536"/>
            <a:ext cx="1143000" cy="41148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400" dirty="0"/>
          </a:p>
        </p:txBody>
      </p:sp>
      <p:pic>
        <p:nvPicPr>
          <p:cNvPr id="21" name="Image 8" descr="3.A.9 · Teoría del oligopolio. Análisis mediante la teoría de juegos">
            <a:hlinkClick r:id="rId12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3145536"/>
            <a:ext cx="1143000" cy="411480"/>
          </a:xfrm>
          <a:prstGeom prst="rect">
            <a:avLst/>
          </a:prstGeom>
        </p:spPr>
      </p:pic>
      <p:sp>
        <p:nvSpPr>
          <p:cNvPr id="22" name="Tema 3.A.10"/>
          <p:cNvSpPr txBox="1"/>
          <p:nvPr/>
        </p:nvSpPr>
        <p:spPr>
          <a:xfrm>
            <a:off x="1925269" y="3803904"/>
            <a:ext cx="1143000" cy="41148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400" dirty="0"/>
          </a:p>
        </p:txBody>
      </p:sp>
      <p:pic>
        <p:nvPicPr>
          <p:cNvPr id="23" name="Image 9" descr="3.A.10 · Teoría de la competencia monopolística">
            <a:hlinkClick r:id="rId13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3803904"/>
            <a:ext cx="1143000" cy="411480"/>
          </a:xfrm>
          <a:prstGeom prst="rect">
            <a:avLst/>
          </a:prstGeom>
        </p:spPr>
      </p:pic>
      <p:sp>
        <p:nvSpPr>
          <p:cNvPr id="24" name="Tema 3.A.11"/>
          <p:cNvSpPr txBox="1"/>
          <p:nvPr/>
        </p:nvSpPr>
        <p:spPr>
          <a:xfrm>
            <a:off x="1925269" y="4462272"/>
            <a:ext cx="1143000" cy="41148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400" dirty="0"/>
          </a:p>
        </p:txBody>
      </p:sp>
      <p:pic>
        <p:nvPicPr>
          <p:cNvPr id="25" name="Image 10" descr="3.A.11 · Teorías microeconómicas del mercado de trabajo (I)">
            <a:hlinkClick r:id="rId14" action="ppaction://hlinksldjump" tooltip="3.A.11 · Teorías microeconómicas del mercado de trabajo (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4462272"/>
            <a:ext cx="1143000" cy="411480"/>
          </a:xfrm>
          <a:prstGeom prst="rect">
            <a:avLst/>
          </a:prstGeom>
        </p:spPr>
      </p:pic>
      <p:sp>
        <p:nvSpPr>
          <p:cNvPr id="26" name="Tema 3.A.12"/>
          <p:cNvSpPr txBox="1"/>
          <p:nvPr/>
        </p:nvSpPr>
        <p:spPr>
          <a:xfrm>
            <a:off x="1925269" y="5120640"/>
            <a:ext cx="1143000" cy="41148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3.A.12</a:t>
            </a:r>
            <a:endParaRPr lang="en-US" sz="1400" dirty="0"/>
          </a:p>
        </p:txBody>
      </p:sp>
      <p:pic>
        <p:nvPicPr>
          <p:cNvPr id="27" name="Image 11" descr="3.A.12 · Teorías microeconómicas del mercado de trabajo (II)">
            <a:hlinkClick r:id="rId15" action="ppaction://hlinksldjump" tooltip="3.A.12 · Teorías microeconómicas del mercado de trabajo (I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5120640"/>
            <a:ext cx="1143000" cy="411480"/>
          </a:xfrm>
          <a:prstGeom prst="rect">
            <a:avLst/>
          </a:prstGeom>
        </p:spPr>
      </p:pic>
      <p:sp>
        <p:nvSpPr>
          <p:cNvPr id="28" name="Tema 3.A.13"/>
          <p:cNvSpPr txBox="1"/>
          <p:nvPr/>
        </p:nvSpPr>
        <p:spPr>
          <a:xfrm>
            <a:off x="3301898" y="1828800"/>
            <a:ext cx="1143000" cy="41148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400" dirty="0"/>
          </a:p>
        </p:txBody>
      </p:sp>
      <p:pic>
        <p:nvPicPr>
          <p:cNvPr id="29" name="Image 12" descr="3.A.13 · Economía de la información y teoría de la agencia">
            <a:hlinkClick r:id="rId16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1828800"/>
            <a:ext cx="1143000" cy="411480"/>
          </a:xfrm>
          <a:prstGeom prst="rect">
            <a:avLst/>
          </a:prstGeom>
        </p:spPr>
      </p:pic>
      <p:sp>
        <p:nvSpPr>
          <p:cNvPr id="30" name="Tema 3.A.14"/>
          <p:cNvSpPr txBox="1"/>
          <p:nvPr/>
        </p:nvSpPr>
        <p:spPr>
          <a:xfrm>
            <a:off x="3301898" y="2487168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400" dirty="0"/>
          </a:p>
        </p:txBody>
      </p:sp>
      <p:pic>
        <p:nvPicPr>
          <p:cNvPr id="31" name="Image 13" descr="3.A.14 · Óptimo, equilibrio competitivo y “second best”">
            <a:hlinkClick r:id="rId17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2487168"/>
            <a:ext cx="1143000" cy="411480"/>
          </a:xfrm>
          <a:prstGeom prst="rect">
            <a:avLst/>
          </a:prstGeom>
        </p:spPr>
      </p:pic>
      <p:sp>
        <p:nvSpPr>
          <p:cNvPr id="32" name="Tema 3.A.15"/>
          <p:cNvSpPr txBox="1"/>
          <p:nvPr/>
        </p:nvSpPr>
        <p:spPr>
          <a:xfrm>
            <a:off x="3301898" y="3145536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400" dirty="0"/>
          </a:p>
        </p:txBody>
      </p:sp>
      <p:pic>
        <p:nvPicPr>
          <p:cNvPr id="33" name="Image 14" descr="3.A.15 · Fallos del mercado y del sector público">
            <a:hlinkClick r:id="rId18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3145536"/>
            <a:ext cx="1143000" cy="411480"/>
          </a:xfrm>
          <a:prstGeom prst="rect">
            <a:avLst/>
          </a:prstGeom>
        </p:spPr>
      </p:pic>
      <p:sp>
        <p:nvSpPr>
          <p:cNvPr id="34" name="Tema 3.A.16"/>
          <p:cNvSpPr txBox="1"/>
          <p:nvPr/>
        </p:nvSpPr>
        <p:spPr>
          <a:xfrm>
            <a:off x="3301898" y="3803904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400" dirty="0"/>
          </a:p>
        </p:txBody>
      </p:sp>
      <p:pic>
        <p:nvPicPr>
          <p:cNvPr id="35" name="Image 15" descr="3.A.16 · Teoría de la elección colectiva">
            <a:hlinkClick r:id="rId19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3803904"/>
            <a:ext cx="1143000" cy="411480"/>
          </a:xfrm>
          <a:prstGeom prst="rect">
            <a:avLst/>
          </a:prstGeom>
        </p:spPr>
      </p:pic>
      <p:sp>
        <p:nvSpPr>
          <p:cNvPr id="36" name="Tema 3.A.17"/>
          <p:cNvSpPr txBox="1"/>
          <p:nvPr/>
        </p:nvSpPr>
        <p:spPr>
          <a:xfrm>
            <a:off x="3301898" y="4462272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400" dirty="0"/>
          </a:p>
        </p:txBody>
      </p:sp>
      <p:pic>
        <p:nvPicPr>
          <p:cNvPr id="37" name="Image 16" descr="3.A.17 · Sector Público. Crecimiento del gasto público">
            <a:hlinkClick r:id="rId20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4462272"/>
            <a:ext cx="1143000" cy="411480"/>
          </a:xfrm>
          <a:prstGeom prst="rect">
            <a:avLst/>
          </a:prstGeom>
        </p:spPr>
      </p:pic>
      <p:sp>
        <p:nvSpPr>
          <p:cNvPr id="38" name="Tema 3.A.18"/>
          <p:cNvSpPr txBox="1"/>
          <p:nvPr/>
        </p:nvSpPr>
        <p:spPr>
          <a:xfrm>
            <a:off x="3301898" y="5120640"/>
            <a:ext cx="1143000" cy="41148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400" dirty="0"/>
          </a:p>
        </p:txBody>
      </p:sp>
      <p:pic>
        <p:nvPicPr>
          <p:cNvPr id="39" name="Image 17" descr="3.A.18 · Poder de mercado y regulación óptima">
            <a:hlinkClick r:id="rId21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5120640"/>
            <a:ext cx="1143000" cy="411480"/>
          </a:xfrm>
          <a:prstGeom prst="rect">
            <a:avLst/>
          </a:prstGeom>
        </p:spPr>
      </p:pic>
      <p:sp>
        <p:nvSpPr>
          <p:cNvPr id="40" name="Tema 3.A.19"/>
          <p:cNvSpPr txBox="1"/>
          <p:nvPr/>
        </p:nvSpPr>
        <p:spPr>
          <a:xfrm>
            <a:off x="4678528" y="1828800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400" dirty="0"/>
          </a:p>
        </p:txBody>
      </p:sp>
      <p:pic>
        <p:nvPicPr>
          <p:cNvPr id="41" name="Image 18" descr="3.A.19 · Estado del Bienestar, redistribución y protección social.">
            <a:hlinkClick r:id="rId22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1828800"/>
            <a:ext cx="1143000" cy="411480"/>
          </a:xfrm>
          <a:prstGeom prst="rect">
            <a:avLst/>
          </a:prstGeom>
        </p:spPr>
      </p:pic>
      <p:sp>
        <p:nvSpPr>
          <p:cNvPr id="42" name="Tema 3.A.20"/>
          <p:cNvSpPr txBox="1"/>
          <p:nvPr/>
        </p:nvSpPr>
        <p:spPr>
          <a:xfrm>
            <a:off x="4678528" y="2487168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400" dirty="0"/>
          </a:p>
        </p:txBody>
      </p:sp>
      <p:pic>
        <p:nvPicPr>
          <p:cNvPr id="43" name="Image 19" descr="3.A.20 · Teoría de la imposición">
            <a:hlinkClick r:id="rId23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2487168"/>
            <a:ext cx="1143000" cy="411480"/>
          </a:xfrm>
          <a:prstGeom prst="rect">
            <a:avLst/>
          </a:prstGeom>
        </p:spPr>
      </p:pic>
      <p:sp>
        <p:nvSpPr>
          <p:cNvPr id="44" name="Tema 3.A.21"/>
          <p:cNvSpPr txBox="1"/>
          <p:nvPr/>
        </p:nvSpPr>
        <p:spPr>
          <a:xfrm>
            <a:off x="4678528" y="3145536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400" dirty="0"/>
          </a:p>
        </p:txBody>
      </p:sp>
      <p:pic>
        <p:nvPicPr>
          <p:cNvPr id="45" name="Image 20" descr="3.A.21 · Imposición y oferta.">
            <a:hlinkClick r:id="rId24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3145536"/>
            <a:ext cx="1143000" cy="411480"/>
          </a:xfrm>
          <a:prstGeom prst="rect">
            <a:avLst/>
          </a:prstGeom>
        </p:spPr>
      </p:pic>
      <p:sp>
        <p:nvSpPr>
          <p:cNvPr id="46" name="Tema 3.A.22"/>
          <p:cNvSpPr txBox="1"/>
          <p:nvPr/>
        </p:nvSpPr>
        <p:spPr>
          <a:xfrm>
            <a:off x="4678528" y="3803904"/>
            <a:ext cx="1143000" cy="41148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400" dirty="0"/>
          </a:p>
        </p:txBody>
      </p:sp>
      <p:pic>
        <p:nvPicPr>
          <p:cNvPr id="47" name="Image 21" descr="3.A.22 · Federalismo fiscal">
            <a:hlinkClick r:id="rId25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3803904"/>
            <a:ext cx="1143000" cy="411480"/>
          </a:xfrm>
          <a:prstGeom prst="rect">
            <a:avLst/>
          </a:prstGeom>
        </p:spPr>
      </p:pic>
      <p:sp>
        <p:nvSpPr>
          <p:cNvPr id="48" name="Text 24"/>
          <p:cNvSpPr txBox="1"/>
          <p:nvPr/>
        </p:nvSpPr>
        <p:spPr>
          <a:xfrm>
            <a:off x="6370168" y="109728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3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B) Macroeconomía y Economía Internacional</a:t>
            </a:r>
            <a:endParaRPr lang="en-US" sz="1500" dirty="0"/>
          </a:p>
        </p:txBody>
      </p:sp>
      <p:sp>
        <p:nvSpPr>
          <p:cNvPr id="49" name="Tema 3.B.1"/>
          <p:cNvSpPr txBox="1"/>
          <p:nvPr/>
        </p:nvSpPr>
        <p:spPr>
          <a:xfrm>
            <a:off x="6370168" y="1828800"/>
            <a:ext cx="1143000" cy="41148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</a:t>
            </a:r>
            <a:endParaRPr lang="en-US" sz="1400" dirty="0"/>
          </a:p>
        </p:txBody>
      </p:sp>
      <p:pic>
        <p:nvPicPr>
          <p:cNvPr id="50" name="Image 22" descr="3.B.1 · Magnitudes macroeconómicas y contabilidad nacional.">
            <a:hlinkClick r:id="rId26" action="ppaction://hlinksldjump" tooltip="3.B.1 · Magnitudes macroeconómicas y contabilidad 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1828800"/>
            <a:ext cx="1143000" cy="411480"/>
          </a:xfrm>
          <a:prstGeom prst="rect">
            <a:avLst/>
          </a:prstGeom>
        </p:spPr>
      </p:pic>
      <p:sp>
        <p:nvSpPr>
          <p:cNvPr id="51" name="Tema 3.B.2"/>
          <p:cNvSpPr txBox="1"/>
          <p:nvPr/>
        </p:nvSpPr>
        <p:spPr>
          <a:xfrm>
            <a:off x="6370168" y="2487168"/>
            <a:ext cx="1143000" cy="41148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400" dirty="0"/>
          </a:p>
        </p:txBody>
      </p:sp>
      <p:pic>
        <p:nvPicPr>
          <p:cNvPr id="52" name="Image 23" descr="3.B.2 · El modelo de oferta y demanda agregada.">
            <a:hlinkClick r:id="rId27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2487168"/>
            <a:ext cx="1143000" cy="411480"/>
          </a:xfrm>
          <a:prstGeom prst="rect">
            <a:avLst/>
          </a:prstGeom>
        </p:spPr>
      </p:pic>
      <p:sp>
        <p:nvSpPr>
          <p:cNvPr id="53" name="Tema 3.B.3"/>
          <p:cNvSpPr txBox="1"/>
          <p:nvPr/>
        </p:nvSpPr>
        <p:spPr>
          <a:xfrm>
            <a:off x="6370168" y="3145536"/>
            <a:ext cx="1143000" cy="41148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3.B.3</a:t>
            </a:r>
            <a:endParaRPr lang="en-US" sz="1400" dirty="0"/>
          </a:p>
        </p:txBody>
      </p:sp>
      <p:pic>
        <p:nvPicPr>
          <p:cNvPr id="54" name="Image 24" descr="3.B.3 · Teorías de la demanda de consumo.">
            <a:hlinkClick r:id="rId28" action="ppaction://hlinksldjump" tooltip="3.B.3 · Teorías de la demanda de consum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3145536"/>
            <a:ext cx="1143000" cy="411480"/>
          </a:xfrm>
          <a:prstGeom prst="rect">
            <a:avLst/>
          </a:prstGeom>
        </p:spPr>
      </p:pic>
      <p:sp>
        <p:nvSpPr>
          <p:cNvPr id="55" name="Tema 3.B.4"/>
          <p:cNvSpPr txBox="1"/>
          <p:nvPr/>
        </p:nvSpPr>
        <p:spPr>
          <a:xfrm>
            <a:off x="6370168" y="3803904"/>
            <a:ext cx="1143000" cy="41148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3.B.4</a:t>
            </a:r>
            <a:endParaRPr lang="en-US" sz="1400" dirty="0"/>
          </a:p>
        </p:txBody>
      </p:sp>
      <p:pic>
        <p:nvPicPr>
          <p:cNvPr id="56" name="Image 25" descr="3.B.4 · Teorías de la demanda de inversión.">
            <a:hlinkClick r:id="rId29" action="ppaction://hlinksldjump" tooltip="3.B.4 · Teorías de la demanda de inver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3803904"/>
            <a:ext cx="1143000" cy="411480"/>
          </a:xfrm>
          <a:prstGeom prst="rect">
            <a:avLst/>
          </a:prstGeom>
        </p:spPr>
      </p:pic>
      <p:sp>
        <p:nvSpPr>
          <p:cNvPr id="57" name="Tema 3.B.5"/>
          <p:cNvSpPr txBox="1"/>
          <p:nvPr/>
        </p:nvSpPr>
        <p:spPr>
          <a:xfrm>
            <a:off x="6370168" y="4462272"/>
            <a:ext cx="1143000" cy="41148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400" dirty="0"/>
          </a:p>
        </p:txBody>
      </p:sp>
      <p:pic>
        <p:nvPicPr>
          <p:cNvPr id="58" name="Image 26" descr="3.B.5 · Teorías de la demanda de dinero">
            <a:hlinkClick r:id="rId30" action="ppaction://hlinksldjump" tooltip="3.B.5 · Teorías de la demanda de diner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4462272"/>
            <a:ext cx="1143000" cy="411480"/>
          </a:xfrm>
          <a:prstGeom prst="rect">
            <a:avLst/>
          </a:prstGeom>
        </p:spPr>
      </p:pic>
      <p:sp>
        <p:nvSpPr>
          <p:cNvPr id="59" name="Tema 3.B.6"/>
          <p:cNvSpPr txBox="1"/>
          <p:nvPr/>
        </p:nvSpPr>
        <p:spPr>
          <a:xfrm>
            <a:off x="6370168" y="5120640"/>
            <a:ext cx="1143000" cy="41148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400" dirty="0"/>
          </a:p>
        </p:txBody>
      </p:sp>
      <p:pic>
        <p:nvPicPr>
          <p:cNvPr id="60" name="Image 27" descr="3.B.6 · Política monetaria: diseño e instrumentación.">
            <a:hlinkClick r:id="rId31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5120640"/>
            <a:ext cx="1143000" cy="411480"/>
          </a:xfrm>
          <a:prstGeom prst="rect">
            <a:avLst/>
          </a:prstGeom>
        </p:spPr>
      </p:pic>
      <p:sp>
        <p:nvSpPr>
          <p:cNvPr id="61" name="Tema 3.B.7"/>
          <p:cNvSpPr txBox="1"/>
          <p:nvPr/>
        </p:nvSpPr>
        <p:spPr>
          <a:xfrm>
            <a:off x="7746797" y="1828800"/>
            <a:ext cx="1143000" cy="41148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400" dirty="0"/>
          </a:p>
        </p:txBody>
      </p:sp>
      <p:pic>
        <p:nvPicPr>
          <p:cNvPr id="62" name="Image 28" descr="3.B.7 · Política monetaria: los mecanismos de transmisión.">
            <a:hlinkClick r:id="rId32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1828800"/>
            <a:ext cx="1143000" cy="411480"/>
          </a:xfrm>
          <a:prstGeom prst="rect">
            <a:avLst/>
          </a:prstGeom>
        </p:spPr>
      </p:pic>
      <p:sp>
        <p:nvSpPr>
          <p:cNvPr id="63" name="Tema 3.B.8"/>
          <p:cNvSpPr txBox="1"/>
          <p:nvPr/>
        </p:nvSpPr>
        <p:spPr>
          <a:xfrm>
            <a:off x="7746797" y="2487168"/>
            <a:ext cx="1143000" cy="41148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400" dirty="0"/>
          </a:p>
        </p:txBody>
      </p:sp>
      <p:pic>
        <p:nvPicPr>
          <p:cNvPr id="64" name="Image 29" descr="3.B.8 · La política fiscal.">
            <a:hlinkClick r:id="rId33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2487168"/>
            <a:ext cx="1143000" cy="411480"/>
          </a:xfrm>
          <a:prstGeom prst="rect">
            <a:avLst/>
          </a:prstGeom>
        </p:spPr>
      </p:pic>
      <p:sp>
        <p:nvSpPr>
          <p:cNvPr id="65" name="Tema 3.B.9"/>
          <p:cNvSpPr txBox="1"/>
          <p:nvPr/>
        </p:nvSpPr>
        <p:spPr>
          <a:xfrm>
            <a:off x="7746797" y="3145536"/>
            <a:ext cx="1143000" cy="41148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400" dirty="0"/>
          </a:p>
        </p:txBody>
      </p:sp>
      <p:pic>
        <p:nvPicPr>
          <p:cNvPr id="66" name="Image 30" descr="3.B.9 · Déficit público: financiación, dinámica y sostenibilidad.">
            <a:hlinkClick r:id="rId34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3145536"/>
            <a:ext cx="1143000" cy="411480"/>
          </a:xfrm>
          <a:prstGeom prst="rect">
            <a:avLst/>
          </a:prstGeom>
        </p:spPr>
      </p:pic>
      <p:sp>
        <p:nvSpPr>
          <p:cNvPr id="67" name="Tema 3.B.10"/>
          <p:cNvSpPr txBox="1"/>
          <p:nvPr/>
        </p:nvSpPr>
        <p:spPr>
          <a:xfrm>
            <a:off x="7746797" y="3803904"/>
            <a:ext cx="1143000" cy="41148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400" dirty="0"/>
          </a:p>
        </p:txBody>
      </p:sp>
      <p:pic>
        <p:nvPicPr>
          <p:cNvPr id="68" name="Image 31" descr="3.B.10 · Inflación: eficiencia y bienestar.">
            <a:hlinkClick r:id="rId35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3803904"/>
            <a:ext cx="1143000" cy="411480"/>
          </a:xfrm>
          <a:prstGeom prst="rect">
            <a:avLst/>
          </a:prstGeom>
        </p:spPr>
      </p:pic>
      <p:sp>
        <p:nvSpPr>
          <p:cNvPr id="69" name="Tema 3.B.11"/>
          <p:cNvSpPr txBox="1"/>
          <p:nvPr/>
        </p:nvSpPr>
        <p:spPr>
          <a:xfrm>
            <a:off x="7746797" y="4462272"/>
            <a:ext cx="1143000" cy="41148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400" dirty="0"/>
          </a:p>
        </p:txBody>
      </p:sp>
      <p:pic>
        <p:nvPicPr>
          <p:cNvPr id="70" name="Image 32" descr="3.B.11 · Análisis macroeconómico del mercado de trabajo.">
            <a:hlinkClick r:id="rId36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4462272"/>
            <a:ext cx="1143000" cy="411480"/>
          </a:xfrm>
          <a:prstGeom prst="rect">
            <a:avLst/>
          </a:prstGeom>
        </p:spPr>
      </p:pic>
      <p:sp>
        <p:nvSpPr>
          <p:cNvPr id="71" name="Tema 3.B.12"/>
          <p:cNvSpPr txBox="1"/>
          <p:nvPr/>
        </p:nvSpPr>
        <p:spPr>
          <a:xfrm>
            <a:off x="7746797" y="5120640"/>
            <a:ext cx="1143000" cy="41148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400" dirty="0"/>
          </a:p>
        </p:txBody>
      </p:sp>
      <p:pic>
        <p:nvPicPr>
          <p:cNvPr id="72" name="Image 33" descr="3.B.12 · Teorías de los ciclos económicos.">
            <a:hlinkClick r:id="rId37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5120640"/>
            <a:ext cx="1143000" cy="411480"/>
          </a:xfrm>
          <a:prstGeom prst="rect">
            <a:avLst/>
          </a:prstGeom>
        </p:spPr>
      </p:pic>
      <p:sp>
        <p:nvSpPr>
          <p:cNvPr id="73" name="Tema 3.B.13"/>
          <p:cNvSpPr txBox="1"/>
          <p:nvPr/>
        </p:nvSpPr>
        <p:spPr>
          <a:xfrm>
            <a:off x="9123426" y="1828800"/>
            <a:ext cx="1143000" cy="411480"/>
          </a:xfrm>
          <a:prstGeom prst="rect">
            <a:avLst/>
          </a:prstGeom>
          <a:solidFill>
            <a:srgbClr val="FF9966"/>
          </a:solidFill>
          <a:ln w="6350">
            <a:solidFill>
              <a:srgbClr val="FF99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3.B.13</a:t>
            </a:r>
            <a:endParaRPr lang="en-US" sz="1400" dirty="0"/>
          </a:p>
        </p:txBody>
      </p:sp>
      <p:pic>
        <p:nvPicPr>
          <p:cNvPr id="74" name="Image 34" descr="3.B.13 · Teorías del crecimiento económico.">
            <a:hlinkClick r:id="rId38" action="ppaction://hlinksldjump" tooltip="3.B.13 · Teorías del crecimiento económic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1828800"/>
            <a:ext cx="1143000" cy="411480"/>
          </a:xfrm>
          <a:prstGeom prst="rect">
            <a:avLst/>
          </a:prstGeom>
        </p:spPr>
      </p:pic>
      <p:sp>
        <p:nvSpPr>
          <p:cNvPr id="75" name="Tema 3.B.14"/>
          <p:cNvSpPr txBox="1"/>
          <p:nvPr/>
        </p:nvSpPr>
        <p:spPr>
          <a:xfrm>
            <a:off x="9123426" y="2487168"/>
            <a:ext cx="1143000" cy="41148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400" dirty="0"/>
          </a:p>
        </p:txBody>
      </p:sp>
      <p:pic>
        <p:nvPicPr>
          <p:cNvPr id="76" name="Image 35" descr="3.B.14 · Teoría tradicional del Comercio Internacional.">
            <a:hlinkClick r:id="rId39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2487168"/>
            <a:ext cx="1143000" cy="411480"/>
          </a:xfrm>
          <a:prstGeom prst="rect">
            <a:avLst/>
          </a:prstGeom>
        </p:spPr>
      </p:pic>
      <p:sp>
        <p:nvSpPr>
          <p:cNvPr id="77" name="Tema 3.B.15"/>
          <p:cNvSpPr txBox="1"/>
          <p:nvPr/>
        </p:nvSpPr>
        <p:spPr>
          <a:xfrm>
            <a:off x="9123426" y="3145536"/>
            <a:ext cx="1143000" cy="41148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400" dirty="0"/>
          </a:p>
        </p:txBody>
      </p:sp>
      <p:pic>
        <p:nvPicPr>
          <p:cNvPr id="78" name="Image 36" descr="3.B.15 · Nuevos desarrollos de la teoría del Comercio Internacional.">
            <a:hlinkClick r:id="rId40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3145536"/>
            <a:ext cx="1143000" cy="411480"/>
          </a:xfrm>
          <a:prstGeom prst="rect">
            <a:avLst/>
          </a:prstGeom>
        </p:spPr>
      </p:pic>
      <p:sp>
        <p:nvSpPr>
          <p:cNvPr id="79" name="Tema 3.B.16"/>
          <p:cNvSpPr txBox="1"/>
          <p:nvPr/>
        </p:nvSpPr>
        <p:spPr>
          <a:xfrm>
            <a:off x="9123426" y="3803904"/>
            <a:ext cx="1143000" cy="41148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400" dirty="0"/>
          </a:p>
        </p:txBody>
      </p:sp>
      <p:pic>
        <p:nvPicPr>
          <p:cNvPr id="80" name="Image 37" descr="3.B.16 · Política comercial: barreras arancelarias y no arancelarias.">
            <a:hlinkClick r:id="rId41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3803904"/>
            <a:ext cx="1143000" cy="411480"/>
          </a:xfrm>
          <a:prstGeom prst="rect">
            <a:avLst/>
          </a:prstGeom>
        </p:spPr>
      </p:pic>
      <p:sp>
        <p:nvSpPr>
          <p:cNvPr id="81" name="Tema 3.B.17"/>
          <p:cNvSpPr txBox="1"/>
          <p:nvPr/>
        </p:nvSpPr>
        <p:spPr>
          <a:xfrm>
            <a:off x="9123426" y="4462272"/>
            <a:ext cx="1143000" cy="41148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400" dirty="0"/>
          </a:p>
        </p:txBody>
      </p:sp>
      <p:pic>
        <p:nvPicPr>
          <p:cNvPr id="82" name="Image 38" descr="3.B.17 · La política comercial estratégica.">
            <a:hlinkClick r:id="rId42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4462272"/>
            <a:ext cx="1143000" cy="411480"/>
          </a:xfrm>
          <a:prstGeom prst="rect">
            <a:avLst/>
          </a:prstGeom>
        </p:spPr>
      </p:pic>
      <p:sp>
        <p:nvSpPr>
          <p:cNvPr id="83" name="Tema 3.B.18"/>
          <p:cNvSpPr txBox="1"/>
          <p:nvPr/>
        </p:nvSpPr>
        <p:spPr>
          <a:xfrm>
            <a:off x="9123426" y="5120640"/>
            <a:ext cx="1143000" cy="41148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400" dirty="0"/>
          </a:p>
        </p:txBody>
      </p:sp>
      <p:pic>
        <p:nvPicPr>
          <p:cNvPr id="84" name="Image 39" descr="3.B.18 · Teorías de la integración económica.">
            <a:hlinkClick r:id="rId43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5120640"/>
            <a:ext cx="1143000" cy="411480"/>
          </a:xfrm>
          <a:prstGeom prst="rect">
            <a:avLst/>
          </a:prstGeom>
        </p:spPr>
      </p:pic>
      <p:sp>
        <p:nvSpPr>
          <p:cNvPr id="85" name="Tema 3.B.19"/>
          <p:cNvSpPr txBox="1"/>
          <p:nvPr/>
        </p:nvSpPr>
        <p:spPr>
          <a:xfrm>
            <a:off x="10500055" y="1828800"/>
            <a:ext cx="1143000" cy="41148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3.B.19</a:t>
            </a:r>
            <a:endParaRPr lang="en-US" sz="1400" dirty="0"/>
          </a:p>
        </p:txBody>
      </p:sp>
      <p:pic>
        <p:nvPicPr>
          <p:cNvPr id="86" name="Image 40" descr="3.B.19 · Balanza de Pagos: concepto, medición e interpretación.">
            <a:hlinkClick r:id="rId44" action="ppaction://hlinksldjump" tooltip="3.B.19 · Balanza de Pagos: concepto, medición e interpre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1828800"/>
            <a:ext cx="1143000" cy="411480"/>
          </a:xfrm>
          <a:prstGeom prst="rect">
            <a:avLst/>
          </a:prstGeom>
        </p:spPr>
      </p:pic>
      <p:sp>
        <p:nvSpPr>
          <p:cNvPr id="87" name="Tema 3.B.20"/>
          <p:cNvSpPr txBox="1"/>
          <p:nvPr/>
        </p:nvSpPr>
        <p:spPr>
          <a:xfrm>
            <a:off x="10500055" y="2487168"/>
            <a:ext cx="1143000" cy="41148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400" dirty="0"/>
          </a:p>
        </p:txBody>
      </p:sp>
      <p:pic>
        <p:nvPicPr>
          <p:cNvPr id="88" name="Image 41" descr="3.B.20 · Mecanismos de ajuste de la Balanza de Pagos.">
            <a:hlinkClick r:id="rId45" action="ppaction://hlinksldjump" tooltip="3.B.20 · Mecanismos de ajuste de la Balanza de Pag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2487168"/>
            <a:ext cx="1143000" cy="411480"/>
          </a:xfrm>
          <a:prstGeom prst="rect">
            <a:avLst/>
          </a:prstGeom>
        </p:spPr>
      </p:pic>
      <p:sp>
        <p:nvSpPr>
          <p:cNvPr id="89" name="Tema 3.B.21"/>
          <p:cNvSpPr txBox="1"/>
          <p:nvPr/>
        </p:nvSpPr>
        <p:spPr>
          <a:xfrm>
            <a:off x="10500055" y="3145536"/>
            <a:ext cx="1143000" cy="41148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400" dirty="0"/>
          </a:p>
        </p:txBody>
      </p:sp>
      <p:pic>
        <p:nvPicPr>
          <p:cNvPr id="90" name="Image 42" descr="3.B.21 · El mercado de divisas.">
            <a:hlinkClick r:id="rId46" action="ppaction://hlinksldjump" tooltip="3.B.21 · El mercado de divis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3145536"/>
            <a:ext cx="1143000" cy="411480"/>
          </a:xfrm>
          <a:prstGeom prst="rect">
            <a:avLst/>
          </a:prstGeom>
        </p:spPr>
      </p:pic>
      <p:sp>
        <p:nvSpPr>
          <p:cNvPr id="91" name="Tema 3.B.22"/>
          <p:cNvSpPr txBox="1"/>
          <p:nvPr/>
        </p:nvSpPr>
        <p:spPr>
          <a:xfrm>
            <a:off x="10500055" y="3803904"/>
            <a:ext cx="1143000" cy="41148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400" dirty="0"/>
          </a:p>
        </p:txBody>
      </p:sp>
      <p:pic>
        <p:nvPicPr>
          <p:cNvPr id="92" name="Image 43" descr="3.B.22 · Teorías de la integración monetaria.">
            <a:hlinkClick r:id="rId47" action="ppaction://hlinksldjump" tooltip="3.B.22 · Teorías de la integración monetari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3803904"/>
            <a:ext cx="1143000" cy="411480"/>
          </a:xfrm>
          <a:prstGeom prst="rect">
            <a:avLst/>
          </a:prstGeom>
        </p:spPr>
      </p:pic>
      <p:sp>
        <p:nvSpPr>
          <p:cNvPr id="93" name="Shape 47"/>
          <p:cNvSpPr/>
          <p:nvPr/>
        </p:nvSpPr>
        <p:spPr>
          <a:xfrm>
            <a:off x="6095848" y="1097280"/>
            <a:ext cx="0" cy="4937760"/>
          </a:xfrm>
          <a:prstGeom prst="line">
            <a:avLst/>
          </a:prstGeom>
          <a:noFill/>
          <a:ln w="15875">
            <a:solidFill>
              <a:srgbClr val="DDD6C6"/>
            </a:solidFill>
            <a:prstDash val="solid"/>
          </a:ln>
        </p:spPr>
      </p:sp>
      <p:sp>
        <p:nvSpPr>
          <p:cNvPr id="9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95" name="Image 44" descr="Menú">
            <a:hlinkClick r:id="rId4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96" name="Botón Bloques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100" dirty="0"/>
          </a:p>
        </p:txBody>
      </p:sp>
      <p:pic>
        <p:nvPicPr>
          <p:cNvPr id="97" name="Image 45" descr="Bloques">
            <a:hlinkClick r:id="rId49" action="ppaction://hlinksldjump" tooltip="Bloqu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98" name="Botón Esquema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99" name="Image 46" descr="Esquema">
            <a:hlinkClick r:id="rId5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28600" y="731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 ejercicio · Esquema por temas</a:t>
            </a:r>
            <a:endParaRPr lang="en-US" sz="1400" dirty="0"/>
          </a:p>
        </p:txBody>
      </p:sp>
      <p:sp>
        <p:nvSpPr>
          <p:cNvPr id="3" name="Bloque Historia del pensamiento económico"/>
          <p:cNvSpPr/>
          <p:nvPr/>
        </p:nvSpPr>
        <p:spPr>
          <a:xfrm>
            <a:off x="243834" y="685800"/>
            <a:ext cx="1548345" cy="375133"/>
          </a:xfrm>
          <a:prstGeom prst="roundRect">
            <a:avLst>
              <a:gd name="adj" fmla="val 14625"/>
            </a:avLst>
          </a:prstGeom>
          <a:solidFill>
            <a:srgbClr val="75C4FF">
              <a:alpha val="14000"/>
            </a:srgbClr>
          </a:solidFill>
          <a:ln w="12700">
            <a:solidFill>
              <a:srgbClr val="406C8C"/>
            </a:solidFill>
            <a:prstDash val="dash"/>
          </a:ln>
        </p:spPr>
      </p:sp>
      <p:sp>
        <p:nvSpPr>
          <p:cNvPr id="4" name="Bloque Modelo neoclásico básico"/>
          <p:cNvSpPr/>
          <p:nvPr/>
        </p:nvSpPr>
        <p:spPr>
          <a:xfrm>
            <a:off x="3169841" y="685800"/>
            <a:ext cx="2267655" cy="688543"/>
          </a:xfrm>
          <a:prstGeom prst="roundRect">
            <a:avLst>
              <a:gd name="adj" fmla="val 7968"/>
            </a:avLst>
          </a:prstGeom>
          <a:solidFill>
            <a:srgbClr val="92D050">
              <a:alpha val="14000"/>
            </a:srgbClr>
          </a:solidFill>
          <a:ln w="12700">
            <a:solidFill>
              <a:srgbClr val="50722C"/>
            </a:solidFill>
            <a:prstDash val="dash"/>
          </a:ln>
        </p:spPr>
      </p:sp>
      <p:sp>
        <p:nvSpPr>
          <p:cNvPr id="5" name="Bloque Mercado de trabajo"/>
          <p:cNvSpPr/>
          <p:nvPr/>
        </p:nvSpPr>
        <p:spPr>
          <a:xfrm>
            <a:off x="3535592" y="1714500"/>
            <a:ext cx="1548345" cy="375133"/>
          </a:xfrm>
          <a:prstGeom prst="roundRect">
            <a:avLst>
              <a:gd name="adj" fmla="val 14625"/>
            </a:avLst>
          </a:prstGeom>
          <a:solidFill>
            <a:srgbClr val="C6E0B4">
              <a:alpha val="14000"/>
            </a:srgbClr>
          </a:solidFill>
          <a:ln w="12700">
            <a:solidFill>
              <a:srgbClr val="6D7B63"/>
            </a:solidFill>
            <a:prstDash val="dash"/>
          </a:ln>
        </p:spPr>
      </p:sp>
      <p:sp>
        <p:nvSpPr>
          <p:cNvPr id="6" name="Bloque Información y poder de mercado"/>
          <p:cNvSpPr/>
          <p:nvPr/>
        </p:nvSpPr>
        <p:spPr>
          <a:xfrm>
            <a:off x="5730097" y="685800"/>
            <a:ext cx="2267655" cy="688543"/>
          </a:xfrm>
          <a:prstGeom prst="roundRect">
            <a:avLst>
              <a:gd name="adj" fmla="val 7968"/>
            </a:avLst>
          </a:prstGeom>
          <a:solidFill>
            <a:srgbClr val="00CC00">
              <a:alpha val="14000"/>
            </a:srgbClr>
          </a:solidFill>
          <a:ln w="12700">
            <a:solidFill>
              <a:srgbClr val="00A300"/>
            </a:solidFill>
            <a:prstDash val="dash"/>
          </a:ln>
        </p:spPr>
      </p:sp>
      <p:sp>
        <p:nvSpPr>
          <p:cNvPr id="7" name="Bloque Economía del Bienestar y Sector Público"/>
          <p:cNvSpPr/>
          <p:nvPr/>
        </p:nvSpPr>
        <p:spPr>
          <a:xfrm>
            <a:off x="8656104" y="685800"/>
            <a:ext cx="2986965" cy="688543"/>
          </a:xfrm>
          <a:prstGeom prst="roundRect">
            <a:avLst>
              <a:gd name="adj" fmla="val 7968"/>
            </a:avLst>
          </a:prstGeom>
          <a:solidFill>
            <a:srgbClr val="009900">
              <a:alpha val="14000"/>
            </a:srgbClr>
          </a:solidFill>
          <a:ln w="12700">
            <a:solidFill>
              <a:srgbClr val="009900"/>
            </a:solidFill>
            <a:prstDash val="dash"/>
          </a:ln>
        </p:spPr>
      </p:sp>
      <p:sp>
        <p:nvSpPr>
          <p:cNvPr id="8" name="Bloque Contabilidad Nacional"/>
          <p:cNvSpPr/>
          <p:nvPr/>
        </p:nvSpPr>
        <p:spPr>
          <a:xfrm>
            <a:off x="243834" y="3086100"/>
            <a:ext cx="1548345" cy="375133"/>
          </a:xfrm>
          <a:prstGeom prst="roundRect">
            <a:avLst>
              <a:gd name="adj" fmla="val 14625"/>
            </a:avLst>
          </a:prstGeom>
          <a:solidFill>
            <a:srgbClr val="FFCCCC">
              <a:alpha val="14000"/>
            </a:srgbClr>
          </a:solidFill>
          <a:ln w="12700">
            <a:solidFill>
              <a:srgbClr val="8C7070"/>
            </a:solidFill>
            <a:prstDash val="dash"/>
          </a:ln>
        </p:spPr>
      </p:sp>
      <p:sp>
        <p:nvSpPr>
          <p:cNvPr id="9" name="Bloque Demanda Agregada y Oferta Agregada"/>
          <p:cNvSpPr/>
          <p:nvPr/>
        </p:nvSpPr>
        <p:spPr>
          <a:xfrm>
            <a:off x="3901342" y="2880360"/>
            <a:ext cx="1548345" cy="688543"/>
          </a:xfrm>
          <a:prstGeom prst="roundRect">
            <a:avLst>
              <a:gd name="adj" fmla="val 7968"/>
            </a:avLst>
          </a:prstGeom>
          <a:solidFill>
            <a:srgbClr val="FF9999">
              <a:alpha val="14000"/>
            </a:srgbClr>
          </a:solidFill>
          <a:ln w="12700">
            <a:solidFill>
              <a:srgbClr val="CC7A7A"/>
            </a:solidFill>
            <a:prstDash val="dash"/>
          </a:ln>
        </p:spPr>
      </p:sp>
      <p:sp>
        <p:nvSpPr>
          <p:cNvPr id="10" name="Bloque Ciclo económico y políticas de demanda"/>
          <p:cNvSpPr/>
          <p:nvPr/>
        </p:nvSpPr>
        <p:spPr>
          <a:xfrm>
            <a:off x="6095848" y="3909060"/>
            <a:ext cx="2986965" cy="688543"/>
          </a:xfrm>
          <a:prstGeom prst="roundRect">
            <a:avLst>
              <a:gd name="adj" fmla="val 7968"/>
            </a:avLst>
          </a:prstGeom>
          <a:solidFill>
            <a:srgbClr val="FFC000">
              <a:alpha val="14000"/>
            </a:srgbClr>
          </a:solidFill>
          <a:ln w="12700">
            <a:solidFill>
              <a:srgbClr val="8C6A00"/>
            </a:solidFill>
            <a:prstDash val="dash"/>
          </a:ln>
        </p:spPr>
      </p:sp>
      <p:sp>
        <p:nvSpPr>
          <p:cNvPr id="11" name="Bloque Crecimiento económico"/>
          <p:cNvSpPr/>
          <p:nvPr/>
        </p:nvSpPr>
        <p:spPr>
          <a:xfrm>
            <a:off x="10119107" y="3086100"/>
            <a:ext cx="829035" cy="375133"/>
          </a:xfrm>
          <a:prstGeom prst="roundRect">
            <a:avLst>
              <a:gd name="adj" fmla="val 14625"/>
            </a:avLst>
          </a:prstGeom>
          <a:solidFill>
            <a:srgbClr val="FF9966">
              <a:alpha val="14000"/>
            </a:srgbClr>
          </a:solidFill>
          <a:ln w="12700">
            <a:solidFill>
              <a:srgbClr val="CC7A52"/>
            </a:solidFill>
            <a:prstDash val="dash"/>
          </a:ln>
        </p:spPr>
      </p:sp>
      <p:sp>
        <p:nvSpPr>
          <p:cNvPr id="12" name="Bloque Economía abierta"/>
          <p:cNvSpPr/>
          <p:nvPr/>
        </p:nvSpPr>
        <p:spPr>
          <a:xfrm>
            <a:off x="243834" y="5212080"/>
            <a:ext cx="2267655" cy="375133"/>
          </a:xfrm>
          <a:prstGeom prst="roundRect">
            <a:avLst>
              <a:gd name="adj" fmla="val 14625"/>
            </a:avLst>
          </a:prstGeom>
          <a:solidFill>
            <a:srgbClr val="FF0000">
              <a:alpha val="14000"/>
            </a:srgbClr>
          </a:solidFill>
          <a:ln w="12700">
            <a:solidFill>
              <a:srgbClr val="FF0000"/>
            </a:solidFill>
            <a:prstDash val="dash"/>
          </a:ln>
        </p:spPr>
      </p:sp>
      <p:sp>
        <p:nvSpPr>
          <p:cNvPr id="13" name="Bloque Comercio Internacional"/>
          <p:cNvSpPr/>
          <p:nvPr/>
        </p:nvSpPr>
        <p:spPr>
          <a:xfrm>
            <a:off x="3169841" y="5212080"/>
            <a:ext cx="2267655" cy="688543"/>
          </a:xfrm>
          <a:prstGeom prst="roundRect">
            <a:avLst>
              <a:gd name="adj" fmla="val 7968"/>
            </a:avLst>
          </a:prstGeom>
          <a:solidFill>
            <a:srgbClr val="99FF33">
              <a:alpha val="14000"/>
            </a:srgbClr>
          </a:solidFill>
          <a:ln w="12700">
            <a:solidFill>
              <a:srgbClr val="548C1C"/>
            </a:solidFill>
            <a:prstDash val="dash"/>
          </a:ln>
        </p:spPr>
      </p:sp>
      <p:sp>
        <p:nvSpPr>
          <p:cNvPr id="14" name="Conexión b:historia-del-pensamiento-economico – b:modelo-neoclasico-basico"/>
          <p:cNvSpPr/>
          <p:nvPr/>
        </p:nvSpPr>
        <p:spPr>
          <a:xfrm>
            <a:off x="1792179" y="910289"/>
            <a:ext cx="1377662" cy="65706"/>
          </a:xfrm>
          <a:prstGeom prst="line">
            <a:avLst/>
          </a:prstGeom>
          <a:noFill/>
          <a:ln w="19050">
            <a:solidFill>
              <a:srgbClr val="406C8C"/>
            </a:solidFill>
            <a:prstDash val="dash"/>
            <a:tailEnd type="triangle"/>
          </a:ln>
        </p:spPr>
      </p:sp>
      <p:sp>
        <p:nvSpPr>
          <p:cNvPr id="15" name="Conexión 3.A.2 – b:demanda-agregada-y-oferta-agregada"/>
          <p:cNvSpPr/>
          <p:nvPr/>
        </p:nvSpPr>
        <p:spPr>
          <a:xfrm>
            <a:off x="1554169" y="999211"/>
            <a:ext cx="2638475" cy="1881149"/>
          </a:xfrm>
          <a:prstGeom prst="line">
            <a:avLst/>
          </a:prstGeom>
          <a:noFill/>
          <a:ln w="19050">
            <a:solidFill>
              <a:srgbClr val="406C8C"/>
            </a:solidFill>
            <a:prstDash val="dash"/>
            <a:tailEnd type="triangle"/>
          </a:ln>
        </p:spPr>
      </p:sp>
      <p:sp>
        <p:nvSpPr>
          <p:cNvPr id="16" name="Conexión b:modelo-neoclasico-basico – b:informacion-y-poder-de-mercado"/>
          <p:cNvSpPr/>
          <p:nvPr/>
        </p:nvSpPr>
        <p:spPr>
          <a:xfrm>
            <a:off x="5437496" y="1030072"/>
            <a:ext cx="292601" cy="914"/>
          </a:xfrm>
          <a:prstGeom prst="line">
            <a:avLst/>
          </a:prstGeom>
          <a:noFill/>
          <a:ln w="19050">
            <a:solidFill>
              <a:srgbClr val="50722C"/>
            </a:solidFill>
            <a:prstDash val="dash"/>
            <a:tailEnd type="triangle"/>
          </a:ln>
        </p:spPr>
      </p:sp>
      <p:sp>
        <p:nvSpPr>
          <p:cNvPr id="17" name="Conexión b:informacion-y-poder-de-mercado – b:economia-del-bienestar-y-sector-publico"/>
          <p:cNvSpPr/>
          <p:nvPr/>
        </p:nvSpPr>
        <p:spPr>
          <a:xfrm>
            <a:off x="7997752" y="1030072"/>
            <a:ext cx="658352" cy="914"/>
          </a:xfrm>
          <a:prstGeom prst="line">
            <a:avLst/>
          </a:prstGeom>
          <a:noFill/>
          <a:ln w="19050">
            <a:solidFill>
              <a:srgbClr val="00A300"/>
            </a:solidFill>
            <a:prstDash val="dash"/>
            <a:tailEnd type="triangle"/>
          </a:ln>
        </p:spPr>
      </p:sp>
      <p:sp>
        <p:nvSpPr>
          <p:cNvPr id="18" name="Conexión 3.A.3 – 3.A.4"/>
          <p:cNvSpPr/>
          <p:nvPr/>
        </p:nvSpPr>
        <p:spPr>
          <a:xfrm>
            <a:off x="3889151" y="873366"/>
            <a:ext cx="109725" cy="914"/>
          </a:xfrm>
          <a:prstGeom prst="line">
            <a:avLst/>
          </a:prstGeom>
          <a:noFill/>
          <a:ln w="19050">
            <a:solidFill>
              <a:srgbClr val="50722C"/>
            </a:solidFill>
            <a:prstDash val="solid"/>
            <a:tailEnd type="triangle"/>
          </a:ln>
        </p:spPr>
      </p:sp>
      <p:sp>
        <p:nvSpPr>
          <p:cNvPr id="19" name="Conexión 3.A.5 – 3.A.6"/>
          <p:cNvSpPr/>
          <p:nvPr/>
        </p:nvSpPr>
        <p:spPr>
          <a:xfrm flipH="1">
            <a:off x="3889151" y="1186777"/>
            <a:ext cx="109725" cy="914"/>
          </a:xfrm>
          <a:prstGeom prst="line">
            <a:avLst/>
          </a:prstGeom>
          <a:noFill/>
          <a:ln w="19050">
            <a:solidFill>
              <a:srgbClr val="50722C"/>
            </a:solidFill>
            <a:prstDash val="solid"/>
            <a:tailEnd type="triangle"/>
          </a:ln>
        </p:spPr>
      </p:sp>
      <p:sp>
        <p:nvSpPr>
          <p:cNvPr id="20" name="Conexión 3.A.7 – 3.A.8"/>
          <p:cNvSpPr/>
          <p:nvPr/>
        </p:nvSpPr>
        <p:spPr>
          <a:xfrm>
            <a:off x="5327771" y="873366"/>
            <a:ext cx="512051" cy="914"/>
          </a:xfrm>
          <a:prstGeom prst="line">
            <a:avLst/>
          </a:prstGeom>
          <a:noFill/>
          <a:ln w="19050">
            <a:solidFill>
              <a:srgbClr val="50722C"/>
            </a:solidFill>
            <a:prstDash val="solid"/>
            <a:tailEnd type="triangle"/>
          </a:ln>
        </p:spPr>
      </p:sp>
      <p:sp>
        <p:nvSpPr>
          <p:cNvPr id="21" name="Conexión 3.A.8 – 3.A.9"/>
          <p:cNvSpPr/>
          <p:nvPr/>
        </p:nvSpPr>
        <p:spPr>
          <a:xfrm>
            <a:off x="6433440" y="999211"/>
            <a:ext cx="141658" cy="61722"/>
          </a:xfrm>
          <a:prstGeom prst="line">
            <a:avLst/>
          </a:prstGeom>
          <a:noFill/>
          <a:ln w="19050">
            <a:solidFill>
              <a:srgbClr val="00A300"/>
            </a:solidFill>
            <a:prstDash val="solid"/>
            <a:tailEnd type="triangle"/>
          </a:ln>
        </p:spPr>
      </p:sp>
      <p:sp>
        <p:nvSpPr>
          <p:cNvPr id="22" name="Conexión 3.A.9 – 3.A.10"/>
          <p:cNvSpPr/>
          <p:nvPr/>
        </p:nvSpPr>
        <p:spPr>
          <a:xfrm flipV="1">
            <a:off x="7152750" y="999211"/>
            <a:ext cx="141658" cy="61722"/>
          </a:xfrm>
          <a:prstGeom prst="line">
            <a:avLst/>
          </a:prstGeom>
          <a:noFill/>
          <a:ln w="19050">
            <a:solidFill>
              <a:srgbClr val="00A300"/>
            </a:solidFill>
            <a:prstDash val="solid"/>
            <a:tailEnd type="triangle"/>
          </a:ln>
        </p:spPr>
      </p:sp>
      <p:sp>
        <p:nvSpPr>
          <p:cNvPr id="23" name="Conexión 3.A.8 – 3.A.18"/>
          <p:cNvSpPr/>
          <p:nvPr/>
        </p:nvSpPr>
        <p:spPr>
          <a:xfrm>
            <a:off x="6449407" y="873366"/>
            <a:ext cx="109725" cy="914"/>
          </a:xfrm>
          <a:prstGeom prst="line">
            <a:avLst/>
          </a:prstGeom>
          <a:noFill/>
          <a:ln w="19050">
            <a:solidFill>
              <a:srgbClr val="00A300"/>
            </a:solidFill>
            <a:prstDash val="dash"/>
            <a:headEnd type="triangle"/>
            <a:tailEnd type="triangle"/>
          </a:ln>
        </p:spPr>
      </p:sp>
      <p:sp>
        <p:nvSpPr>
          <p:cNvPr id="24" name="Conexión 3.A.13 – 3.A.18"/>
          <p:cNvSpPr/>
          <p:nvPr/>
        </p:nvSpPr>
        <p:spPr>
          <a:xfrm flipV="1">
            <a:off x="6433440" y="999211"/>
            <a:ext cx="141658" cy="61722"/>
          </a:xfrm>
          <a:prstGeom prst="line">
            <a:avLst/>
          </a:prstGeom>
          <a:noFill/>
          <a:ln w="19050">
            <a:solidFill>
              <a:srgbClr val="00A300"/>
            </a:solidFill>
            <a:prstDash val="dash"/>
            <a:tailEnd type="triangle"/>
          </a:ln>
        </p:spPr>
      </p:sp>
      <p:sp>
        <p:nvSpPr>
          <p:cNvPr id="25" name="Conexión 3.A.11 – 3.A.12"/>
          <p:cNvSpPr/>
          <p:nvPr/>
        </p:nvSpPr>
        <p:spPr>
          <a:xfrm flipH="1">
            <a:off x="4254902" y="1902066"/>
            <a:ext cx="109725" cy="914"/>
          </a:xfrm>
          <a:prstGeom prst="line">
            <a:avLst/>
          </a:prstGeom>
          <a:noFill/>
          <a:ln w="19050">
            <a:solidFill>
              <a:srgbClr val="6D7B63"/>
            </a:solidFill>
            <a:prstDash val="solid"/>
            <a:tailEnd type="triangle"/>
          </a:ln>
        </p:spPr>
      </p:sp>
      <p:sp>
        <p:nvSpPr>
          <p:cNvPr id="26" name="Conexión 3.A.5 – b:mercado-de-trabajo"/>
          <p:cNvSpPr/>
          <p:nvPr/>
        </p:nvSpPr>
        <p:spPr>
          <a:xfrm>
            <a:off x="4304741" y="1312621"/>
            <a:ext cx="3425" cy="401879"/>
          </a:xfrm>
          <a:prstGeom prst="line">
            <a:avLst/>
          </a:prstGeom>
          <a:noFill/>
          <a:ln w="19050">
            <a:solidFill>
              <a:srgbClr val="50722C"/>
            </a:solidFill>
            <a:prstDash val="dash"/>
            <a:tailEnd type="triangle"/>
          </a:ln>
        </p:spPr>
      </p:sp>
      <p:sp>
        <p:nvSpPr>
          <p:cNvPr id="27" name="Conexión 3.A.13 – 3.A.12"/>
          <p:cNvSpPr/>
          <p:nvPr/>
        </p:nvSpPr>
        <p:spPr>
          <a:xfrm flipH="1">
            <a:off x="4254902" y="1286123"/>
            <a:ext cx="1584920" cy="516598"/>
          </a:xfrm>
          <a:prstGeom prst="line">
            <a:avLst/>
          </a:prstGeom>
          <a:noFill/>
          <a:ln w="19050">
            <a:solidFill>
              <a:srgbClr val="00A300"/>
            </a:solidFill>
            <a:prstDash val="dash"/>
            <a:tailEnd type="triangle"/>
          </a:ln>
        </p:spPr>
      </p:sp>
      <p:sp>
        <p:nvSpPr>
          <p:cNvPr id="28" name="Conexión b:mercado-de-trabajo – 3.B.11"/>
          <p:cNvSpPr/>
          <p:nvPr/>
        </p:nvSpPr>
        <p:spPr>
          <a:xfrm>
            <a:off x="4497847" y="2089633"/>
            <a:ext cx="1886328" cy="1881149"/>
          </a:xfrm>
          <a:prstGeom prst="line">
            <a:avLst/>
          </a:prstGeom>
          <a:noFill/>
          <a:ln w="19050">
            <a:solidFill>
              <a:srgbClr val="6D7B63"/>
            </a:solidFill>
            <a:prstDash val="dash"/>
            <a:headEnd type="triangle"/>
            <a:tailEnd type="triangle"/>
          </a:ln>
        </p:spPr>
      </p:sp>
      <p:sp>
        <p:nvSpPr>
          <p:cNvPr id="29" name="Conexión 3.A.14 – 3.A.15"/>
          <p:cNvSpPr/>
          <p:nvPr/>
        </p:nvSpPr>
        <p:spPr>
          <a:xfrm flipH="1" flipV="1">
            <a:off x="10078757" y="999211"/>
            <a:ext cx="141658" cy="61722"/>
          </a:xfrm>
          <a:prstGeom prst="line">
            <a:avLst/>
          </a:prstGeom>
          <a:noFill/>
          <a:ln w="19050">
            <a:solidFill>
              <a:srgbClr val="009900"/>
            </a:solidFill>
            <a:prstDash val="solid"/>
            <a:tailEnd type="triangle"/>
          </a:ln>
        </p:spPr>
      </p:sp>
      <p:sp>
        <p:nvSpPr>
          <p:cNvPr id="30" name="Conexión 3.A.15 – 3.A.16"/>
          <p:cNvSpPr/>
          <p:nvPr/>
        </p:nvSpPr>
        <p:spPr>
          <a:xfrm>
            <a:off x="10094724" y="873366"/>
            <a:ext cx="109725" cy="914"/>
          </a:xfrm>
          <a:prstGeom prst="line">
            <a:avLst/>
          </a:prstGeom>
          <a:noFill/>
          <a:ln w="19050">
            <a:solidFill>
              <a:srgbClr val="009900"/>
            </a:solidFill>
            <a:prstDash val="dash"/>
            <a:tailEnd type="triangle"/>
          </a:ln>
        </p:spPr>
      </p:sp>
      <p:sp>
        <p:nvSpPr>
          <p:cNvPr id="31" name="Conexión 3.A.16 – 3.A.17"/>
          <p:cNvSpPr/>
          <p:nvPr/>
        </p:nvSpPr>
        <p:spPr>
          <a:xfrm>
            <a:off x="10814034" y="873366"/>
            <a:ext cx="109725" cy="914"/>
          </a:xfrm>
          <a:prstGeom prst="line">
            <a:avLst/>
          </a:prstGeom>
          <a:noFill/>
          <a:ln w="19050">
            <a:solidFill>
              <a:srgbClr val="009900"/>
            </a:solidFill>
            <a:prstDash val="dash"/>
            <a:headEnd type="triangle"/>
            <a:tailEnd type="triangle"/>
          </a:ln>
        </p:spPr>
      </p:sp>
      <p:sp>
        <p:nvSpPr>
          <p:cNvPr id="32" name="Conexión 3.A.20 – 3.A.21"/>
          <p:cNvSpPr/>
          <p:nvPr/>
        </p:nvSpPr>
        <p:spPr>
          <a:xfrm flipH="1">
            <a:off x="9375414" y="1186777"/>
            <a:ext cx="109725" cy="914"/>
          </a:xfrm>
          <a:prstGeom prst="line">
            <a:avLst/>
          </a:prstGeom>
          <a:noFill/>
          <a:ln w="19050">
            <a:solidFill>
              <a:srgbClr val="009900"/>
            </a:solidFill>
            <a:prstDash val="solid"/>
            <a:tailEnd type="triangle"/>
          </a:ln>
        </p:spPr>
      </p:sp>
      <p:sp>
        <p:nvSpPr>
          <p:cNvPr id="33" name="Conexión 3.A.19 – 3.A.21"/>
          <p:cNvSpPr/>
          <p:nvPr/>
        </p:nvSpPr>
        <p:spPr>
          <a:xfrm>
            <a:off x="9070621" y="999211"/>
            <a:ext cx="914" cy="61722"/>
          </a:xfrm>
          <a:prstGeom prst="line">
            <a:avLst/>
          </a:prstGeom>
          <a:noFill/>
          <a:ln w="19050">
            <a:solidFill>
              <a:srgbClr val="009900"/>
            </a:solidFill>
            <a:prstDash val="dash"/>
            <a:headEnd type="triangle"/>
            <a:tailEnd type="triangle"/>
          </a:ln>
        </p:spPr>
      </p:sp>
      <p:sp>
        <p:nvSpPr>
          <p:cNvPr id="34" name="Conexión 3.A.17 – 3.A.22"/>
          <p:cNvSpPr/>
          <p:nvPr/>
        </p:nvSpPr>
        <p:spPr>
          <a:xfrm>
            <a:off x="11228551" y="999211"/>
            <a:ext cx="914" cy="61722"/>
          </a:xfrm>
          <a:prstGeom prst="line">
            <a:avLst/>
          </a:prstGeom>
          <a:noFill/>
          <a:ln w="19050">
            <a:solidFill>
              <a:srgbClr val="009900"/>
            </a:solidFill>
            <a:prstDash val="dash"/>
            <a:headEnd type="triangle"/>
            <a:tailEnd type="triangle"/>
          </a:ln>
        </p:spPr>
      </p:sp>
      <p:sp>
        <p:nvSpPr>
          <p:cNvPr id="35" name="Conexión 3.A.20 – 3.B.8"/>
          <p:cNvSpPr/>
          <p:nvPr/>
        </p:nvSpPr>
        <p:spPr>
          <a:xfrm flipH="1">
            <a:off x="8028602" y="1312621"/>
            <a:ext cx="1681713" cy="2658161"/>
          </a:xfrm>
          <a:prstGeom prst="line">
            <a:avLst/>
          </a:prstGeom>
          <a:noFill/>
          <a:ln w="19050">
            <a:solidFill>
              <a:srgbClr val="009900"/>
            </a:solidFill>
            <a:prstDash val="dash"/>
            <a:headEnd type="triangle"/>
            <a:tailEnd type="triangle"/>
          </a:ln>
        </p:spPr>
      </p:sp>
      <p:sp>
        <p:nvSpPr>
          <p:cNvPr id="36" name="Conexión 3.B.1 – 3.B.19"/>
          <p:cNvSpPr/>
          <p:nvPr/>
        </p:nvSpPr>
        <p:spPr>
          <a:xfrm flipH="1">
            <a:off x="963144" y="3273666"/>
            <a:ext cx="109725" cy="914"/>
          </a:xfrm>
          <a:prstGeom prst="line">
            <a:avLst/>
          </a:prstGeom>
          <a:noFill/>
          <a:ln w="19050">
            <a:solidFill>
              <a:srgbClr val="8C7070"/>
            </a:solidFill>
            <a:prstDash val="solid"/>
            <a:headEnd type="triangle"/>
            <a:tailEnd type="triangle"/>
          </a:ln>
        </p:spPr>
      </p:sp>
      <p:sp>
        <p:nvSpPr>
          <p:cNvPr id="37" name="Conexión 3.B.1 – 3.B.2"/>
          <p:cNvSpPr/>
          <p:nvPr/>
        </p:nvSpPr>
        <p:spPr>
          <a:xfrm>
            <a:off x="1682454" y="3284835"/>
            <a:ext cx="2328614" cy="85332"/>
          </a:xfrm>
          <a:prstGeom prst="line">
            <a:avLst/>
          </a:prstGeom>
          <a:noFill/>
          <a:ln w="19050">
            <a:solidFill>
              <a:srgbClr val="8C7070"/>
            </a:solidFill>
            <a:prstDash val="dash"/>
            <a:tailEnd type="triangle"/>
          </a:ln>
        </p:spPr>
      </p:sp>
      <p:sp>
        <p:nvSpPr>
          <p:cNvPr id="38" name="Conexión 3.B.2 – b:ciclo-economico-y-politicas-de-demanda"/>
          <p:cNvSpPr/>
          <p:nvPr/>
        </p:nvSpPr>
        <p:spPr>
          <a:xfrm>
            <a:off x="4620652" y="3462528"/>
            <a:ext cx="1676281" cy="446532"/>
          </a:xfrm>
          <a:prstGeom prst="line">
            <a:avLst/>
          </a:prstGeom>
          <a:noFill/>
          <a:ln w="19050">
            <a:solidFill>
              <a:srgbClr val="CC7A7A"/>
            </a:solidFill>
            <a:prstDash val="dash"/>
            <a:tailEnd type="triangle"/>
          </a:ln>
        </p:spPr>
      </p:sp>
      <p:sp>
        <p:nvSpPr>
          <p:cNvPr id="39" name="Conexión 3.B.5 – 3.B.6"/>
          <p:cNvSpPr/>
          <p:nvPr/>
        </p:nvSpPr>
        <p:spPr>
          <a:xfrm>
            <a:off x="5339962" y="3480683"/>
            <a:ext cx="1584920" cy="516598"/>
          </a:xfrm>
          <a:prstGeom prst="line">
            <a:avLst/>
          </a:prstGeom>
          <a:noFill/>
          <a:ln w="19050">
            <a:solidFill>
              <a:srgbClr val="CC7A7A"/>
            </a:solidFill>
            <a:prstDash val="solid"/>
            <a:tailEnd type="triangle"/>
          </a:ln>
        </p:spPr>
      </p:sp>
      <p:sp>
        <p:nvSpPr>
          <p:cNvPr id="40" name="Conexión 3.B.6 – 3.B.7"/>
          <p:cNvSpPr/>
          <p:nvPr/>
        </p:nvSpPr>
        <p:spPr>
          <a:xfrm>
            <a:off x="7518501" y="4222471"/>
            <a:ext cx="141658" cy="61722"/>
          </a:xfrm>
          <a:prstGeom prst="line">
            <a:avLst/>
          </a:prstGeom>
          <a:noFill/>
          <a:ln w="19050">
            <a:solidFill>
              <a:srgbClr val="8C6A00"/>
            </a:solidFill>
            <a:prstDash val="solid"/>
            <a:tailEnd type="triangle"/>
          </a:ln>
        </p:spPr>
      </p:sp>
      <p:sp>
        <p:nvSpPr>
          <p:cNvPr id="41" name="Conexión 3.B.8 – 3.B.9"/>
          <p:cNvSpPr/>
          <p:nvPr/>
        </p:nvSpPr>
        <p:spPr>
          <a:xfrm flipH="1">
            <a:off x="7518501" y="4222471"/>
            <a:ext cx="141658" cy="61722"/>
          </a:xfrm>
          <a:prstGeom prst="line">
            <a:avLst/>
          </a:prstGeom>
          <a:noFill/>
          <a:ln w="19050">
            <a:solidFill>
              <a:srgbClr val="8C6A00"/>
            </a:solidFill>
            <a:prstDash val="solid"/>
            <a:headEnd type="triangle"/>
            <a:tailEnd type="triangle"/>
          </a:ln>
        </p:spPr>
      </p:sp>
      <p:sp>
        <p:nvSpPr>
          <p:cNvPr id="42" name="Conexión 3.B.10 – 3.B.11"/>
          <p:cNvSpPr/>
          <p:nvPr/>
        </p:nvSpPr>
        <p:spPr>
          <a:xfrm flipV="1">
            <a:off x="6510365" y="4222471"/>
            <a:ext cx="914" cy="61722"/>
          </a:xfrm>
          <a:prstGeom prst="line">
            <a:avLst/>
          </a:prstGeom>
          <a:noFill/>
          <a:ln w="19050">
            <a:solidFill>
              <a:srgbClr val="8C6A00"/>
            </a:solidFill>
            <a:prstDash val="dash"/>
            <a:headEnd type="triangle"/>
            <a:tailEnd type="triangle"/>
          </a:ln>
        </p:spPr>
      </p:sp>
      <p:sp>
        <p:nvSpPr>
          <p:cNvPr id="43" name="Conexión 3.B.12 – 3.B.13"/>
          <p:cNvSpPr/>
          <p:nvPr/>
        </p:nvSpPr>
        <p:spPr>
          <a:xfrm flipV="1">
            <a:off x="8953535" y="3399511"/>
            <a:ext cx="1294849" cy="571271"/>
          </a:xfrm>
          <a:prstGeom prst="line">
            <a:avLst/>
          </a:prstGeom>
          <a:noFill/>
          <a:ln w="19050">
            <a:solidFill>
              <a:srgbClr val="8C6A00"/>
            </a:solidFill>
            <a:prstDash val="dash"/>
            <a:headEnd type="triangle"/>
            <a:tailEnd type="triangle"/>
          </a:ln>
        </p:spPr>
      </p:sp>
      <p:sp>
        <p:nvSpPr>
          <p:cNvPr id="44" name="Conexión 3.B.8 – 3.B.13"/>
          <p:cNvSpPr/>
          <p:nvPr/>
        </p:nvSpPr>
        <p:spPr>
          <a:xfrm flipV="1">
            <a:off x="8253778" y="3370713"/>
            <a:ext cx="1975055" cy="628866"/>
          </a:xfrm>
          <a:prstGeom prst="line">
            <a:avLst/>
          </a:prstGeom>
          <a:noFill/>
          <a:ln w="19050">
            <a:solidFill>
              <a:srgbClr val="8C6A00"/>
            </a:solidFill>
            <a:prstDash val="dash"/>
            <a:tailEnd type="triangle"/>
          </a:ln>
        </p:spPr>
      </p:sp>
      <p:sp>
        <p:nvSpPr>
          <p:cNvPr id="45" name="Conexión 3.A.14 – 3.B.14"/>
          <p:cNvSpPr/>
          <p:nvPr/>
        </p:nvSpPr>
        <p:spPr>
          <a:xfrm flipH="1">
            <a:off x="3791214" y="1312621"/>
            <a:ext cx="6511171" cy="3961181"/>
          </a:xfrm>
          <a:prstGeom prst="line">
            <a:avLst/>
          </a:prstGeom>
          <a:noFill/>
          <a:ln w="19050">
            <a:solidFill>
              <a:srgbClr val="009900"/>
            </a:solidFill>
            <a:prstDash val="dash"/>
            <a:tailEnd type="triangle"/>
          </a:ln>
        </p:spPr>
      </p:sp>
      <p:sp>
        <p:nvSpPr>
          <p:cNvPr id="46" name="Conexión 3.A.10 – 3.B.15"/>
          <p:cNvSpPr/>
          <p:nvPr/>
        </p:nvSpPr>
        <p:spPr>
          <a:xfrm flipH="1">
            <a:off x="4394850" y="999211"/>
            <a:ext cx="3097202" cy="4274591"/>
          </a:xfrm>
          <a:prstGeom prst="line">
            <a:avLst/>
          </a:prstGeom>
          <a:noFill/>
          <a:ln w="19050">
            <a:solidFill>
              <a:srgbClr val="00A300"/>
            </a:solidFill>
            <a:prstDash val="dash"/>
            <a:tailEnd type="triangle"/>
          </a:ln>
        </p:spPr>
      </p:sp>
      <p:sp>
        <p:nvSpPr>
          <p:cNvPr id="47" name="Conexión 3.A.9 – 3.B.17"/>
          <p:cNvSpPr/>
          <p:nvPr/>
        </p:nvSpPr>
        <p:spPr>
          <a:xfrm flipH="1">
            <a:off x="5077970" y="1312621"/>
            <a:ext cx="1730963" cy="3961181"/>
          </a:xfrm>
          <a:prstGeom prst="line">
            <a:avLst/>
          </a:prstGeom>
          <a:noFill/>
          <a:ln w="19050">
            <a:solidFill>
              <a:srgbClr val="00A300"/>
            </a:solidFill>
            <a:prstDash val="dash"/>
            <a:tailEnd type="triangle"/>
          </a:ln>
        </p:spPr>
      </p:sp>
      <p:sp>
        <p:nvSpPr>
          <p:cNvPr id="48" name="Conexión 3.B.14 – 3.B.15"/>
          <p:cNvSpPr/>
          <p:nvPr/>
        </p:nvSpPr>
        <p:spPr>
          <a:xfrm>
            <a:off x="3889151" y="5399646"/>
            <a:ext cx="109725" cy="914"/>
          </a:xfrm>
          <a:prstGeom prst="line">
            <a:avLst/>
          </a:prstGeom>
          <a:noFill/>
          <a:ln w="19050">
            <a:solidFill>
              <a:srgbClr val="548C1C"/>
            </a:solidFill>
            <a:prstDash val="solid"/>
            <a:tailEnd type="triangle"/>
          </a:ln>
        </p:spPr>
      </p:sp>
      <p:sp>
        <p:nvSpPr>
          <p:cNvPr id="49" name="Conexión 3.B.16 – 3.B.17"/>
          <p:cNvSpPr/>
          <p:nvPr/>
        </p:nvSpPr>
        <p:spPr>
          <a:xfrm flipV="1">
            <a:off x="4592494" y="5525491"/>
            <a:ext cx="141658" cy="61722"/>
          </a:xfrm>
          <a:prstGeom prst="line">
            <a:avLst/>
          </a:prstGeom>
          <a:noFill/>
          <a:ln w="19050">
            <a:solidFill>
              <a:srgbClr val="548C1C"/>
            </a:solidFill>
            <a:prstDash val="solid"/>
            <a:tailEnd type="triangle"/>
          </a:ln>
        </p:spPr>
      </p:sp>
      <p:sp>
        <p:nvSpPr>
          <p:cNvPr id="50" name="Conexión 3.B.16 – 3.B.18"/>
          <p:cNvSpPr/>
          <p:nvPr/>
        </p:nvSpPr>
        <p:spPr>
          <a:xfrm flipH="1">
            <a:off x="3889151" y="5713057"/>
            <a:ext cx="109725" cy="914"/>
          </a:xfrm>
          <a:prstGeom prst="line">
            <a:avLst/>
          </a:prstGeom>
          <a:noFill/>
          <a:ln w="19050">
            <a:solidFill>
              <a:srgbClr val="548C1C"/>
            </a:solidFill>
            <a:prstDash val="dash"/>
            <a:tailEnd type="triangle"/>
          </a:ln>
        </p:spPr>
      </p:sp>
      <p:sp>
        <p:nvSpPr>
          <p:cNvPr id="51" name="Conexión 3.B.18 – 3.B.22"/>
          <p:cNvSpPr/>
          <p:nvPr/>
        </p:nvSpPr>
        <p:spPr>
          <a:xfrm flipH="1" flipV="1">
            <a:off x="2401764" y="5463870"/>
            <a:ext cx="877802" cy="184964"/>
          </a:xfrm>
          <a:prstGeom prst="line">
            <a:avLst/>
          </a:prstGeom>
          <a:noFill/>
          <a:ln w="19050">
            <a:solidFill>
              <a:srgbClr val="548C1C"/>
            </a:solidFill>
            <a:prstDash val="dash"/>
            <a:headEnd type="triangle"/>
            <a:tailEnd type="triangle"/>
          </a:ln>
        </p:spPr>
      </p:sp>
      <p:sp>
        <p:nvSpPr>
          <p:cNvPr id="52" name="Conexión 3.B.19 – 3.B.20"/>
          <p:cNvSpPr/>
          <p:nvPr/>
        </p:nvSpPr>
        <p:spPr>
          <a:xfrm>
            <a:off x="658352" y="3399511"/>
            <a:ext cx="914" cy="1874291"/>
          </a:xfrm>
          <a:prstGeom prst="line">
            <a:avLst/>
          </a:prstGeom>
          <a:noFill/>
          <a:ln w="19050">
            <a:solidFill>
              <a:srgbClr val="8C7070"/>
            </a:solidFill>
            <a:prstDash val="dash"/>
            <a:tailEnd type="triangle"/>
          </a:ln>
        </p:spPr>
      </p:sp>
      <p:sp>
        <p:nvSpPr>
          <p:cNvPr id="53" name="Conexión 3.B.20 – 3.B.21"/>
          <p:cNvSpPr/>
          <p:nvPr/>
        </p:nvSpPr>
        <p:spPr>
          <a:xfrm>
            <a:off x="963144" y="5399646"/>
            <a:ext cx="109725" cy="914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54" name="Conexión 3.B.21 – 3.B.22"/>
          <p:cNvSpPr/>
          <p:nvPr/>
        </p:nvSpPr>
        <p:spPr>
          <a:xfrm>
            <a:off x="1682454" y="5399646"/>
            <a:ext cx="109725" cy="914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55" name="Conexión b:comercio-internacional – b:economia-abierta"/>
          <p:cNvSpPr/>
          <p:nvPr/>
        </p:nvSpPr>
        <p:spPr>
          <a:xfrm flipH="1" flipV="1">
            <a:off x="2511489" y="5460370"/>
            <a:ext cx="658352" cy="35259"/>
          </a:xfrm>
          <a:prstGeom prst="line">
            <a:avLst/>
          </a:prstGeom>
          <a:noFill/>
          <a:ln w="19050">
            <a:solidFill>
              <a:srgbClr val="548C1C"/>
            </a:solidFill>
            <a:prstDash val="dash"/>
            <a:headEnd type="triangle"/>
            <a:tailEnd type="triangle"/>
          </a:ln>
        </p:spPr>
      </p:sp>
      <p:sp>
        <p:nvSpPr>
          <p:cNvPr id="56" name="Conexión 3.B.9 – 3.B.10"/>
          <p:cNvSpPr/>
          <p:nvPr/>
        </p:nvSpPr>
        <p:spPr>
          <a:xfrm flipH="1">
            <a:off x="6815158" y="4410037"/>
            <a:ext cx="109725" cy="914"/>
          </a:xfrm>
          <a:prstGeom prst="line">
            <a:avLst/>
          </a:prstGeom>
          <a:noFill/>
          <a:ln w="19050">
            <a:solidFill>
              <a:srgbClr val="8C6A00"/>
            </a:solidFill>
            <a:prstDash val="dash"/>
            <a:headEnd type="triangle"/>
            <a:tailEnd type="triangle"/>
          </a:ln>
        </p:spPr>
      </p:sp>
      <p:sp>
        <p:nvSpPr>
          <p:cNvPr id="57" name="Conexión 3.A.21 – 3.B.8"/>
          <p:cNvSpPr/>
          <p:nvPr/>
        </p:nvSpPr>
        <p:spPr>
          <a:xfrm flipH="1">
            <a:off x="7997493" y="1312621"/>
            <a:ext cx="1024620" cy="2658161"/>
          </a:xfrm>
          <a:prstGeom prst="line">
            <a:avLst/>
          </a:prstGeom>
          <a:noFill/>
          <a:ln w="19050">
            <a:solidFill>
              <a:srgbClr val="009900"/>
            </a:solidFill>
            <a:prstDash val="dash"/>
            <a:headEnd type="triangle"/>
            <a:tailEnd type="triangle"/>
          </a:ln>
        </p:spPr>
      </p:sp>
      <p:sp>
        <p:nvSpPr>
          <p:cNvPr id="58" name="Conexión 3.A.8 – 3.A.11"/>
          <p:cNvSpPr/>
          <p:nvPr/>
        </p:nvSpPr>
        <p:spPr>
          <a:xfrm flipH="1">
            <a:off x="4849885" y="999211"/>
            <a:ext cx="1114264" cy="777011"/>
          </a:xfrm>
          <a:prstGeom prst="line">
            <a:avLst/>
          </a:prstGeom>
          <a:noFill/>
          <a:ln w="19050">
            <a:solidFill>
              <a:srgbClr val="00A300"/>
            </a:solidFill>
            <a:prstDash val="dash"/>
            <a:headEnd type="triangle"/>
            <a:tailEnd type="triangle"/>
          </a:ln>
        </p:spPr>
      </p:sp>
      <p:sp>
        <p:nvSpPr>
          <p:cNvPr id="59" name="Conexión 3.A.11 – 3.A.21"/>
          <p:cNvSpPr/>
          <p:nvPr/>
        </p:nvSpPr>
        <p:spPr>
          <a:xfrm flipV="1">
            <a:off x="4974212" y="1236312"/>
            <a:ext cx="3791617" cy="616219"/>
          </a:xfrm>
          <a:prstGeom prst="line">
            <a:avLst/>
          </a:prstGeom>
          <a:noFill/>
          <a:ln w="19050">
            <a:solidFill>
              <a:srgbClr val="6D7B63"/>
            </a:solidFill>
            <a:prstDash val="dash"/>
            <a:headEnd type="triangle"/>
            <a:tailEnd type="triangle"/>
          </a:ln>
        </p:spPr>
      </p:sp>
      <p:sp>
        <p:nvSpPr>
          <p:cNvPr id="60" name="Conexión 3.B.5 – 3.B.10"/>
          <p:cNvSpPr/>
          <p:nvPr/>
        </p:nvSpPr>
        <p:spPr>
          <a:xfrm>
            <a:off x="5215636" y="3507181"/>
            <a:ext cx="1114264" cy="777011"/>
          </a:xfrm>
          <a:prstGeom prst="line">
            <a:avLst/>
          </a:prstGeom>
          <a:noFill/>
          <a:ln w="19050">
            <a:solidFill>
              <a:srgbClr val="CC7A7A"/>
            </a:solidFill>
            <a:prstDash val="dash"/>
            <a:headEnd type="triangle"/>
            <a:tailEnd type="triangle"/>
          </a:ln>
        </p:spPr>
      </p:sp>
      <p:sp>
        <p:nvSpPr>
          <p:cNvPr id="61" name="Conexión 3.B.6 – 3.B.9"/>
          <p:cNvSpPr/>
          <p:nvPr/>
        </p:nvSpPr>
        <p:spPr>
          <a:xfrm>
            <a:off x="7229675" y="4222471"/>
            <a:ext cx="914" cy="61722"/>
          </a:xfrm>
          <a:prstGeom prst="line">
            <a:avLst/>
          </a:prstGeom>
          <a:noFill/>
          <a:ln w="19050">
            <a:solidFill>
              <a:srgbClr val="8C6A00"/>
            </a:solidFill>
            <a:prstDash val="dash"/>
            <a:headEnd type="triangle"/>
            <a:tailEnd type="triangle"/>
          </a:ln>
        </p:spPr>
      </p:sp>
      <p:sp>
        <p:nvSpPr>
          <p:cNvPr id="62" name="Conexión 3.B.7 – 3.B.12"/>
          <p:cNvSpPr/>
          <p:nvPr/>
        </p:nvSpPr>
        <p:spPr>
          <a:xfrm flipV="1">
            <a:off x="8237811" y="4222471"/>
            <a:ext cx="141658" cy="61722"/>
          </a:xfrm>
          <a:prstGeom prst="line">
            <a:avLst/>
          </a:prstGeom>
          <a:noFill/>
          <a:ln w="19050">
            <a:solidFill>
              <a:srgbClr val="8C6A00"/>
            </a:solidFill>
            <a:prstDash val="dash"/>
            <a:headEnd type="triangle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243834" y="432054"/>
            <a:ext cx="283456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40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pensamiento económico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3169841" y="432054"/>
            <a:ext cx="24688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5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3535592" y="1460754"/>
            <a:ext cx="847322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6D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trabajo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5730097" y="432054"/>
            <a:ext cx="283456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8656104" y="432054"/>
            <a:ext cx="335271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Bienestar y Sector Público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243834" y="2832354"/>
            <a:ext cx="978383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8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Nacional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3901342" y="2626614"/>
            <a:ext cx="810747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Agregada y Oferta Agregada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095848" y="3655314"/>
            <a:ext cx="591296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8C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económico y políticas de demanda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10119107" y="2832354"/>
            <a:ext cx="188970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económico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243834" y="4958334"/>
            <a:ext cx="283456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3169841" y="4958334"/>
            <a:ext cx="883897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54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Internacional</a:t>
            </a:r>
            <a:endParaRPr lang="en-US" sz="1100" dirty="0"/>
          </a:p>
        </p:txBody>
      </p:sp>
      <p:sp>
        <p:nvSpPr>
          <p:cNvPr id="74" name="Tema 3.A.1"/>
          <p:cNvSpPr txBox="1"/>
          <p:nvPr/>
        </p:nvSpPr>
        <p:spPr>
          <a:xfrm>
            <a:off x="353559" y="747522"/>
            <a:ext cx="609585" cy="251689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</a:t>
            </a:r>
            <a:endParaRPr lang="en-US" sz="1000" dirty="0"/>
          </a:p>
        </p:txBody>
      </p:sp>
      <p:pic>
        <p:nvPicPr>
          <p:cNvPr id="75" name="Image 0" descr="3.A.1 · Pensamiento económico: clásicos y neoclásicos">
            <a:hlinkClick r:id="rId3" action="ppaction://hlinksldjump" tooltip="3.A.1 · Pensamiento económico: clásicos y neoclásic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59" y="747522"/>
            <a:ext cx="609585" cy="251689"/>
          </a:xfrm>
          <a:prstGeom prst="rect">
            <a:avLst/>
          </a:prstGeom>
        </p:spPr>
      </p:pic>
      <p:sp>
        <p:nvSpPr>
          <p:cNvPr id="76" name="Tema 3.A.2"/>
          <p:cNvSpPr txBox="1"/>
          <p:nvPr/>
        </p:nvSpPr>
        <p:spPr>
          <a:xfrm>
            <a:off x="1072869" y="747522"/>
            <a:ext cx="609585" cy="251689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000" dirty="0"/>
          </a:p>
        </p:txBody>
      </p:sp>
      <p:pic>
        <p:nvPicPr>
          <p:cNvPr id="77" name="Image 1" descr="3.A.2 · Del pensamiento económico de Keynes a la actualidad">
            <a:hlinkClick r:id="rId5" action="ppaction://hlinksldjump" tooltip="3.A.2 · Del pensamiento económico de Keynes a la actualida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9" y="747522"/>
            <a:ext cx="609585" cy="251689"/>
          </a:xfrm>
          <a:prstGeom prst="rect">
            <a:avLst/>
          </a:prstGeom>
        </p:spPr>
      </p:pic>
      <p:sp>
        <p:nvSpPr>
          <p:cNvPr id="78" name="Tema 3.A.3"/>
          <p:cNvSpPr txBox="1"/>
          <p:nvPr/>
        </p:nvSpPr>
        <p:spPr>
          <a:xfrm>
            <a:off x="3279566" y="747522"/>
            <a:ext cx="609585" cy="251689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000" dirty="0"/>
          </a:p>
        </p:txBody>
      </p:sp>
      <p:pic>
        <p:nvPicPr>
          <p:cNvPr id="79" name="Image 2" descr="3.A.3 · Teoría de la demanda del consumidor">
            <a:hlinkClick r:id="rId6" action="ppaction://hlinksldjump" tooltip="3.A.3 · Teoría de la demanda del consumido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566" y="747522"/>
            <a:ext cx="609585" cy="251689"/>
          </a:xfrm>
          <a:prstGeom prst="rect">
            <a:avLst/>
          </a:prstGeom>
        </p:spPr>
      </p:pic>
      <p:sp>
        <p:nvSpPr>
          <p:cNvPr id="80" name="Tema 3.A.4"/>
          <p:cNvSpPr txBox="1"/>
          <p:nvPr/>
        </p:nvSpPr>
        <p:spPr>
          <a:xfrm>
            <a:off x="3998876" y="747522"/>
            <a:ext cx="609585" cy="251689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000" dirty="0"/>
          </a:p>
        </p:txBody>
      </p:sp>
      <p:pic>
        <p:nvPicPr>
          <p:cNvPr id="81" name="Image 3" descr="3.A.4 · Dualidad y elección en situaciones de riesgo">
            <a:hlinkClick r:id="rId7" action="ppaction://hlinksldjump" tooltip="3.A.4 · Dualidad y elección en situaciones de riesg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876" y="747522"/>
            <a:ext cx="609585" cy="251689"/>
          </a:xfrm>
          <a:prstGeom prst="rect">
            <a:avLst/>
          </a:prstGeom>
        </p:spPr>
      </p:pic>
      <p:sp>
        <p:nvSpPr>
          <p:cNvPr id="82" name="Tema 3.A.7"/>
          <p:cNvSpPr txBox="1"/>
          <p:nvPr/>
        </p:nvSpPr>
        <p:spPr>
          <a:xfrm>
            <a:off x="4718186" y="747522"/>
            <a:ext cx="609585" cy="251689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000" dirty="0"/>
          </a:p>
        </p:txBody>
      </p:sp>
      <p:pic>
        <p:nvPicPr>
          <p:cNvPr id="83" name="Image 4" descr="3.A.7 · El modelo de competencia perfecta">
            <a:hlinkClick r:id="rId8" action="ppaction://hlinksldjump" tooltip="3.A.7 · El modelo de competencia perfect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186" y="747522"/>
            <a:ext cx="609585" cy="251689"/>
          </a:xfrm>
          <a:prstGeom prst="rect">
            <a:avLst/>
          </a:prstGeom>
        </p:spPr>
      </p:pic>
      <p:sp>
        <p:nvSpPr>
          <p:cNvPr id="84" name="Tema 3.A.6"/>
          <p:cNvSpPr txBox="1"/>
          <p:nvPr/>
        </p:nvSpPr>
        <p:spPr>
          <a:xfrm>
            <a:off x="3279566" y="1060933"/>
            <a:ext cx="609585" cy="251689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000" dirty="0"/>
          </a:p>
        </p:txBody>
      </p:sp>
      <p:pic>
        <p:nvPicPr>
          <p:cNvPr id="85" name="Image 5" descr="3.A.6 · Teoría de los costes">
            <a:hlinkClick r:id="rId9" action="ppaction://hlinksldjump" tooltip="3.A.6 · Teoría de los cost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566" y="1060933"/>
            <a:ext cx="609585" cy="251689"/>
          </a:xfrm>
          <a:prstGeom prst="rect">
            <a:avLst/>
          </a:prstGeom>
        </p:spPr>
      </p:pic>
      <p:sp>
        <p:nvSpPr>
          <p:cNvPr id="86" name="Tema 3.A.5"/>
          <p:cNvSpPr txBox="1"/>
          <p:nvPr/>
        </p:nvSpPr>
        <p:spPr>
          <a:xfrm>
            <a:off x="3998876" y="1060933"/>
            <a:ext cx="609585" cy="251689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000" dirty="0"/>
          </a:p>
        </p:txBody>
      </p:sp>
      <p:pic>
        <p:nvPicPr>
          <p:cNvPr id="87" name="Image 6" descr="3.A.5 · Teoría de la producción">
            <a:hlinkClick r:id="rId10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876" y="1060933"/>
            <a:ext cx="609585" cy="251689"/>
          </a:xfrm>
          <a:prstGeom prst="rect">
            <a:avLst/>
          </a:prstGeom>
        </p:spPr>
      </p:pic>
      <p:sp>
        <p:nvSpPr>
          <p:cNvPr id="88" name="Tema 3.A.12"/>
          <p:cNvSpPr txBox="1"/>
          <p:nvPr/>
        </p:nvSpPr>
        <p:spPr>
          <a:xfrm>
            <a:off x="3645317" y="1776222"/>
            <a:ext cx="609585" cy="251689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3.A.12</a:t>
            </a:r>
            <a:endParaRPr lang="en-US" sz="1000" dirty="0"/>
          </a:p>
        </p:txBody>
      </p:sp>
      <p:pic>
        <p:nvPicPr>
          <p:cNvPr id="89" name="Image 7" descr="3.A.12 · Teorías microeconómicas del mercado de trabajo (II)">
            <a:hlinkClick r:id="rId11" action="ppaction://hlinksldjump" tooltip="3.A.12 · Teorías microeconómicas del mercado de trabajo (I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317" y="1776222"/>
            <a:ext cx="609585" cy="251689"/>
          </a:xfrm>
          <a:prstGeom prst="rect">
            <a:avLst/>
          </a:prstGeom>
        </p:spPr>
      </p:pic>
      <p:sp>
        <p:nvSpPr>
          <p:cNvPr id="90" name="Tema 3.A.11"/>
          <p:cNvSpPr txBox="1"/>
          <p:nvPr/>
        </p:nvSpPr>
        <p:spPr>
          <a:xfrm>
            <a:off x="4364627" y="1776222"/>
            <a:ext cx="609585" cy="251689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000" dirty="0"/>
          </a:p>
        </p:txBody>
      </p:sp>
      <p:pic>
        <p:nvPicPr>
          <p:cNvPr id="91" name="Image 8" descr="3.A.11 · Teorías microeconómicas del mercado de trabajo (I)">
            <a:hlinkClick r:id="rId12" action="ppaction://hlinksldjump" tooltip="3.A.11 · Teorías microeconómicas del mercado de trabajo (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627" y="1776222"/>
            <a:ext cx="609585" cy="251689"/>
          </a:xfrm>
          <a:prstGeom prst="rect">
            <a:avLst/>
          </a:prstGeom>
        </p:spPr>
      </p:pic>
      <p:sp>
        <p:nvSpPr>
          <p:cNvPr id="92" name="Tema 3.A.8"/>
          <p:cNvSpPr txBox="1"/>
          <p:nvPr/>
        </p:nvSpPr>
        <p:spPr>
          <a:xfrm>
            <a:off x="5839822" y="747522"/>
            <a:ext cx="609585" cy="251689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000" dirty="0"/>
          </a:p>
        </p:txBody>
      </p:sp>
      <p:pic>
        <p:nvPicPr>
          <p:cNvPr id="93" name="Image 9" descr="3.A.8 · Teoría del monopolio y su regulación">
            <a:hlinkClick r:id="rId13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22" y="747522"/>
            <a:ext cx="609585" cy="251689"/>
          </a:xfrm>
          <a:prstGeom prst="rect">
            <a:avLst/>
          </a:prstGeom>
        </p:spPr>
      </p:pic>
      <p:sp>
        <p:nvSpPr>
          <p:cNvPr id="94" name="Tema 3.A.18"/>
          <p:cNvSpPr txBox="1"/>
          <p:nvPr/>
        </p:nvSpPr>
        <p:spPr>
          <a:xfrm>
            <a:off x="6559132" y="747522"/>
            <a:ext cx="609585" cy="251689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000" dirty="0"/>
          </a:p>
        </p:txBody>
      </p:sp>
      <p:pic>
        <p:nvPicPr>
          <p:cNvPr id="95" name="Image 10" descr="3.A.18 · Poder de mercado y regulación óptima">
            <a:hlinkClick r:id="rId14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132" y="747522"/>
            <a:ext cx="609585" cy="251689"/>
          </a:xfrm>
          <a:prstGeom prst="rect">
            <a:avLst/>
          </a:prstGeom>
        </p:spPr>
      </p:pic>
      <p:sp>
        <p:nvSpPr>
          <p:cNvPr id="96" name="Tema 3.A.10"/>
          <p:cNvSpPr txBox="1"/>
          <p:nvPr/>
        </p:nvSpPr>
        <p:spPr>
          <a:xfrm>
            <a:off x="7278442" y="747522"/>
            <a:ext cx="609585" cy="251689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000" dirty="0"/>
          </a:p>
        </p:txBody>
      </p:sp>
      <p:pic>
        <p:nvPicPr>
          <p:cNvPr id="97" name="Image 11" descr="3.A.10 · Teoría de la competencia monopolística">
            <a:hlinkClick r:id="rId15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442" y="747522"/>
            <a:ext cx="609585" cy="251689"/>
          </a:xfrm>
          <a:prstGeom prst="rect">
            <a:avLst/>
          </a:prstGeom>
        </p:spPr>
      </p:pic>
      <p:sp>
        <p:nvSpPr>
          <p:cNvPr id="98" name="Tema 3.A.13"/>
          <p:cNvSpPr txBox="1"/>
          <p:nvPr/>
        </p:nvSpPr>
        <p:spPr>
          <a:xfrm>
            <a:off x="5839822" y="1060933"/>
            <a:ext cx="609585" cy="251689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000" dirty="0"/>
          </a:p>
        </p:txBody>
      </p:sp>
      <p:pic>
        <p:nvPicPr>
          <p:cNvPr id="99" name="Image 12" descr="3.A.13 · Economía de la información y teoría de la agencia">
            <a:hlinkClick r:id="rId16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22" y="1060933"/>
            <a:ext cx="609585" cy="251689"/>
          </a:xfrm>
          <a:prstGeom prst="rect">
            <a:avLst/>
          </a:prstGeom>
        </p:spPr>
      </p:pic>
      <p:sp>
        <p:nvSpPr>
          <p:cNvPr id="100" name="Tema 3.A.9"/>
          <p:cNvSpPr txBox="1"/>
          <p:nvPr/>
        </p:nvSpPr>
        <p:spPr>
          <a:xfrm>
            <a:off x="6559132" y="1060933"/>
            <a:ext cx="609585" cy="251689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000" dirty="0"/>
          </a:p>
        </p:txBody>
      </p:sp>
      <p:pic>
        <p:nvPicPr>
          <p:cNvPr id="101" name="Image 13" descr="3.A.9 · Teoría del oligopolio. Análisis mediante la teoría de juegos">
            <a:hlinkClick r:id="rId17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132" y="1060933"/>
            <a:ext cx="609585" cy="251689"/>
          </a:xfrm>
          <a:prstGeom prst="rect">
            <a:avLst/>
          </a:prstGeom>
        </p:spPr>
      </p:pic>
      <p:sp>
        <p:nvSpPr>
          <p:cNvPr id="102" name="Tema 3.A.19"/>
          <p:cNvSpPr txBox="1"/>
          <p:nvPr/>
        </p:nvSpPr>
        <p:spPr>
          <a:xfrm>
            <a:off x="8765829" y="747522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000" dirty="0"/>
          </a:p>
        </p:txBody>
      </p:sp>
      <p:pic>
        <p:nvPicPr>
          <p:cNvPr id="103" name="Image 14" descr="3.A.19 · Estado del Bienestar, redistribución y protección social.">
            <a:hlinkClick r:id="rId18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29" y="747522"/>
            <a:ext cx="609585" cy="251689"/>
          </a:xfrm>
          <a:prstGeom prst="rect">
            <a:avLst/>
          </a:prstGeom>
        </p:spPr>
      </p:pic>
      <p:sp>
        <p:nvSpPr>
          <p:cNvPr id="104" name="Tema 3.A.15"/>
          <p:cNvSpPr txBox="1"/>
          <p:nvPr/>
        </p:nvSpPr>
        <p:spPr>
          <a:xfrm>
            <a:off x="9485139" y="747522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000" dirty="0"/>
          </a:p>
        </p:txBody>
      </p:sp>
      <p:pic>
        <p:nvPicPr>
          <p:cNvPr id="105" name="Image 15" descr="3.A.15 · Fallos del mercado y del sector público">
            <a:hlinkClick r:id="rId19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139" y="747522"/>
            <a:ext cx="609585" cy="251689"/>
          </a:xfrm>
          <a:prstGeom prst="rect">
            <a:avLst/>
          </a:prstGeom>
        </p:spPr>
      </p:pic>
      <p:sp>
        <p:nvSpPr>
          <p:cNvPr id="106" name="Tema 3.A.16"/>
          <p:cNvSpPr txBox="1"/>
          <p:nvPr/>
        </p:nvSpPr>
        <p:spPr>
          <a:xfrm>
            <a:off x="10204449" y="747522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000" dirty="0"/>
          </a:p>
        </p:txBody>
      </p:sp>
      <p:pic>
        <p:nvPicPr>
          <p:cNvPr id="107" name="Image 16" descr="3.A.16 · Teoría de la elección colectiva">
            <a:hlinkClick r:id="rId20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449" y="747522"/>
            <a:ext cx="609585" cy="251689"/>
          </a:xfrm>
          <a:prstGeom prst="rect">
            <a:avLst/>
          </a:prstGeom>
        </p:spPr>
      </p:pic>
      <p:sp>
        <p:nvSpPr>
          <p:cNvPr id="108" name="Tema 3.A.17"/>
          <p:cNvSpPr txBox="1"/>
          <p:nvPr/>
        </p:nvSpPr>
        <p:spPr>
          <a:xfrm>
            <a:off x="10923759" y="747522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000" dirty="0"/>
          </a:p>
        </p:txBody>
      </p:sp>
      <p:pic>
        <p:nvPicPr>
          <p:cNvPr id="109" name="Image 17" descr="3.A.17 · Sector Público. Crecimiento del gasto público">
            <a:hlinkClick r:id="rId21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3759" y="747522"/>
            <a:ext cx="609585" cy="251689"/>
          </a:xfrm>
          <a:prstGeom prst="rect">
            <a:avLst/>
          </a:prstGeom>
        </p:spPr>
      </p:pic>
      <p:sp>
        <p:nvSpPr>
          <p:cNvPr id="110" name="Tema 3.A.21"/>
          <p:cNvSpPr txBox="1"/>
          <p:nvPr/>
        </p:nvSpPr>
        <p:spPr>
          <a:xfrm>
            <a:off x="8765829" y="1060933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000" dirty="0"/>
          </a:p>
        </p:txBody>
      </p:sp>
      <p:pic>
        <p:nvPicPr>
          <p:cNvPr id="111" name="Image 18" descr="3.A.21 · Imposición y oferta.">
            <a:hlinkClick r:id="rId22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29" y="1060933"/>
            <a:ext cx="609585" cy="251689"/>
          </a:xfrm>
          <a:prstGeom prst="rect">
            <a:avLst/>
          </a:prstGeom>
        </p:spPr>
      </p:pic>
      <p:sp>
        <p:nvSpPr>
          <p:cNvPr id="112" name="Tema 3.A.20"/>
          <p:cNvSpPr txBox="1"/>
          <p:nvPr/>
        </p:nvSpPr>
        <p:spPr>
          <a:xfrm>
            <a:off x="9485139" y="1060933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000" dirty="0"/>
          </a:p>
        </p:txBody>
      </p:sp>
      <p:pic>
        <p:nvPicPr>
          <p:cNvPr id="113" name="Image 19" descr="3.A.20 · Teoría de la imposición">
            <a:hlinkClick r:id="rId23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139" y="1060933"/>
            <a:ext cx="609585" cy="251689"/>
          </a:xfrm>
          <a:prstGeom prst="rect">
            <a:avLst/>
          </a:prstGeom>
        </p:spPr>
      </p:pic>
      <p:sp>
        <p:nvSpPr>
          <p:cNvPr id="114" name="Tema 3.A.14"/>
          <p:cNvSpPr txBox="1"/>
          <p:nvPr/>
        </p:nvSpPr>
        <p:spPr>
          <a:xfrm>
            <a:off x="10204449" y="1060933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000" dirty="0"/>
          </a:p>
        </p:txBody>
      </p:sp>
      <p:pic>
        <p:nvPicPr>
          <p:cNvPr id="115" name="Image 20" descr="3.A.14 · Óptimo, equilibrio competitivo y “second best”">
            <a:hlinkClick r:id="rId24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449" y="1060933"/>
            <a:ext cx="609585" cy="251689"/>
          </a:xfrm>
          <a:prstGeom prst="rect">
            <a:avLst/>
          </a:prstGeom>
        </p:spPr>
      </p:pic>
      <p:sp>
        <p:nvSpPr>
          <p:cNvPr id="116" name="Tema 3.A.22"/>
          <p:cNvSpPr txBox="1"/>
          <p:nvPr/>
        </p:nvSpPr>
        <p:spPr>
          <a:xfrm>
            <a:off x="10923759" y="1060933"/>
            <a:ext cx="609585" cy="251689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000" dirty="0"/>
          </a:p>
        </p:txBody>
      </p:sp>
      <p:pic>
        <p:nvPicPr>
          <p:cNvPr id="117" name="Image 21" descr="3.A.22 · Federalismo fiscal">
            <a:hlinkClick r:id="rId25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3759" y="1060933"/>
            <a:ext cx="609585" cy="251689"/>
          </a:xfrm>
          <a:prstGeom prst="rect">
            <a:avLst/>
          </a:prstGeom>
        </p:spPr>
      </p:pic>
      <p:sp>
        <p:nvSpPr>
          <p:cNvPr id="118" name="Tema 3.B.19"/>
          <p:cNvSpPr txBox="1"/>
          <p:nvPr/>
        </p:nvSpPr>
        <p:spPr>
          <a:xfrm>
            <a:off x="353559" y="3147822"/>
            <a:ext cx="609585" cy="251689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3.B.19</a:t>
            </a:r>
            <a:endParaRPr lang="en-US" sz="1000" dirty="0"/>
          </a:p>
        </p:txBody>
      </p:sp>
      <p:pic>
        <p:nvPicPr>
          <p:cNvPr id="119" name="Image 22" descr="3.B.19 · Balanza de Pagos: concepto, medición e interpretación.">
            <a:hlinkClick r:id="rId26" action="ppaction://hlinksldjump" tooltip="3.B.19 · Balanza de Pagos: concepto, medición e interpre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59" y="3147822"/>
            <a:ext cx="609585" cy="251689"/>
          </a:xfrm>
          <a:prstGeom prst="rect">
            <a:avLst/>
          </a:prstGeom>
        </p:spPr>
      </p:pic>
      <p:sp>
        <p:nvSpPr>
          <p:cNvPr id="120" name="Tema 3.B.1"/>
          <p:cNvSpPr txBox="1"/>
          <p:nvPr/>
        </p:nvSpPr>
        <p:spPr>
          <a:xfrm>
            <a:off x="1072869" y="3147822"/>
            <a:ext cx="609585" cy="251689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</a:t>
            </a:r>
            <a:endParaRPr lang="en-US" sz="1000" dirty="0"/>
          </a:p>
        </p:txBody>
      </p:sp>
      <p:pic>
        <p:nvPicPr>
          <p:cNvPr id="121" name="Image 23" descr="3.B.1 · Magnitudes macroeconómicas y contabilidad nacional.">
            <a:hlinkClick r:id="rId27" action="ppaction://hlinksldjump" tooltip="3.B.1 · Magnitudes macroeconómicas y contabilidad 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9" y="3147822"/>
            <a:ext cx="609585" cy="251689"/>
          </a:xfrm>
          <a:prstGeom prst="rect">
            <a:avLst/>
          </a:prstGeom>
        </p:spPr>
      </p:pic>
      <p:sp>
        <p:nvSpPr>
          <p:cNvPr id="122" name="Tema 3.B.4"/>
          <p:cNvSpPr txBox="1"/>
          <p:nvPr/>
        </p:nvSpPr>
        <p:spPr>
          <a:xfrm>
            <a:off x="4011068" y="2942082"/>
            <a:ext cx="609585" cy="251689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3.B.4</a:t>
            </a:r>
            <a:endParaRPr lang="en-US" sz="1000" dirty="0"/>
          </a:p>
        </p:txBody>
      </p:sp>
      <p:pic>
        <p:nvPicPr>
          <p:cNvPr id="123" name="Image 24" descr="3.B.4 · Teorías de la demanda de inversión.">
            <a:hlinkClick r:id="rId28" action="ppaction://hlinksldjump" tooltip="3.B.4 · Teorías de la demanda de inver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068" y="2942082"/>
            <a:ext cx="609585" cy="251689"/>
          </a:xfrm>
          <a:prstGeom prst="rect">
            <a:avLst/>
          </a:prstGeom>
        </p:spPr>
      </p:pic>
      <p:sp>
        <p:nvSpPr>
          <p:cNvPr id="124" name="Tema 3.B.3"/>
          <p:cNvSpPr txBox="1"/>
          <p:nvPr/>
        </p:nvSpPr>
        <p:spPr>
          <a:xfrm>
            <a:off x="4730378" y="2942082"/>
            <a:ext cx="609585" cy="251689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3.B.3</a:t>
            </a:r>
            <a:endParaRPr lang="en-US" sz="1000" dirty="0"/>
          </a:p>
        </p:txBody>
      </p:sp>
      <p:pic>
        <p:nvPicPr>
          <p:cNvPr id="125" name="Image 25" descr="3.B.3 · Teorías de la demanda de consumo.">
            <a:hlinkClick r:id="rId29" action="ppaction://hlinksldjump" tooltip="3.B.3 · Teorías de la demanda de consum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378" y="2942082"/>
            <a:ext cx="609585" cy="251689"/>
          </a:xfrm>
          <a:prstGeom prst="rect">
            <a:avLst/>
          </a:prstGeom>
        </p:spPr>
      </p:pic>
      <p:sp>
        <p:nvSpPr>
          <p:cNvPr id="126" name="Tema 3.B.2"/>
          <p:cNvSpPr txBox="1"/>
          <p:nvPr/>
        </p:nvSpPr>
        <p:spPr>
          <a:xfrm>
            <a:off x="4011068" y="3255493"/>
            <a:ext cx="609585" cy="251689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000" dirty="0"/>
          </a:p>
        </p:txBody>
      </p:sp>
      <p:pic>
        <p:nvPicPr>
          <p:cNvPr id="127" name="Image 26" descr="3.B.2 · El modelo de oferta y demanda agregada.">
            <a:hlinkClick r:id="rId30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068" y="3255493"/>
            <a:ext cx="609585" cy="251689"/>
          </a:xfrm>
          <a:prstGeom prst="rect">
            <a:avLst/>
          </a:prstGeom>
        </p:spPr>
      </p:pic>
      <p:sp>
        <p:nvSpPr>
          <p:cNvPr id="128" name="Tema 3.B.5"/>
          <p:cNvSpPr txBox="1"/>
          <p:nvPr/>
        </p:nvSpPr>
        <p:spPr>
          <a:xfrm>
            <a:off x="4730378" y="3255493"/>
            <a:ext cx="609585" cy="251689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000" dirty="0"/>
          </a:p>
        </p:txBody>
      </p:sp>
      <p:pic>
        <p:nvPicPr>
          <p:cNvPr id="129" name="Image 27" descr="3.B.5 · Teorías de la demanda de dinero">
            <a:hlinkClick r:id="rId31" action="ppaction://hlinksldjump" tooltip="3.B.5 · Teorías de la demanda de diner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378" y="3255493"/>
            <a:ext cx="609585" cy="251689"/>
          </a:xfrm>
          <a:prstGeom prst="rect">
            <a:avLst/>
          </a:prstGeom>
        </p:spPr>
      </p:pic>
      <p:sp>
        <p:nvSpPr>
          <p:cNvPr id="130" name="Tema 3.B.11"/>
          <p:cNvSpPr txBox="1"/>
          <p:nvPr/>
        </p:nvSpPr>
        <p:spPr>
          <a:xfrm>
            <a:off x="6205573" y="3970782"/>
            <a:ext cx="609585" cy="251689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000" dirty="0"/>
          </a:p>
        </p:txBody>
      </p:sp>
      <p:pic>
        <p:nvPicPr>
          <p:cNvPr id="131" name="Image 28" descr="3.B.11 · Análisis macroeconómico del mercado de trabajo.">
            <a:hlinkClick r:id="rId32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73" y="3970782"/>
            <a:ext cx="609585" cy="251689"/>
          </a:xfrm>
          <a:prstGeom prst="rect">
            <a:avLst/>
          </a:prstGeom>
        </p:spPr>
      </p:pic>
      <p:sp>
        <p:nvSpPr>
          <p:cNvPr id="132" name="Tema 3.B.6"/>
          <p:cNvSpPr txBox="1"/>
          <p:nvPr/>
        </p:nvSpPr>
        <p:spPr>
          <a:xfrm>
            <a:off x="6924883" y="3970782"/>
            <a:ext cx="609585" cy="251689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000" dirty="0"/>
          </a:p>
        </p:txBody>
      </p:sp>
      <p:pic>
        <p:nvPicPr>
          <p:cNvPr id="133" name="Image 29" descr="3.B.6 · Política monetaria: diseño e instrumentación.">
            <a:hlinkClick r:id="rId3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883" y="3970782"/>
            <a:ext cx="609585" cy="251689"/>
          </a:xfrm>
          <a:prstGeom prst="rect">
            <a:avLst/>
          </a:prstGeom>
        </p:spPr>
      </p:pic>
      <p:sp>
        <p:nvSpPr>
          <p:cNvPr id="134" name="Tema 3.B.8"/>
          <p:cNvSpPr txBox="1"/>
          <p:nvPr/>
        </p:nvSpPr>
        <p:spPr>
          <a:xfrm>
            <a:off x="7644193" y="3970782"/>
            <a:ext cx="609585" cy="251689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000" dirty="0"/>
          </a:p>
        </p:txBody>
      </p:sp>
      <p:pic>
        <p:nvPicPr>
          <p:cNvPr id="135" name="Image 30" descr="3.B.8 · La política fiscal.">
            <a:hlinkClick r:id="rId34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193" y="3970782"/>
            <a:ext cx="609585" cy="251689"/>
          </a:xfrm>
          <a:prstGeom prst="rect">
            <a:avLst/>
          </a:prstGeom>
        </p:spPr>
      </p:pic>
      <p:sp>
        <p:nvSpPr>
          <p:cNvPr id="136" name="Tema 3.B.12"/>
          <p:cNvSpPr txBox="1"/>
          <p:nvPr/>
        </p:nvSpPr>
        <p:spPr>
          <a:xfrm>
            <a:off x="8363503" y="3970782"/>
            <a:ext cx="609585" cy="251689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000" dirty="0"/>
          </a:p>
        </p:txBody>
      </p:sp>
      <p:pic>
        <p:nvPicPr>
          <p:cNvPr id="137" name="Image 31" descr="3.B.12 · Teorías de los ciclos económicos.">
            <a:hlinkClick r:id="rId35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03" y="3970782"/>
            <a:ext cx="609585" cy="251689"/>
          </a:xfrm>
          <a:prstGeom prst="rect">
            <a:avLst/>
          </a:prstGeom>
        </p:spPr>
      </p:pic>
      <p:sp>
        <p:nvSpPr>
          <p:cNvPr id="138" name="Tema 3.B.10"/>
          <p:cNvSpPr txBox="1"/>
          <p:nvPr/>
        </p:nvSpPr>
        <p:spPr>
          <a:xfrm>
            <a:off x="6205573" y="4284193"/>
            <a:ext cx="609585" cy="251689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000" dirty="0"/>
          </a:p>
        </p:txBody>
      </p:sp>
      <p:pic>
        <p:nvPicPr>
          <p:cNvPr id="139" name="Image 32" descr="3.B.10 · Inflación: eficiencia y bienestar.">
            <a:hlinkClick r:id="rId36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73" y="4284193"/>
            <a:ext cx="609585" cy="251689"/>
          </a:xfrm>
          <a:prstGeom prst="rect">
            <a:avLst/>
          </a:prstGeom>
        </p:spPr>
      </p:pic>
      <p:sp>
        <p:nvSpPr>
          <p:cNvPr id="140" name="Tema 3.B.9"/>
          <p:cNvSpPr txBox="1"/>
          <p:nvPr/>
        </p:nvSpPr>
        <p:spPr>
          <a:xfrm>
            <a:off x="6924883" y="4284193"/>
            <a:ext cx="609585" cy="251689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000" dirty="0"/>
          </a:p>
        </p:txBody>
      </p:sp>
      <p:pic>
        <p:nvPicPr>
          <p:cNvPr id="141" name="Image 33" descr="3.B.9 · Déficit público: financiación, dinámica y sostenibilidad.">
            <a:hlinkClick r:id="rId37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883" y="4284193"/>
            <a:ext cx="609585" cy="251689"/>
          </a:xfrm>
          <a:prstGeom prst="rect">
            <a:avLst/>
          </a:prstGeom>
        </p:spPr>
      </p:pic>
      <p:sp>
        <p:nvSpPr>
          <p:cNvPr id="142" name="Tema 3.B.7"/>
          <p:cNvSpPr txBox="1"/>
          <p:nvPr/>
        </p:nvSpPr>
        <p:spPr>
          <a:xfrm>
            <a:off x="7644193" y="4284193"/>
            <a:ext cx="609585" cy="251689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000" dirty="0"/>
          </a:p>
        </p:txBody>
      </p:sp>
      <p:pic>
        <p:nvPicPr>
          <p:cNvPr id="143" name="Image 34" descr="3.B.7 · Política monetaria: los mecanismos de transmisión.">
            <a:hlinkClick r:id="rId38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193" y="4284193"/>
            <a:ext cx="609585" cy="251689"/>
          </a:xfrm>
          <a:prstGeom prst="rect">
            <a:avLst/>
          </a:prstGeom>
        </p:spPr>
      </p:pic>
      <p:sp>
        <p:nvSpPr>
          <p:cNvPr id="144" name="Tema 3.B.13"/>
          <p:cNvSpPr txBox="1"/>
          <p:nvPr/>
        </p:nvSpPr>
        <p:spPr>
          <a:xfrm>
            <a:off x="10228832" y="3147822"/>
            <a:ext cx="609585" cy="251689"/>
          </a:xfrm>
          <a:prstGeom prst="rect">
            <a:avLst/>
          </a:prstGeom>
          <a:solidFill>
            <a:srgbClr val="FF9966"/>
          </a:solidFill>
          <a:ln w="6350">
            <a:solidFill>
              <a:srgbClr val="FF99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3.B.13</a:t>
            </a:r>
            <a:endParaRPr lang="en-US" sz="1000" dirty="0"/>
          </a:p>
        </p:txBody>
      </p:sp>
      <p:pic>
        <p:nvPicPr>
          <p:cNvPr id="145" name="Image 35" descr="3.B.13 · Teorías del crecimiento económico.">
            <a:hlinkClick r:id="rId39" action="ppaction://hlinksldjump" tooltip="3.B.13 · Teorías del crecimiento económic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832" y="3147822"/>
            <a:ext cx="609585" cy="251689"/>
          </a:xfrm>
          <a:prstGeom prst="rect">
            <a:avLst/>
          </a:prstGeom>
        </p:spPr>
      </p:pic>
      <p:sp>
        <p:nvSpPr>
          <p:cNvPr id="146" name="Tema 3.B.20"/>
          <p:cNvSpPr txBox="1"/>
          <p:nvPr/>
        </p:nvSpPr>
        <p:spPr>
          <a:xfrm>
            <a:off x="353559" y="5273802"/>
            <a:ext cx="609585" cy="251689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000" dirty="0"/>
          </a:p>
        </p:txBody>
      </p:sp>
      <p:pic>
        <p:nvPicPr>
          <p:cNvPr id="147" name="Image 36" descr="3.B.20 · Mecanismos de ajuste de la Balanza de Pagos.">
            <a:hlinkClick r:id="rId40" action="ppaction://hlinksldjump" tooltip="3.B.20 · Mecanismos de ajuste de la Balanza de Pag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59" y="5273802"/>
            <a:ext cx="609585" cy="251689"/>
          </a:xfrm>
          <a:prstGeom prst="rect">
            <a:avLst/>
          </a:prstGeom>
        </p:spPr>
      </p:pic>
      <p:sp>
        <p:nvSpPr>
          <p:cNvPr id="148" name="Tema 3.B.21"/>
          <p:cNvSpPr txBox="1"/>
          <p:nvPr/>
        </p:nvSpPr>
        <p:spPr>
          <a:xfrm>
            <a:off x="1072869" y="5273802"/>
            <a:ext cx="609585" cy="251689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000" dirty="0"/>
          </a:p>
        </p:txBody>
      </p:sp>
      <p:pic>
        <p:nvPicPr>
          <p:cNvPr id="149" name="Image 37" descr="3.B.21 · El mercado de divisas.">
            <a:hlinkClick r:id="rId41" action="ppaction://hlinksldjump" tooltip="3.B.21 · El mercado de divis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9" y="5273802"/>
            <a:ext cx="609585" cy="251689"/>
          </a:xfrm>
          <a:prstGeom prst="rect">
            <a:avLst/>
          </a:prstGeom>
        </p:spPr>
      </p:pic>
      <p:sp>
        <p:nvSpPr>
          <p:cNvPr id="150" name="Tema 3.B.22"/>
          <p:cNvSpPr txBox="1"/>
          <p:nvPr/>
        </p:nvSpPr>
        <p:spPr>
          <a:xfrm>
            <a:off x="1792179" y="5273802"/>
            <a:ext cx="609585" cy="251689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000" dirty="0"/>
          </a:p>
        </p:txBody>
      </p:sp>
      <p:pic>
        <p:nvPicPr>
          <p:cNvPr id="151" name="Image 38" descr="3.B.22 · Teorías de la integración monetaria.">
            <a:hlinkClick r:id="rId42" action="ppaction://hlinksldjump" tooltip="3.B.22 · Teorías de la integración monetari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179" y="5273802"/>
            <a:ext cx="609585" cy="251689"/>
          </a:xfrm>
          <a:prstGeom prst="rect">
            <a:avLst/>
          </a:prstGeom>
        </p:spPr>
      </p:pic>
      <p:sp>
        <p:nvSpPr>
          <p:cNvPr id="152" name="Tema 3.B.14"/>
          <p:cNvSpPr txBox="1"/>
          <p:nvPr/>
        </p:nvSpPr>
        <p:spPr>
          <a:xfrm>
            <a:off x="3279566" y="5273802"/>
            <a:ext cx="609585" cy="251689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000" dirty="0"/>
          </a:p>
        </p:txBody>
      </p:sp>
      <p:pic>
        <p:nvPicPr>
          <p:cNvPr id="153" name="Image 39" descr="3.B.14 · Teoría tradicional del Comercio Internacional.">
            <a:hlinkClick r:id="rId43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566" y="5273802"/>
            <a:ext cx="609585" cy="251689"/>
          </a:xfrm>
          <a:prstGeom prst="rect">
            <a:avLst/>
          </a:prstGeom>
        </p:spPr>
      </p:pic>
      <p:sp>
        <p:nvSpPr>
          <p:cNvPr id="154" name="Tema 3.B.15"/>
          <p:cNvSpPr txBox="1"/>
          <p:nvPr/>
        </p:nvSpPr>
        <p:spPr>
          <a:xfrm>
            <a:off x="3998876" y="5273802"/>
            <a:ext cx="609585" cy="251689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000" dirty="0"/>
          </a:p>
        </p:txBody>
      </p:sp>
      <p:pic>
        <p:nvPicPr>
          <p:cNvPr id="155" name="Image 40" descr="3.B.15 · Nuevos desarrollos de la teoría del Comercio Internacional.">
            <a:hlinkClick r:id="rId44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876" y="5273802"/>
            <a:ext cx="609585" cy="251689"/>
          </a:xfrm>
          <a:prstGeom prst="rect">
            <a:avLst/>
          </a:prstGeom>
        </p:spPr>
      </p:pic>
      <p:sp>
        <p:nvSpPr>
          <p:cNvPr id="156" name="Tema 3.B.17"/>
          <p:cNvSpPr txBox="1"/>
          <p:nvPr/>
        </p:nvSpPr>
        <p:spPr>
          <a:xfrm>
            <a:off x="4718186" y="5273802"/>
            <a:ext cx="609585" cy="251689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000" dirty="0"/>
          </a:p>
        </p:txBody>
      </p:sp>
      <p:pic>
        <p:nvPicPr>
          <p:cNvPr id="157" name="Image 41" descr="3.B.17 · La política comercial estratégica.">
            <a:hlinkClick r:id="rId45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186" y="5273802"/>
            <a:ext cx="609585" cy="251689"/>
          </a:xfrm>
          <a:prstGeom prst="rect">
            <a:avLst/>
          </a:prstGeom>
        </p:spPr>
      </p:pic>
      <p:sp>
        <p:nvSpPr>
          <p:cNvPr id="158" name="Tema 3.B.18"/>
          <p:cNvSpPr txBox="1"/>
          <p:nvPr/>
        </p:nvSpPr>
        <p:spPr>
          <a:xfrm>
            <a:off x="3279566" y="5587213"/>
            <a:ext cx="609585" cy="251689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000" dirty="0"/>
          </a:p>
        </p:txBody>
      </p:sp>
      <p:pic>
        <p:nvPicPr>
          <p:cNvPr id="159" name="Image 42" descr="3.B.18 · Teorías de la integración económica.">
            <a:hlinkClick r:id="rId46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566" y="5587213"/>
            <a:ext cx="609585" cy="251689"/>
          </a:xfrm>
          <a:prstGeom prst="rect">
            <a:avLst/>
          </a:prstGeom>
        </p:spPr>
      </p:pic>
      <p:sp>
        <p:nvSpPr>
          <p:cNvPr id="160" name="Tema 3.B.16"/>
          <p:cNvSpPr txBox="1"/>
          <p:nvPr/>
        </p:nvSpPr>
        <p:spPr>
          <a:xfrm>
            <a:off x="3998876" y="5587213"/>
            <a:ext cx="609585" cy="251689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000" dirty="0"/>
          </a:p>
        </p:txBody>
      </p:sp>
      <p:pic>
        <p:nvPicPr>
          <p:cNvPr id="161" name="Image 43" descr="3.B.16 · Política comercial: barreras arancelarias y no arancelarias.">
            <a:hlinkClick r:id="rId47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876" y="5587213"/>
            <a:ext cx="609585" cy="251689"/>
          </a:xfrm>
          <a:prstGeom prst="rect">
            <a:avLst/>
          </a:prstGeom>
        </p:spPr>
      </p:pic>
      <p:sp>
        <p:nvSpPr>
          <p:cNvPr id="16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63" name="Image 44" descr="Menú">
            <a:hlinkClick r:id="rId4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164" name="Botón Bloques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100" dirty="0"/>
          </a:p>
        </p:txBody>
      </p:sp>
      <p:pic>
        <p:nvPicPr>
          <p:cNvPr id="165" name="Image 45" descr="Bloques">
            <a:hlinkClick r:id="rId49" action="ppaction://hlinksldjump" tooltip="Bloqu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16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167" name="Image 46" descr="Listado">
            <a:hlinkClick r:id="rId5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 ejercicio · Bloques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2533574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MICROECONOMÍA</a:t>
            </a:r>
            <a:endParaRPr lang="en-US" sz="1200" dirty="0"/>
          </a:p>
        </p:txBody>
      </p:sp>
      <p:sp>
        <p:nvSpPr>
          <p:cNvPr id="4" name="Bloque Modelo neoclásico básico"/>
          <p:cNvSpPr txBox="1"/>
          <p:nvPr/>
        </p:nvSpPr>
        <p:spPr>
          <a:xfrm>
            <a:off x="548640" y="1783080"/>
            <a:ext cx="2533574" cy="91440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A4 · A5 · A6 · A7</a:t>
            </a:r>
            <a:endParaRPr lang="en-US" sz="1400" dirty="0"/>
          </a:p>
        </p:txBody>
      </p:sp>
      <p:pic>
        <p:nvPicPr>
          <p:cNvPr id="5" name="Image 0" descr="Modelo neoclásico básico: ir a su primer tema">
            <a:hlinkClick r:id="rId3" action="ppaction://hlinksldjump" tooltip="Modelo neoclásico básic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83080"/>
            <a:ext cx="2533574" cy="914400"/>
          </a:xfrm>
          <a:prstGeom prst="rect">
            <a:avLst/>
          </a:prstGeom>
        </p:spPr>
      </p:pic>
      <p:sp>
        <p:nvSpPr>
          <p:cNvPr id="6" name="Bloque Mercado de trabajo"/>
          <p:cNvSpPr txBox="1"/>
          <p:nvPr/>
        </p:nvSpPr>
        <p:spPr>
          <a:xfrm>
            <a:off x="548640" y="2953512"/>
            <a:ext cx="2533574" cy="91440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trabajo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 · A12</a:t>
            </a:r>
            <a:endParaRPr lang="en-US" sz="1400" dirty="0"/>
          </a:p>
        </p:txBody>
      </p:sp>
      <p:pic>
        <p:nvPicPr>
          <p:cNvPr id="7" name="Image 1" descr="Mercado de trabajo: ir a su primer tema">
            <a:hlinkClick r:id="rId5" action="ppaction://hlinksldjump" tooltip="Mercado de trabaj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53512"/>
            <a:ext cx="2533574" cy="914400"/>
          </a:xfrm>
          <a:prstGeom prst="rect">
            <a:avLst/>
          </a:prstGeom>
        </p:spPr>
      </p:pic>
      <p:sp>
        <p:nvSpPr>
          <p:cNvPr id="8" name="Bloque Información y poder de mercado"/>
          <p:cNvSpPr txBox="1"/>
          <p:nvPr/>
        </p:nvSpPr>
        <p:spPr>
          <a:xfrm>
            <a:off x="548640" y="4123944"/>
            <a:ext cx="2533574" cy="91440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· A9 · A10 · A13 · A18</a:t>
            </a:r>
            <a:endParaRPr lang="en-US" sz="1400" dirty="0"/>
          </a:p>
        </p:txBody>
      </p:sp>
      <p:pic>
        <p:nvPicPr>
          <p:cNvPr id="9" name="Image 2" descr="Información y poder de mercado: ir a su primer tema">
            <a:hlinkClick r:id="rId6" action="ppaction://hlinksldjump" tooltip="Información y poder de mercad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23944"/>
            <a:ext cx="2533574" cy="914400"/>
          </a:xfrm>
          <a:prstGeom prst="rect">
            <a:avLst/>
          </a:prstGeom>
        </p:spPr>
      </p:pic>
      <p:sp>
        <p:nvSpPr>
          <p:cNvPr id="10" name="Bloque Economía del Bienestar y Sector Público"/>
          <p:cNvSpPr txBox="1"/>
          <p:nvPr/>
        </p:nvSpPr>
        <p:spPr>
          <a:xfrm>
            <a:off x="548640" y="5294376"/>
            <a:ext cx="2533574" cy="91440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Bienestar y Sector Público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 · A15 · A16 · A17 · A19 · A20 · A21 · A22</a:t>
            </a:r>
            <a:endParaRPr lang="en-US" sz="1400" dirty="0"/>
          </a:p>
        </p:txBody>
      </p:sp>
      <p:pic>
        <p:nvPicPr>
          <p:cNvPr id="11" name="Image 3" descr="Economía del Bienestar y Sector Público: ir a su primer tema">
            <a:hlinkClick r:id="rId7" action="ppaction://hlinksldjump" tooltip="Economía del Bienestar y Sector Públic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94376"/>
            <a:ext cx="2533574" cy="9144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402254" y="1097280"/>
            <a:ext cx="2533574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MACROECONOMÍA</a:t>
            </a:r>
            <a:endParaRPr lang="en-US" sz="1200" dirty="0"/>
          </a:p>
        </p:txBody>
      </p:sp>
      <p:sp>
        <p:nvSpPr>
          <p:cNvPr id="13" name="Bloque Contabilidad Nacional"/>
          <p:cNvSpPr txBox="1"/>
          <p:nvPr/>
        </p:nvSpPr>
        <p:spPr>
          <a:xfrm>
            <a:off x="3402254" y="1783080"/>
            <a:ext cx="2533574" cy="91440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Nacional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B19</a:t>
            </a:r>
            <a:endParaRPr lang="en-US" sz="1400" dirty="0"/>
          </a:p>
        </p:txBody>
      </p:sp>
      <p:pic>
        <p:nvPicPr>
          <p:cNvPr id="14" name="Image 4" descr="Contabilidad Nacional: ir a su primer tema">
            <a:hlinkClick r:id="rId8" action="ppaction://hlinksldjump" tooltip="Contabilidad Nacional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254" y="1783080"/>
            <a:ext cx="2533574" cy="914400"/>
          </a:xfrm>
          <a:prstGeom prst="rect">
            <a:avLst/>
          </a:prstGeom>
        </p:spPr>
      </p:pic>
      <p:sp>
        <p:nvSpPr>
          <p:cNvPr id="15" name="Bloque Demanda Agregada y Oferta Agregada"/>
          <p:cNvSpPr txBox="1"/>
          <p:nvPr/>
        </p:nvSpPr>
        <p:spPr>
          <a:xfrm>
            <a:off x="3402254" y="2953512"/>
            <a:ext cx="2533574" cy="91440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Agregada y Oferta Agregada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B3 · B4 · B5</a:t>
            </a:r>
            <a:endParaRPr lang="en-US" sz="1400" dirty="0"/>
          </a:p>
        </p:txBody>
      </p:sp>
      <p:pic>
        <p:nvPicPr>
          <p:cNvPr id="16" name="Image 5" descr="Demanda Agregada y Oferta Agregada: ir a su primer tema">
            <a:hlinkClick r:id="rId9" action="ppaction://hlinksldjump" tooltip="Demanda Agregada y Oferta Agregada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254" y="2953512"/>
            <a:ext cx="2533574" cy="914400"/>
          </a:xfrm>
          <a:prstGeom prst="rect">
            <a:avLst/>
          </a:prstGeom>
        </p:spPr>
      </p:pic>
      <p:sp>
        <p:nvSpPr>
          <p:cNvPr id="17" name="Bloque Ciclo económico y políticas de demanda"/>
          <p:cNvSpPr txBox="1"/>
          <p:nvPr/>
        </p:nvSpPr>
        <p:spPr>
          <a:xfrm>
            <a:off x="3402254" y="4123944"/>
            <a:ext cx="2533574" cy="91440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económico y políticas de demanda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· B7 · B8 · B9 · B10 · B11 · B12</a:t>
            </a:r>
            <a:endParaRPr lang="en-US" sz="1400" dirty="0"/>
          </a:p>
        </p:txBody>
      </p:sp>
      <p:pic>
        <p:nvPicPr>
          <p:cNvPr id="18" name="Image 6" descr="Ciclo económico y políticas de demanda: ir a su primer tema">
            <a:hlinkClick r:id="rId10" action="ppaction://hlinksldjump" tooltip="Ciclo económico y políticas de demanda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254" y="4123944"/>
            <a:ext cx="2533574" cy="914400"/>
          </a:xfrm>
          <a:prstGeom prst="rect">
            <a:avLst/>
          </a:prstGeom>
        </p:spPr>
      </p:pic>
      <p:sp>
        <p:nvSpPr>
          <p:cNvPr id="19" name="Bloque Crecimiento económico"/>
          <p:cNvSpPr txBox="1"/>
          <p:nvPr/>
        </p:nvSpPr>
        <p:spPr>
          <a:xfrm>
            <a:off x="3402254" y="5294376"/>
            <a:ext cx="2533574" cy="914400"/>
          </a:xfrm>
          <a:prstGeom prst="rect">
            <a:avLst/>
          </a:prstGeom>
          <a:solidFill>
            <a:srgbClr val="FF9966"/>
          </a:solidFill>
          <a:ln w="6350">
            <a:solidFill>
              <a:srgbClr val="FF996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económico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B13</a:t>
            </a:r>
            <a:endParaRPr lang="en-US" sz="1400" dirty="0"/>
          </a:p>
        </p:txBody>
      </p:sp>
      <p:pic>
        <p:nvPicPr>
          <p:cNvPr id="20" name="Image 7" descr="Crecimiento económico: ir a su primer tema">
            <a:hlinkClick r:id="rId11" action="ppaction://hlinksldjump" tooltip="Crecimiento económic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254" y="5294376"/>
            <a:ext cx="2533574" cy="9144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255868" y="1097280"/>
            <a:ext cx="2533574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INTERNACIONAL</a:t>
            </a:r>
            <a:endParaRPr lang="en-US" sz="1200" dirty="0"/>
          </a:p>
        </p:txBody>
      </p:sp>
      <p:sp>
        <p:nvSpPr>
          <p:cNvPr id="22" name="Bloque Comercio Internacional"/>
          <p:cNvSpPr txBox="1"/>
          <p:nvPr/>
        </p:nvSpPr>
        <p:spPr>
          <a:xfrm>
            <a:off x="6255868" y="1783080"/>
            <a:ext cx="2533574" cy="91440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Internacional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 · B15 · B16 · B17 · B18</a:t>
            </a:r>
            <a:endParaRPr lang="en-US" sz="1400" dirty="0"/>
          </a:p>
        </p:txBody>
      </p:sp>
      <p:pic>
        <p:nvPicPr>
          <p:cNvPr id="23" name="Image 8" descr="Comercio Internacional: ir a su primer tema">
            <a:hlinkClick r:id="rId12" action="ppaction://hlinksldjump" tooltip="Comercio Internacional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68" y="1783080"/>
            <a:ext cx="2533574" cy="914400"/>
          </a:xfrm>
          <a:prstGeom prst="rect">
            <a:avLst/>
          </a:prstGeom>
        </p:spPr>
      </p:pic>
      <p:sp>
        <p:nvSpPr>
          <p:cNvPr id="24" name="Bloque Economía abierta"/>
          <p:cNvSpPr txBox="1"/>
          <p:nvPr/>
        </p:nvSpPr>
        <p:spPr>
          <a:xfrm>
            <a:off x="6255868" y="2953512"/>
            <a:ext cx="2533574" cy="914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 · B21 · B22</a:t>
            </a:r>
            <a:endParaRPr lang="en-US" sz="1400" dirty="0"/>
          </a:p>
        </p:txBody>
      </p:sp>
      <p:pic>
        <p:nvPicPr>
          <p:cNvPr id="25" name="Image 9" descr="Economía abierta: ir a su primer tema">
            <a:hlinkClick r:id="rId13" action="ppaction://hlinksldjump" tooltip="Economía abierta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68" y="2953512"/>
            <a:ext cx="2533574" cy="9144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9109481" y="1097280"/>
            <a:ext cx="2533574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</a:t>
            </a:r>
            <a:endParaRPr lang="en-US" sz="1200" dirty="0"/>
          </a:p>
        </p:txBody>
      </p:sp>
      <p:sp>
        <p:nvSpPr>
          <p:cNvPr id="27" name="Bloque Historia del pensamiento económico"/>
          <p:cNvSpPr txBox="1"/>
          <p:nvPr/>
        </p:nvSpPr>
        <p:spPr>
          <a:xfrm>
            <a:off x="9109481" y="1783080"/>
            <a:ext cx="2533574" cy="91440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pensamiento económico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</a:t>
            </a:r>
            <a:endParaRPr lang="en-US" sz="1400" dirty="0"/>
          </a:p>
        </p:txBody>
      </p:sp>
      <p:pic>
        <p:nvPicPr>
          <p:cNvPr id="28" name="Image 10" descr="Historia del pensamiento económico: ir a su primer tema">
            <a:hlinkClick r:id="rId14" action="ppaction://hlinksldjump" tooltip="Historia del pensamiento económic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481" y="1783080"/>
            <a:ext cx="2533574" cy="914400"/>
          </a:xfrm>
          <a:prstGeom prst="rect">
            <a:avLst/>
          </a:prstGeom>
        </p:spPr>
      </p:pic>
      <p:sp>
        <p:nvSpPr>
          <p:cNvPr id="29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0" name="Image 11" descr="Menú">
            <a:hlinkClick r:id="rId15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1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2" name="Image 12" descr="Esquema">
            <a:hlinkClick r:id="rId16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3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4" name="Image 13" descr="Listado">
            <a:hlinkClick r:id="rId17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ejercicio · Listado de temas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3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A) Economía española</a:t>
            </a:r>
            <a:endParaRPr lang="en-US" sz="1500" dirty="0"/>
          </a:p>
        </p:txBody>
      </p:sp>
      <p:sp>
        <p:nvSpPr>
          <p:cNvPr id="4" name="Tema 1.A.1"/>
          <p:cNvSpPr txBox="1"/>
          <p:nvPr/>
        </p:nvSpPr>
        <p:spPr>
          <a:xfrm>
            <a:off x="548640" y="1828800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400" dirty="0"/>
          </a:p>
        </p:txBody>
      </p:sp>
      <p:pic>
        <p:nvPicPr>
          <p:cNvPr id="5" name="Image 0" descr="1.A.1 · Los sectores agrícola y pesquero en España.">
            <a:hlinkClick r:id="rId3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0"/>
            <a:ext cx="1143000" cy="411480"/>
          </a:xfrm>
          <a:prstGeom prst="rect">
            <a:avLst/>
          </a:prstGeom>
        </p:spPr>
      </p:pic>
      <p:sp>
        <p:nvSpPr>
          <p:cNvPr id="6" name="Tema 1.A.2"/>
          <p:cNvSpPr txBox="1"/>
          <p:nvPr/>
        </p:nvSpPr>
        <p:spPr>
          <a:xfrm>
            <a:off x="548640" y="2578608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400" dirty="0"/>
          </a:p>
        </p:txBody>
      </p:sp>
      <p:pic>
        <p:nvPicPr>
          <p:cNvPr id="7" name="Image 1" descr="1.A.2 · Análisis de la industria en España. Evolución, características y situación actua">
            <a:hlinkClick r:id="rId5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78608"/>
            <a:ext cx="1143000" cy="411480"/>
          </a:xfrm>
          <a:prstGeom prst="rect">
            <a:avLst/>
          </a:prstGeom>
        </p:spPr>
      </p:pic>
      <p:sp>
        <p:nvSpPr>
          <p:cNvPr id="8" name="Tema 1.A.3"/>
          <p:cNvSpPr txBox="1"/>
          <p:nvPr/>
        </p:nvSpPr>
        <p:spPr>
          <a:xfrm>
            <a:off x="548640" y="3328416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1.A.3</a:t>
            </a:r>
            <a:endParaRPr lang="en-US" sz="1400" dirty="0"/>
          </a:p>
        </p:txBody>
      </p:sp>
      <p:pic>
        <p:nvPicPr>
          <p:cNvPr id="9" name="Image 2" descr="1.A.3 · La política española de energía y clima: mitigación y adaptación al cambio climá">
            <a:hlinkClick r:id="rId6" action="ppaction://hlinksldjump" tooltip="1.A.3 · La política española de energía y clima: mitigación y adaptación al cambio climá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28416"/>
            <a:ext cx="1143000" cy="411480"/>
          </a:xfrm>
          <a:prstGeom prst="rect">
            <a:avLst/>
          </a:prstGeom>
        </p:spPr>
      </p:pic>
      <p:sp>
        <p:nvSpPr>
          <p:cNvPr id="10" name="Tema 1.A.4"/>
          <p:cNvSpPr txBox="1"/>
          <p:nvPr/>
        </p:nvSpPr>
        <p:spPr>
          <a:xfrm>
            <a:off x="548640" y="4078224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1.A.4</a:t>
            </a:r>
            <a:endParaRPr lang="en-US" sz="1400" dirty="0"/>
          </a:p>
        </p:txBody>
      </p:sp>
      <p:pic>
        <p:nvPicPr>
          <p:cNvPr id="11" name="Image 3" descr="1.A.4 · Estructura del sector energético y subsectores: sistema eléctrico, sistema gasis">
            <a:hlinkClick r:id="rId7" action="ppaction://hlinksldjump" tooltip="1.A.4 · Estructura del sector energético y subsectores: sistema eléctrico, sistema ga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78224"/>
            <a:ext cx="1143000" cy="411480"/>
          </a:xfrm>
          <a:prstGeom prst="rect">
            <a:avLst/>
          </a:prstGeom>
        </p:spPr>
      </p:pic>
      <p:sp>
        <p:nvSpPr>
          <p:cNvPr id="12" name="Tema 1.A.5"/>
          <p:cNvSpPr txBox="1"/>
          <p:nvPr/>
        </p:nvSpPr>
        <p:spPr>
          <a:xfrm>
            <a:off x="548640" y="4828032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400" dirty="0"/>
          </a:p>
        </p:txBody>
      </p:sp>
      <p:pic>
        <p:nvPicPr>
          <p:cNvPr id="13" name="Image 4" descr="1.A.5 · El sector de la construcción en España. El mercado de la vivienda: problemas y s">
            <a:hlinkClick r:id="rId8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28032"/>
            <a:ext cx="1143000" cy="411480"/>
          </a:xfrm>
          <a:prstGeom prst="rect">
            <a:avLst/>
          </a:prstGeom>
        </p:spPr>
      </p:pic>
      <p:sp>
        <p:nvSpPr>
          <p:cNvPr id="14" name="Tema 1.A.6"/>
          <p:cNvSpPr txBox="1"/>
          <p:nvPr/>
        </p:nvSpPr>
        <p:spPr>
          <a:xfrm>
            <a:off x="1925269" y="1828800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400" dirty="0"/>
          </a:p>
        </p:txBody>
      </p:sp>
      <p:pic>
        <p:nvPicPr>
          <p:cNvPr id="15" name="Image 5" descr="1.A.6 · Estructura y política de los sectores de los transportes y las telecomunicacione">
            <a:hlinkClick r:id="rId9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1828800"/>
            <a:ext cx="1143000" cy="411480"/>
          </a:xfrm>
          <a:prstGeom prst="rect">
            <a:avLst/>
          </a:prstGeom>
        </p:spPr>
      </p:pic>
      <p:sp>
        <p:nvSpPr>
          <p:cNvPr id="16" name="Tema 1.A.7"/>
          <p:cNvSpPr txBox="1"/>
          <p:nvPr/>
        </p:nvSpPr>
        <p:spPr>
          <a:xfrm>
            <a:off x="1925269" y="2578608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400" dirty="0"/>
          </a:p>
        </p:txBody>
      </p:sp>
      <p:pic>
        <p:nvPicPr>
          <p:cNvPr id="17" name="Image 6" descr="1.A.7 · El turismo en España: evolución, retos y política turística.">
            <a:hlinkClick r:id="rId10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2578608"/>
            <a:ext cx="1143000" cy="411480"/>
          </a:xfrm>
          <a:prstGeom prst="rect">
            <a:avLst/>
          </a:prstGeom>
        </p:spPr>
      </p:pic>
      <p:sp>
        <p:nvSpPr>
          <p:cNvPr id="18" name="Tema 1.A.8"/>
          <p:cNvSpPr txBox="1"/>
          <p:nvPr/>
        </p:nvSpPr>
        <p:spPr>
          <a:xfrm>
            <a:off x="1925269" y="3328416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400" dirty="0"/>
          </a:p>
        </p:txBody>
      </p:sp>
      <p:pic>
        <p:nvPicPr>
          <p:cNvPr id="19" name="Image 7" descr="1.A.8 · Estructura, políticas y retos de la distribución, con especial referencia al com">
            <a:hlinkClick r:id="rId11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3328416"/>
            <a:ext cx="1143000" cy="411480"/>
          </a:xfrm>
          <a:prstGeom prst="rect">
            <a:avLst/>
          </a:prstGeom>
        </p:spPr>
      </p:pic>
      <p:sp>
        <p:nvSpPr>
          <p:cNvPr id="20" name="Tema 1.A.9"/>
          <p:cNvSpPr txBox="1"/>
          <p:nvPr/>
        </p:nvSpPr>
        <p:spPr>
          <a:xfrm>
            <a:off x="1925269" y="4078224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1.A.9</a:t>
            </a:r>
            <a:endParaRPr lang="en-US" sz="1400" dirty="0"/>
          </a:p>
        </p:txBody>
      </p:sp>
      <p:pic>
        <p:nvPicPr>
          <p:cNvPr id="21" name="Image 8" descr="1.A.9 · La defensa y la promoción de la competencia en España. Principios de regulación ">
            <a:hlinkClick r:id="rId12" action="ppaction://hlinksldjump" tooltip="1.A.9 · La defensa y la promoción de la competencia en España. Principios de regulación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4078224"/>
            <a:ext cx="1143000" cy="411480"/>
          </a:xfrm>
          <a:prstGeom prst="rect">
            <a:avLst/>
          </a:prstGeom>
        </p:spPr>
      </p:pic>
      <p:sp>
        <p:nvSpPr>
          <p:cNvPr id="22" name="Tema 1.A.10"/>
          <p:cNvSpPr txBox="1"/>
          <p:nvPr/>
        </p:nvSpPr>
        <p:spPr>
          <a:xfrm>
            <a:off x="1925269" y="4828032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400" dirty="0"/>
          </a:p>
        </p:txBody>
      </p:sp>
      <p:pic>
        <p:nvPicPr>
          <p:cNvPr id="23" name="Image 9" descr="1.A.10 · Sistema financiero español (I): evolución reciente del sistema financiero españo">
            <a:hlinkClick r:id="rId13" action="ppaction://hlinksldjump" tooltip="1.A.10 · Sistema financiero español (I): evolución reciente del sistema financiero españ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69" y="4828032"/>
            <a:ext cx="1143000" cy="411480"/>
          </a:xfrm>
          <a:prstGeom prst="rect">
            <a:avLst/>
          </a:prstGeom>
        </p:spPr>
      </p:pic>
      <p:sp>
        <p:nvSpPr>
          <p:cNvPr id="24" name="Tema 1.A.11"/>
          <p:cNvSpPr txBox="1"/>
          <p:nvPr/>
        </p:nvSpPr>
        <p:spPr>
          <a:xfrm>
            <a:off x="3301898" y="1828800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1.A.11</a:t>
            </a:r>
            <a:endParaRPr lang="en-US" sz="1400" dirty="0"/>
          </a:p>
        </p:txBody>
      </p:sp>
      <p:pic>
        <p:nvPicPr>
          <p:cNvPr id="25" name="Image 10" descr="1.A.11 · Sistema financiero español (II): las entidades de crédito en España. Configuraci">
            <a:hlinkClick r:id="rId14" action="ppaction://hlinksldjump" tooltip="1.A.11 · Sistema financiero español (II): las entidades de crédito en España. Configura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1828800"/>
            <a:ext cx="1143000" cy="411480"/>
          </a:xfrm>
          <a:prstGeom prst="rect">
            <a:avLst/>
          </a:prstGeom>
        </p:spPr>
      </p:pic>
      <p:sp>
        <p:nvSpPr>
          <p:cNvPr id="26" name="Tema 1.A.12"/>
          <p:cNvSpPr txBox="1"/>
          <p:nvPr/>
        </p:nvSpPr>
        <p:spPr>
          <a:xfrm>
            <a:off x="3301898" y="2578608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1.A.12</a:t>
            </a:r>
            <a:endParaRPr lang="en-US" sz="1400" dirty="0"/>
          </a:p>
        </p:txBody>
      </p:sp>
      <p:pic>
        <p:nvPicPr>
          <p:cNvPr id="27" name="Image 11" descr="1.A.12 · Mercado de trabajo en España. Características, funcionamiento y problemas. Las p">
            <a:hlinkClick r:id="rId15" action="ppaction://hlinksldjump" tooltip="1.A.12 · Mercado de trabajo en España. Características, funcionamiento y problemas. Las 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2578608"/>
            <a:ext cx="1143000" cy="411480"/>
          </a:xfrm>
          <a:prstGeom prst="rect">
            <a:avLst/>
          </a:prstGeom>
        </p:spPr>
      </p:pic>
      <p:sp>
        <p:nvSpPr>
          <p:cNvPr id="28" name="Tema 1.A.13"/>
          <p:cNvSpPr txBox="1"/>
          <p:nvPr/>
        </p:nvSpPr>
        <p:spPr>
          <a:xfrm>
            <a:off x="3301898" y="3328416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1.A.13</a:t>
            </a:r>
            <a:endParaRPr lang="en-US" sz="1400" dirty="0"/>
          </a:p>
        </p:txBody>
      </p:sp>
      <p:pic>
        <p:nvPicPr>
          <p:cNvPr id="29" name="Image 12" descr="1.A.13 · Economía de las regiones españolas: especialización regional, convergencia real ">
            <a:hlinkClick r:id="rId16" action="ppaction://hlinksldjump" tooltip="1.A.13 · Economía de las regiones españolas: especialización regional, convergencia real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3328416"/>
            <a:ext cx="1143000" cy="411480"/>
          </a:xfrm>
          <a:prstGeom prst="rect">
            <a:avLst/>
          </a:prstGeom>
        </p:spPr>
      </p:pic>
      <p:sp>
        <p:nvSpPr>
          <p:cNvPr id="30" name="Tema 1.A.14"/>
          <p:cNvSpPr txBox="1"/>
          <p:nvPr/>
        </p:nvSpPr>
        <p:spPr>
          <a:xfrm>
            <a:off x="3301898" y="4078224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400" dirty="0"/>
          </a:p>
        </p:txBody>
      </p:sp>
      <p:pic>
        <p:nvPicPr>
          <p:cNvPr id="31" name="Image 13" descr="1.A.14 · La internacionalización de la economía española (I): estructura sectorial y geog">
            <a:hlinkClick r:id="rId17" action="ppaction://hlinksldjump" tooltip="1.A.14 · La internacionalización de la economía española (I): estructura sectorial y geo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4078224"/>
            <a:ext cx="1143000" cy="411480"/>
          </a:xfrm>
          <a:prstGeom prst="rect">
            <a:avLst/>
          </a:prstGeom>
        </p:spPr>
      </p:pic>
      <p:sp>
        <p:nvSpPr>
          <p:cNvPr id="32" name="Tema 1.A.15"/>
          <p:cNvSpPr txBox="1"/>
          <p:nvPr/>
        </p:nvSpPr>
        <p:spPr>
          <a:xfrm>
            <a:off x="3301898" y="4828032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1.A.15</a:t>
            </a:r>
            <a:endParaRPr lang="en-US" sz="1400" dirty="0"/>
          </a:p>
        </p:txBody>
      </p:sp>
      <p:pic>
        <p:nvPicPr>
          <p:cNvPr id="33" name="Image 14" descr="1.A.15 · La internacionalización de la economía española (II): estructura sectorial y geo">
            <a:hlinkClick r:id="rId18" action="ppaction://hlinksldjump" tooltip="1.A.15 · La internacionalización de la economía española (II): estructura sectorial y ge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98" y="4828032"/>
            <a:ext cx="1143000" cy="411480"/>
          </a:xfrm>
          <a:prstGeom prst="rect">
            <a:avLst/>
          </a:prstGeom>
        </p:spPr>
      </p:pic>
      <p:sp>
        <p:nvSpPr>
          <p:cNvPr id="34" name="Tema 1.A.16"/>
          <p:cNvSpPr txBox="1"/>
          <p:nvPr/>
        </p:nvSpPr>
        <p:spPr>
          <a:xfrm>
            <a:off x="4678528" y="1828800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400" dirty="0"/>
          </a:p>
        </p:txBody>
      </p:sp>
      <p:pic>
        <p:nvPicPr>
          <p:cNvPr id="35" name="Image 15" descr="1.A.16 · La economía española en el período 1959-1999. El Plan de Estabilización de 1959.">
            <a:hlinkClick r:id="rId19" action="ppaction://hlinksldjump" tooltip="1.A.16 · La economía española en el período 1959-1999. El Plan de Estabilización de 1959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1828800"/>
            <a:ext cx="1143000" cy="411480"/>
          </a:xfrm>
          <a:prstGeom prst="rect">
            <a:avLst/>
          </a:prstGeom>
        </p:spPr>
      </p:pic>
      <p:sp>
        <p:nvSpPr>
          <p:cNvPr id="36" name="Tema 1.A.17"/>
          <p:cNvSpPr txBox="1"/>
          <p:nvPr/>
        </p:nvSpPr>
        <p:spPr>
          <a:xfrm>
            <a:off x="4678528" y="2578608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1.A.17</a:t>
            </a:r>
            <a:endParaRPr lang="en-US" sz="1400" dirty="0"/>
          </a:p>
        </p:txBody>
      </p:sp>
      <p:pic>
        <p:nvPicPr>
          <p:cNvPr id="37" name="Image 16" descr="1.A.17 · Evolución de la economía española desde 1999 hasta la actualidad. Especial refer">
            <a:hlinkClick r:id="rId20" action="ppaction://hlinksldjump" tooltip="1.A.17 · Evolución de la economía española desde 1999 hasta la actualidad. Especial refe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2578608"/>
            <a:ext cx="1143000" cy="411480"/>
          </a:xfrm>
          <a:prstGeom prst="rect">
            <a:avLst/>
          </a:prstGeom>
        </p:spPr>
      </p:pic>
      <p:sp>
        <p:nvSpPr>
          <p:cNvPr id="38" name="Tema 1.A.18"/>
          <p:cNvSpPr txBox="1"/>
          <p:nvPr/>
        </p:nvSpPr>
        <p:spPr>
          <a:xfrm>
            <a:off x="4678528" y="3328416"/>
            <a:ext cx="1143000" cy="41148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400" dirty="0"/>
          </a:p>
        </p:txBody>
      </p:sp>
      <p:pic>
        <p:nvPicPr>
          <p:cNvPr id="39" name="Image 17" descr="1.A.18 · La política española de cooperación al desarrollo. Instrumentos de cooperación t">
            <a:hlinkClick r:id="rId21" action="ppaction://hlinksldjump" tooltip="1.A.18 · La política española de cooperación al desarrollo. Instrumentos de cooperación 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8" y="3328416"/>
            <a:ext cx="1143000" cy="411480"/>
          </a:xfrm>
          <a:prstGeom prst="rect">
            <a:avLst/>
          </a:prstGeom>
        </p:spPr>
      </p:pic>
      <p:sp>
        <p:nvSpPr>
          <p:cNvPr id="40" name="Text 20"/>
          <p:cNvSpPr txBox="1"/>
          <p:nvPr/>
        </p:nvSpPr>
        <p:spPr>
          <a:xfrm>
            <a:off x="6370168" y="109728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3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B) Economía pública, Políticas comunitarias e Instituciones multilaterales</a:t>
            </a:r>
            <a:endParaRPr lang="en-US" sz="1500" dirty="0"/>
          </a:p>
        </p:txBody>
      </p:sp>
      <p:sp>
        <p:nvSpPr>
          <p:cNvPr id="41" name="Tema 1.B.1"/>
          <p:cNvSpPr txBox="1"/>
          <p:nvPr/>
        </p:nvSpPr>
        <p:spPr>
          <a:xfrm>
            <a:off x="6370168" y="1828800"/>
            <a:ext cx="1143000" cy="41148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400" dirty="0"/>
          </a:p>
        </p:txBody>
      </p:sp>
      <p:pic>
        <p:nvPicPr>
          <p:cNvPr id="42" name="Image 18" descr="1.B.1 · Concepto, características y tipos de presupuestos. Las grandes cifras de los PGE">
            <a:hlinkClick r:id="rId22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1828800"/>
            <a:ext cx="1143000" cy="411480"/>
          </a:xfrm>
          <a:prstGeom prst="rect">
            <a:avLst/>
          </a:prstGeom>
        </p:spPr>
      </p:pic>
      <p:sp>
        <p:nvSpPr>
          <p:cNvPr id="43" name="Tema 1.B.2"/>
          <p:cNvSpPr txBox="1"/>
          <p:nvPr/>
        </p:nvSpPr>
        <p:spPr>
          <a:xfrm>
            <a:off x="6370168" y="2578608"/>
            <a:ext cx="1143000" cy="41148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400" dirty="0"/>
          </a:p>
        </p:txBody>
      </p:sp>
      <p:pic>
        <p:nvPicPr>
          <p:cNvPr id="44" name="Image 19" descr="1.B.2 · Sistema fiscal español. Imposición directa e indirecta. La armonización fiscal e">
            <a:hlinkClick r:id="rId23" action="ppaction://hlinksldjump" tooltip="1.B.2 · Sistema fiscal español. Imposición directa e indirecta. La armonización fiscal 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2578608"/>
            <a:ext cx="1143000" cy="411480"/>
          </a:xfrm>
          <a:prstGeom prst="rect">
            <a:avLst/>
          </a:prstGeom>
        </p:spPr>
      </p:pic>
      <p:sp>
        <p:nvSpPr>
          <p:cNvPr id="45" name="Tema 1.B.3"/>
          <p:cNvSpPr txBox="1"/>
          <p:nvPr/>
        </p:nvSpPr>
        <p:spPr>
          <a:xfrm>
            <a:off x="6370168" y="3328416"/>
            <a:ext cx="1143000" cy="41148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400" dirty="0"/>
          </a:p>
        </p:txBody>
      </p:sp>
      <p:pic>
        <p:nvPicPr>
          <p:cNvPr id="46" name="Image 20" descr="1.B.3 · El Sistema de la Seguridad Social en España. Prestaciones y su financiación. La ">
            <a:hlinkClick r:id="rId24" action="ppaction://hlinksldjump" tooltip="1.B.3 · El Sistema de la Seguridad Social en España. Prestaciones y su financiación. La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3328416"/>
            <a:ext cx="1143000" cy="411480"/>
          </a:xfrm>
          <a:prstGeom prst="rect">
            <a:avLst/>
          </a:prstGeom>
        </p:spPr>
      </p:pic>
      <p:sp>
        <p:nvSpPr>
          <p:cNvPr id="47" name="Tema 1.B.4"/>
          <p:cNvSpPr txBox="1"/>
          <p:nvPr/>
        </p:nvSpPr>
        <p:spPr>
          <a:xfrm>
            <a:off x="6370168" y="4078224"/>
            <a:ext cx="1143000" cy="41148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400" dirty="0"/>
          </a:p>
        </p:txBody>
      </p:sp>
      <p:pic>
        <p:nvPicPr>
          <p:cNvPr id="48" name="Image 21" descr="1.B.4 · El saldo presupuestario y la deuda pública en España. Análisis de su evolución r">
            <a:hlinkClick r:id="rId25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4078224"/>
            <a:ext cx="1143000" cy="411480"/>
          </a:xfrm>
          <a:prstGeom prst="rect">
            <a:avLst/>
          </a:prstGeom>
        </p:spPr>
      </p:pic>
      <p:sp>
        <p:nvSpPr>
          <p:cNvPr id="49" name="Tema 1.B.5"/>
          <p:cNvSpPr txBox="1"/>
          <p:nvPr/>
        </p:nvSpPr>
        <p:spPr>
          <a:xfrm>
            <a:off x="6370168" y="4828032"/>
            <a:ext cx="1143000" cy="41148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400" dirty="0"/>
          </a:p>
        </p:txBody>
      </p:sp>
      <p:pic>
        <p:nvPicPr>
          <p:cNvPr id="50" name="Image 22" descr="1.B.5 · Las Administraciones Territoriales en España. Competencias y sistemas de financi">
            <a:hlinkClick r:id="rId26" action="ppaction://hlinksldjump" tooltip="1.B.5 · Las Administraciones Territoriales en España. Competencias y sistemas de finan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4828032"/>
            <a:ext cx="1143000" cy="411480"/>
          </a:xfrm>
          <a:prstGeom prst="rect">
            <a:avLst/>
          </a:prstGeom>
        </p:spPr>
      </p:pic>
      <p:sp>
        <p:nvSpPr>
          <p:cNvPr id="51" name="Tema 1.B.6"/>
          <p:cNvSpPr txBox="1"/>
          <p:nvPr/>
        </p:nvSpPr>
        <p:spPr>
          <a:xfrm>
            <a:off x="7746797" y="1828800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400" dirty="0"/>
          </a:p>
        </p:txBody>
      </p:sp>
      <p:pic>
        <p:nvPicPr>
          <p:cNvPr id="52" name="Image 23" descr="1.B.6 · Tratados, orden jurídico e instituciones de la Unión Europea.">
            <a:hlinkClick r:id="rId27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1828800"/>
            <a:ext cx="1143000" cy="411480"/>
          </a:xfrm>
          <a:prstGeom prst="rect">
            <a:avLst/>
          </a:prstGeom>
        </p:spPr>
      </p:pic>
      <p:sp>
        <p:nvSpPr>
          <p:cNvPr id="53" name="Tema 1.B.7"/>
          <p:cNvSpPr txBox="1"/>
          <p:nvPr/>
        </p:nvSpPr>
        <p:spPr>
          <a:xfrm>
            <a:off x="7746797" y="2578608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400" dirty="0"/>
          </a:p>
        </p:txBody>
      </p:sp>
      <p:pic>
        <p:nvPicPr>
          <p:cNvPr id="54" name="Image 24" descr="1.B.7 · El mercado único de la UE. El principio de libre circulación de mercancías, serv">
            <a:hlinkClick r:id="rId28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2578608"/>
            <a:ext cx="1143000" cy="411480"/>
          </a:xfrm>
          <a:prstGeom prst="rect">
            <a:avLst/>
          </a:prstGeom>
        </p:spPr>
      </p:pic>
      <p:sp>
        <p:nvSpPr>
          <p:cNvPr id="55" name="Tema 1.B.8"/>
          <p:cNvSpPr txBox="1"/>
          <p:nvPr/>
        </p:nvSpPr>
        <p:spPr>
          <a:xfrm>
            <a:off x="7746797" y="3328416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400" dirty="0"/>
          </a:p>
        </p:txBody>
      </p:sp>
      <p:pic>
        <p:nvPicPr>
          <p:cNvPr id="56" name="Image 25" descr="1.B.8 · Las finanzas de la UE y el presupuesto comunitario. El marco financiero plurianu">
            <a:hlinkClick r:id="rId29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3328416"/>
            <a:ext cx="1143000" cy="411480"/>
          </a:xfrm>
          <a:prstGeom prst="rect">
            <a:avLst/>
          </a:prstGeom>
        </p:spPr>
      </p:pic>
      <p:sp>
        <p:nvSpPr>
          <p:cNvPr id="57" name="Tema 1.B.9"/>
          <p:cNvSpPr txBox="1"/>
          <p:nvPr/>
        </p:nvSpPr>
        <p:spPr>
          <a:xfrm>
            <a:off x="7746797" y="4078224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400" dirty="0"/>
          </a:p>
        </p:txBody>
      </p:sp>
      <p:pic>
        <p:nvPicPr>
          <p:cNvPr id="58" name="Image 26" descr="1.B.9 · La política agrícola de la UE. Problemas económicos y procesos de reforma. La po">
            <a:hlinkClick r:id="rId30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4078224"/>
            <a:ext cx="1143000" cy="411480"/>
          </a:xfrm>
          <a:prstGeom prst="rect">
            <a:avLst/>
          </a:prstGeom>
        </p:spPr>
      </p:pic>
      <p:sp>
        <p:nvSpPr>
          <p:cNvPr id="59" name="Tema 1.B.10"/>
          <p:cNvSpPr txBox="1"/>
          <p:nvPr/>
        </p:nvSpPr>
        <p:spPr>
          <a:xfrm>
            <a:off x="7746797" y="4828032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400" dirty="0"/>
          </a:p>
        </p:txBody>
      </p:sp>
      <p:pic>
        <p:nvPicPr>
          <p:cNvPr id="60" name="Image 27" descr="1.B.10 · La Cohesión Económica y Social en la UE: política regional e instrumentos presup">
            <a:hlinkClick r:id="rId31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797" y="4828032"/>
            <a:ext cx="1143000" cy="411480"/>
          </a:xfrm>
          <a:prstGeom prst="rect">
            <a:avLst/>
          </a:prstGeom>
        </p:spPr>
      </p:pic>
      <p:sp>
        <p:nvSpPr>
          <p:cNvPr id="61" name="Tema 1.B.11"/>
          <p:cNvSpPr txBox="1"/>
          <p:nvPr/>
        </p:nvSpPr>
        <p:spPr>
          <a:xfrm>
            <a:off x="9123426" y="1828800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400" dirty="0"/>
          </a:p>
        </p:txBody>
      </p:sp>
      <p:pic>
        <p:nvPicPr>
          <p:cNvPr id="62" name="Image 28" descr="1.B.11 · La política comercial de la UE. Las relaciones económicas exteriores de la UE. L">
            <a:hlinkClick r:id="rId32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1828800"/>
            <a:ext cx="1143000" cy="411480"/>
          </a:xfrm>
          <a:prstGeom prst="rect">
            <a:avLst/>
          </a:prstGeom>
        </p:spPr>
      </p:pic>
      <p:sp>
        <p:nvSpPr>
          <p:cNvPr id="63" name="Tema 1.B.12"/>
          <p:cNvSpPr txBox="1"/>
          <p:nvPr/>
        </p:nvSpPr>
        <p:spPr>
          <a:xfrm>
            <a:off x="9123426" y="2578608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400" dirty="0"/>
          </a:p>
        </p:txBody>
      </p:sp>
      <p:pic>
        <p:nvPicPr>
          <p:cNvPr id="64" name="Image 29" descr="1.B.12 · El origen del euro: funcionamiento y evolución del SME. Los criterios de converg">
            <a:hlinkClick r:id="rId33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2578608"/>
            <a:ext cx="1143000" cy="411480"/>
          </a:xfrm>
          <a:prstGeom prst="rect">
            <a:avLst/>
          </a:prstGeom>
        </p:spPr>
      </p:pic>
      <p:sp>
        <p:nvSpPr>
          <p:cNvPr id="65" name="Tema 1.B.13"/>
          <p:cNvSpPr txBox="1"/>
          <p:nvPr/>
        </p:nvSpPr>
        <p:spPr>
          <a:xfrm>
            <a:off x="9123426" y="3328416"/>
            <a:ext cx="1143000" cy="41148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400" dirty="0"/>
          </a:p>
        </p:txBody>
      </p:sp>
      <p:pic>
        <p:nvPicPr>
          <p:cNvPr id="66" name="Image 30" descr="1.B.13 · La gobernanza económica de la UE y de la zona euro. El Semestre Europeo. Las reg">
            <a:hlinkClick r:id="rId34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3328416"/>
            <a:ext cx="1143000" cy="411480"/>
          </a:xfrm>
          <a:prstGeom prst="rect">
            <a:avLst/>
          </a:prstGeom>
        </p:spPr>
      </p:pic>
      <p:sp>
        <p:nvSpPr>
          <p:cNvPr id="67" name="Tema 1.B.14"/>
          <p:cNvSpPr txBox="1"/>
          <p:nvPr/>
        </p:nvSpPr>
        <p:spPr>
          <a:xfrm>
            <a:off x="9123426" y="4078224"/>
            <a:ext cx="1143000" cy="41148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400" dirty="0"/>
          </a:p>
        </p:txBody>
      </p:sp>
      <p:pic>
        <p:nvPicPr>
          <p:cNvPr id="68" name="Image 31" descr="1.B.14 · Sistema Económico Internacional: de Bretton Woods a la actualidad.">
            <a:hlinkClick r:id="rId35" action="ppaction://hlinksldjump" tooltip="1.B.14 · Sistema Económico Internacional: de Bretton Woods a la actua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4078224"/>
            <a:ext cx="1143000" cy="411480"/>
          </a:xfrm>
          <a:prstGeom prst="rect">
            <a:avLst/>
          </a:prstGeom>
        </p:spPr>
      </p:pic>
      <p:sp>
        <p:nvSpPr>
          <p:cNvPr id="69" name="Tema 1.B.15"/>
          <p:cNvSpPr txBox="1"/>
          <p:nvPr/>
        </p:nvSpPr>
        <p:spPr>
          <a:xfrm>
            <a:off x="9123426" y="4828032"/>
            <a:ext cx="1143000" cy="41148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400" dirty="0"/>
          </a:p>
        </p:txBody>
      </p:sp>
      <p:pic>
        <p:nvPicPr>
          <p:cNvPr id="70" name="Image 32" descr="1.B.15 · Crisis financieras y pánicos bancarios. Especial referencia a la crisis financie">
            <a:hlinkClick r:id="rId36" action="ppaction://hlinksldjump" tooltip="1.B.15 · Crisis financieras y pánicos bancarios. Especial referencia a la crisis financi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4828032"/>
            <a:ext cx="1143000" cy="411480"/>
          </a:xfrm>
          <a:prstGeom prst="rect">
            <a:avLst/>
          </a:prstGeom>
        </p:spPr>
      </p:pic>
      <p:sp>
        <p:nvSpPr>
          <p:cNvPr id="71" name="Tema 1.B.16"/>
          <p:cNvSpPr txBox="1"/>
          <p:nvPr/>
        </p:nvSpPr>
        <p:spPr>
          <a:xfrm>
            <a:off x="10500055" y="1828800"/>
            <a:ext cx="1143000" cy="41148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400" dirty="0"/>
          </a:p>
        </p:txBody>
      </p:sp>
      <p:pic>
        <p:nvPicPr>
          <p:cNvPr id="72" name="Image 33" descr="1.B.16 · El Fondo Monetario Internacional. Estructura y políticas. Referencias a la coord">
            <a:hlinkClick r:id="rId37" action="ppaction://hlinksldjump" tooltip="1.B.16 · El Fondo Monetario Internacional. Estructura y políticas. Referencias a la coo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1828800"/>
            <a:ext cx="1143000" cy="411480"/>
          </a:xfrm>
          <a:prstGeom prst="rect">
            <a:avLst/>
          </a:prstGeom>
        </p:spPr>
      </p:pic>
      <p:sp>
        <p:nvSpPr>
          <p:cNvPr id="73" name="Tema 1.B.17"/>
          <p:cNvSpPr txBox="1"/>
          <p:nvPr/>
        </p:nvSpPr>
        <p:spPr>
          <a:xfrm>
            <a:off x="10500055" y="2578608"/>
            <a:ext cx="1143000" cy="41148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400" dirty="0"/>
          </a:p>
        </p:txBody>
      </p:sp>
      <p:pic>
        <p:nvPicPr>
          <p:cNvPr id="74" name="Image 34" descr="1.B.17 · El Grupo del Banco Mundial. Los Bancos Regionales de Desarrollo. Otras instituci">
            <a:hlinkClick r:id="rId38" action="ppaction://hlinksldjump" tooltip="1.B.17 · El Grupo del Banco Mundial. Los Bancos Regionales de Desarrollo. Otras institu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2578608"/>
            <a:ext cx="1143000" cy="411480"/>
          </a:xfrm>
          <a:prstGeom prst="rect">
            <a:avLst/>
          </a:prstGeom>
        </p:spPr>
      </p:pic>
      <p:sp>
        <p:nvSpPr>
          <p:cNvPr id="75" name="Tema 1.B.18"/>
          <p:cNvSpPr txBox="1"/>
          <p:nvPr/>
        </p:nvSpPr>
        <p:spPr>
          <a:xfrm>
            <a:off x="10500055" y="3328416"/>
            <a:ext cx="1143000" cy="41148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400" dirty="0"/>
          </a:p>
        </p:txBody>
      </p:sp>
      <p:pic>
        <p:nvPicPr>
          <p:cNvPr id="76" name="Image 35" descr="1.B.18 · La OMC. Antecedentes (el GATT) y organización actual. Acuerdos sobre el comercio">
            <a:hlinkClick r:id="rId39" action="ppaction://hlinksldjump" tooltip="1.B.18 · La OMC. Antecedentes (el GATT) y organización actual. Acuerdos sobre el comer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3328416"/>
            <a:ext cx="1143000" cy="411480"/>
          </a:xfrm>
          <a:prstGeom prst="rect">
            <a:avLst/>
          </a:prstGeom>
        </p:spPr>
      </p:pic>
      <p:sp>
        <p:nvSpPr>
          <p:cNvPr id="77" name="Shape 39"/>
          <p:cNvSpPr/>
          <p:nvPr/>
        </p:nvSpPr>
        <p:spPr>
          <a:xfrm>
            <a:off x="6095848" y="1097280"/>
            <a:ext cx="0" cy="4937760"/>
          </a:xfrm>
          <a:prstGeom prst="line">
            <a:avLst/>
          </a:prstGeom>
          <a:noFill/>
          <a:ln w="15875">
            <a:solidFill>
              <a:srgbClr val="DDD6C6"/>
            </a:solidFill>
            <a:prstDash val="solid"/>
          </a:ln>
        </p:spPr>
      </p:sp>
      <p:sp>
        <p:nvSpPr>
          <p:cNvPr id="7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79" name="Image 36" descr="Menú">
            <a:hlinkClick r:id="rId4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80" name="Botón Bloques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100" dirty="0"/>
          </a:p>
        </p:txBody>
      </p:sp>
      <p:pic>
        <p:nvPicPr>
          <p:cNvPr id="81" name="Image 37" descr="Bloques">
            <a:hlinkClick r:id="rId41" action="ppaction://hlinksldjump" tooltip="Bloqu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82" name="Botón Esquema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83" name="Image 38" descr="Esquema">
            <a:hlinkClick r:id="rId42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28600" y="731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ejercicio · Esquema por temas</a:t>
            </a:r>
            <a:endParaRPr lang="en-US" sz="1400" dirty="0"/>
          </a:p>
        </p:txBody>
      </p:sp>
      <p:sp>
        <p:nvSpPr>
          <p:cNvPr id="3" name="Bloque Energía, clima y tecnología"/>
          <p:cNvSpPr/>
          <p:nvPr/>
        </p:nvSpPr>
        <p:spPr>
          <a:xfrm>
            <a:off x="3535592" y="685800"/>
            <a:ext cx="1548345" cy="375133"/>
          </a:xfrm>
          <a:prstGeom prst="roundRect">
            <a:avLst>
              <a:gd name="adj" fmla="val 14625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4" name="Bloque Sistema financiero"/>
          <p:cNvSpPr/>
          <p:nvPr/>
        </p:nvSpPr>
        <p:spPr>
          <a:xfrm>
            <a:off x="6461598" y="685800"/>
            <a:ext cx="1548345" cy="375133"/>
          </a:xfrm>
          <a:prstGeom prst="roundRect">
            <a:avLst>
              <a:gd name="adj" fmla="val 14625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5" name="Bloque Sectores productivos"/>
          <p:cNvSpPr/>
          <p:nvPr/>
        </p:nvSpPr>
        <p:spPr>
          <a:xfrm>
            <a:off x="3535592" y="1714500"/>
            <a:ext cx="2267655" cy="688543"/>
          </a:xfrm>
          <a:prstGeom prst="roundRect">
            <a:avLst>
              <a:gd name="adj" fmla="val 7968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6" name="Bloque Historia económica"/>
          <p:cNvSpPr/>
          <p:nvPr/>
        </p:nvSpPr>
        <p:spPr>
          <a:xfrm>
            <a:off x="9387605" y="1714500"/>
            <a:ext cx="1548345" cy="375133"/>
          </a:xfrm>
          <a:prstGeom prst="roundRect">
            <a:avLst>
              <a:gd name="adj" fmla="val 14625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7" name="Bloque Competencia y regulación"/>
          <p:cNvSpPr/>
          <p:nvPr/>
        </p:nvSpPr>
        <p:spPr>
          <a:xfrm>
            <a:off x="1706837" y="2880360"/>
            <a:ext cx="829035" cy="375133"/>
          </a:xfrm>
          <a:prstGeom prst="roundRect">
            <a:avLst>
              <a:gd name="adj" fmla="val 14625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8" name="Bloque Unión Europea"/>
          <p:cNvSpPr/>
          <p:nvPr/>
        </p:nvSpPr>
        <p:spPr>
          <a:xfrm>
            <a:off x="6095848" y="2880360"/>
            <a:ext cx="2986965" cy="688543"/>
          </a:xfrm>
          <a:prstGeom prst="roundRect">
            <a:avLst>
              <a:gd name="adj" fmla="val 7968"/>
            </a:avLst>
          </a:prstGeom>
          <a:solidFill>
            <a:srgbClr val="325EEA">
              <a:alpha val="14000"/>
            </a:srgbClr>
          </a:solidFill>
          <a:ln w="12700">
            <a:solidFill>
              <a:srgbClr val="325EEA"/>
            </a:solidFill>
            <a:prstDash val="dash"/>
          </a:ln>
        </p:spPr>
      </p:sp>
      <p:sp>
        <p:nvSpPr>
          <p:cNvPr id="9" name="Bloque Sector público español"/>
          <p:cNvSpPr/>
          <p:nvPr/>
        </p:nvSpPr>
        <p:spPr>
          <a:xfrm>
            <a:off x="9387605" y="2880360"/>
            <a:ext cx="2267655" cy="688543"/>
          </a:xfrm>
          <a:prstGeom prst="roundRect">
            <a:avLst>
              <a:gd name="adj" fmla="val 7968"/>
            </a:avLst>
          </a:prstGeom>
          <a:solidFill>
            <a:srgbClr val="5F2987">
              <a:alpha val="14000"/>
            </a:srgbClr>
          </a:solidFill>
          <a:ln w="12700">
            <a:solidFill>
              <a:srgbClr val="5F2987"/>
            </a:solidFill>
            <a:prstDash val="dash"/>
          </a:ln>
        </p:spPr>
      </p:sp>
      <p:sp>
        <p:nvSpPr>
          <p:cNvPr id="10" name="Bloque Sector exterior y cooperación"/>
          <p:cNvSpPr/>
          <p:nvPr/>
        </p:nvSpPr>
        <p:spPr>
          <a:xfrm>
            <a:off x="243834" y="5006340"/>
            <a:ext cx="2267655" cy="375133"/>
          </a:xfrm>
          <a:prstGeom prst="roundRect">
            <a:avLst>
              <a:gd name="adj" fmla="val 14625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11" name="Bloque Sistema económico e instituciones internacionales"/>
          <p:cNvSpPr/>
          <p:nvPr/>
        </p:nvSpPr>
        <p:spPr>
          <a:xfrm>
            <a:off x="2804090" y="5006340"/>
            <a:ext cx="2267655" cy="688543"/>
          </a:xfrm>
          <a:prstGeom prst="roundRect">
            <a:avLst>
              <a:gd name="adj" fmla="val 7968"/>
            </a:avLst>
          </a:prstGeom>
          <a:solidFill>
            <a:srgbClr val="5B9BD5">
              <a:alpha val="14000"/>
            </a:srgbClr>
          </a:solidFill>
          <a:ln w="12700">
            <a:solidFill>
              <a:srgbClr val="497CAA"/>
            </a:solidFill>
            <a:prstDash val="dash"/>
          </a:ln>
        </p:spPr>
      </p:sp>
      <p:sp>
        <p:nvSpPr>
          <p:cNvPr id="12" name="Bloque Política regional"/>
          <p:cNvSpPr/>
          <p:nvPr/>
        </p:nvSpPr>
        <p:spPr>
          <a:xfrm>
            <a:off x="8656104" y="5006340"/>
            <a:ext cx="829035" cy="375133"/>
          </a:xfrm>
          <a:prstGeom prst="roundRect">
            <a:avLst>
              <a:gd name="adj" fmla="val 14625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13" name="Bloque Mercado de trabajo"/>
          <p:cNvSpPr/>
          <p:nvPr/>
        </p:nvSpPr>
        <p:spPr>
          <a:xfrm>
            <a:off x="10484858" y="5006340"/>
            <a:ext cx="829035" cy="375133"/>
          </a:xfrm>
          <a:prstGeom prst="roundRect">
            <a:avLst>
              <a:gd name="adj" fmla="val 14625"/>
            </a:avLst>
          </a:prstGeom>
          <a:solidFill>
            <a:srgbClr val="FF6699">
              <a:alpha val="14000"/>
            </a:srgbClr>
          </a:solidFill>
          <a:ln w="12700">
            <a:solidFill>
              <a:srgbClr val="CC527A"/>
            </a:solidFill>
            <a:prstDash val="dash"/>
          </a:ln>
        </p:spPr>
      </p:sp>
      <p:sp>
        <p:nvSpPr>
          <p:cNvPr id="14" name="Conexión 1.A.3 – 1.A.4"/>
          <p:cNvSpPr/>
          <p:nvPr/>
        </p:nvSpPr>
        <p:spPr>
          <a:xfrm>
            <a:off x="4254902" y="873366"/>
            <a:ext cx="109725" cy="914"/>
          </a:xfrm>
          <a:prstGeom prst="line">
            <a:avLst/>
          </a:prstGeom>
          <a:noFill/>
          <a:ln w="19050">
            <a:solidFill>
              <a:srgbClr val="CC527A"/>
            </a:solidFill>
            <a:prstDash val="solid"/>
            <a:headEnd type="triangle"/>
            <a:tailEnd type="triangle"/>
          </a:ln>
        </p:spPr>
      </p:sp>
      <p:sp>
        <p:nvSpPr>
          <p:cNvPr id="15" name="Conexión 1.A.10 – 1.A.11"/>
          <p:cNvSpPr/>
          <p:nvPr/>
        </p:nvSpPr>
        <p:spPr>
          <a:xfrm>
            <a:off x="7180908" y="873366"/>
            <a:ext cx="109725" cy="914"/>
          </a:xfrm>
          <a:prstGeom prst="line">
            <a:avLst/>
          </a:prstGeom>
          <a:noFill/>
          <a:ln w="19050">
            <a:solidFill>
              <a:srgbClr val="CC527A"/>
            </a:solidFill>
            <a:prstDash val="solid"/>
            <a:tailEnd type="triangle"/>
          </a:ln>
        </p:spPr>
      </p:sp>
      <p:sp>
        <p:nvSpPr>
          <p:cNvPr id="16" name="Conexión 1.A.14 – 1.A.15"/>
          <p:cNvSpPr/>
          <p:nvPr/>
        </p:nvSpPr>
        <p:spPr>
          <a:xfrm>
            <a:off x="963144" y="5193906"/>
            <a:ext cx="109725" cy="914"/>
          </a:xfrm>
          <a:prstGeom prst="line">
            <a:avLst/>
          </a:prstGeom>
          <a:noFill/>
          <a:ln w="19050">
            <a:solidFill>
              <a:srgbClr val="CC527A"/>
            </a:solidFill>
            <a:prstDash val="solid"/>
            <a:headEnd type="triangle"/>
            <a:tailEnd type="triangle"/>
          </a:ln>
        </p:spPr>
      </p:sp>
      <p:sp>
        <p:nvSpPr>
          <p:cNvPr id="17" name="Conexión 1.A.16 – 1.A.17"/>
          <p:cNvSpPr/>
          <p:nvPr/>
        </p:nvSpPr>
        <p:spPr>
          <a:xfrm>
            <a:off x="10106915" y="1902066"/>
            <a:ext cx="109725" cy="914"/>
          </a:xfrm>
          <a:prstGeom prst="line">
            <a:avLst/>
          </a:prstGeom>
          <a:noFill/>
          <a:ln w="19050">
            <a:solidFill>
              <a:srgbClr val="CC527A"/>
            </a:solidFill>
            <a:prstDash val="solid"/>
            <a:tailEnd type="triangle"/>
          </a:ln>
        </p:spPr>
      </p:sp>
      <p:sp>
        <p:nvSpPr>
          <p:cNvPr id="18" name="Conexión 1.A.13 – 1.B.10"/>
          <p:cNvSpPr/>
          <p:nvPr/>
        </p:nvSpPr>
        <p:spPr>
          <a:xfrm flipH="1" flipV="1">
            <a:off x="8026859" y="3507181"/>
            <a:ext cx="965889" cy="156088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19" name="Conexión 1.A.18 – 1.B.11"/>
          <p:cNvSpPr/>
          <p:nvPr/>
        </p:nvSpPr>
        <p:spPr>
          <a:xfrm flipV="1">
            <a:off x="2401764" y="3488972"/>
            <a:ext cx="4523119" cy="1597300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20" name="Conexión 1.A.9 – 1.B.7"/>
          <p:cNvSpPr/>
          <p:nvPr/>
        </p:nvSpPr>
        <p:spPr>
          <a:xfrm>
            <a:off x="2426147" y="3089691"/>
            <a:ext cx="3779426" cy="26988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21" name="Conexión 1.A.1 – 1.B.9"/>
          <p:cNvSpPr/>
          <p:nvPr/>
        </p:nvSpPr>
        <p:spPr>
          <a:xfrm>
            <a:off x="5660502" y="2341321"/>
            <a:ext cx="1297400" cy="60076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22" name="Conexión 1.B.2 – 1.B.4"/>
          <p:cNvSpPr/>
          <p:nvPr/>
        </p:nvSpPr>
        <p:spPr>
          <a:xfrm flipH="1">
            <a:off x="10090949" y="3193771"/>
            <a:ext cx="141658" cy="61722"/>
          </a:xfrm>
          <a:prstGeom prst="line">
            <a:avLst/>
          </a:prstGeom>
          <a:noFill/>
          <a:ln w="19050">
            <a:solidFill>
              <a:srgbClr val="5F2987"/>
            </a:solidFill>
            <a:prstDash val="dash"/>
            <a:headEnd type="triangle"/>
            <a:tailEnd type="triangle"/>
          </a:ln>
        </p:spPr>
      </p:sp>
      <p:sp>
        <p:nvSpPr>
          <p:cNvPr id="23" name="Conexión 1.B.4 – 1.B.13"/>
          <p:cNvSpPr/>
          <p:nvPr/>
        </p:nvSpPr>
        <p:spPr>
          <a:xfrm flipH="1" flipV="1">
            <a:off x="8973088" y="3152176"/>
            <a:ext cx="524243" cy="144910"/>
          </a:xfrm>
          <a:prstGeom prst="line">
            <a:avLst/>
          </a:prstGeom>
          <a:noFill/>
          <a:ln w="19050">
            <a:solidFill>
              <a:srgbClr val="5F2987"/>
            </a:solidFill>
            <a:prstDash val="dash"/>
            <a:headEnd type="triangle"/>
            <a:tailEnd type="triangle"/>
          </a:ln>
        </p:spPr>
      </p:sp>
      <p:sp>
        <p:nvSpPr>
          <p:cNvPr id="24" name="Conexión 1.B.12 – 1.B.13"/>
          <p:cNvSpPr/>
          <p:nvPr/>
        </p:nvSpPr>
        <p:spPr>
          <a:xfrm>
            <a:off x="8253778" y="3067926"/>
            <a:ext cx="109725" cy="914"/>
          </a:xfrm>
          <a:prstGeom prst="line">
            <a:avLst/>
          </a:prstGeom>
          <a:noFill/>
          <a:ln w="19050">
            <a:solidFill>
              <a:srgbClr val="325EEA"/>
            </a:solidFill>
            <a:prstDash val="solid"/>
            <a:headEnd type="triangle"/>
            <a:tailEnd type="triangle"/>
          </a:ln>
        </p:spPr>
      </p:sp>
      <p:sp>
        <p:nvSpPr>
          <p:cNvPr id="25" name="Conexión 1.A.10 – 1.B.15"/>
          <p:cNvSpPr/>
          <p:nvPr/>
        </p:nvSpPr>
        <p:spPr>
          <a:xfrm flipH="1">
            <a:off x="4023498" y="999211"/>
            <a:ext cx="2767037" cy="406885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26" name="Conexión 1.B.14 – 1.B.16"/>
          <p:cNvSpPr/>
          <p:nvPr/>
        </p:nvSpPr>
        <p:spPr>
          <a:xfrm>
            <a:off x="3507433" y="5319751"/>
            <a:ext cx="141658" cy="61722"/>
          </a:xfrm>
          <a:prstGeom prst="line">
            <a:avLst/>
          </a:prstGeom>
          <a:noFill/>
          <a:ln w="19050">
            <a:solidFill>
              <a:srgbClr val="497CAA"/>
            </a:solidFill>
            <a:prstDash val="solid"/>
            <a:tailEnd type="triangle"/>
          </a:ln>
        </p:spPr>
      </p:sp>
      <p:sp>
        <p:nvSpPr>
          <p:cNvPr id="27" name="Conexión 1.B.11 – 1.B.18"/>
          <p:cNvSpPr/>
          <p:nvPr/>
        </p:nvSpPr>
        <p:spPr>
          <a:xfrm flipH="1">
            <a:off x="4835829" y="3507181"/>
            <a:ext cx="2215244" cy="1560881"/>
          </a:xfrm>
          <a:prstGeom prst="line">
            <a:avLst/>
          </a:prstGeom>
          <a:noFill/>
          <a:ln w="19050">
            <a:solidFill>
              <a:srgbClr val="325EEA"/>
            </a:solidFill>
            <a:prstDash val="dash"/>
            <a:headEnd type="triangle"/>
            <a:tailEnd type="triangle"/>
          </a:ln>
        </p:spPr>
      </p:sp>
      <p:sp>
        <p:nvSpPr>
          <p:cNvPr id="28" name="Conexión 1.A.2 – 1.A.3"/>
          <p:cNvSpPr/>
          <p:nvPr/>
        </p:nvSpPr>
        <p:spPr>
          <a:xfrm flipH="1" flipV="1">
            <a:off x="4038105" y="999211"/>
            <a:ext cx="543319" cy="77701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29" name="Conexión 1.A.5 – 1.A.10"/>
          <p:cNvSpPr/>
          <p:nvPr/>
        </p:nvSpPr>
        <p:spPr>
          <a:xfrm flipV="1">
            <a:off x="5570686" y="999211"/>
            <a:ext cx="1123473" cy="77701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30" name="Conexión 1.A.6 – 1.A.9"/>
          <p:cNvSpPr/>
          <p:nvPr/>
        </p:nvSpPr>
        <p:spPr>
          <a:xfrm flipH="1">
            <a:off x="2391328" y="2341321"/>
            <a:ext cx="1288808" cy="60076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31" name="Conexión 1.A.7 – 1.A.14"/>
          <p:cNvSpPr/>
          <p:nvPr/>
        </p:nvSpPr>
        <p:spPr>
          <a:xfrm flipH="1">
            <a:off x="827827" y="2341321"/>
            <a:ext cx="3672117" cy="272674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32" name="Conexión 1.A.8 – 1.A.9"/>
          <p:cNvSpPr/>
          <p:nvPr/>
        </p:nvSpPr>
        <p:spPr>
          <a:xfrm flipH="1">
            <a:off x="2318753" y="2027911"/>
            <a:ext cx="1433959" cy="91417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33" name="Conexión 1.A.12 – 1.B.10"/>
          <p:cNvSpPr/>
          <p:nvPr/>
        </p:nvSpPr>
        <p:spPr>
          <a:xfrm flipH="1" flipV="1">
            <a:off x="8153827" y="3507181"/>
            <a:ext cx="2540707" cy="156088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34" name="Conexión 1.B.1 – 1.B.4"/>
          <p:cNvSpPr/>
          <p:nvPr/>
        </p:nvSpPr>
        <p:spPr>
          <a:xfrm>
            <a:off x="9802123" y="3193771"/>
            <a:ext cx="914" cy="61722"/>
          </a:xfrm>
          <a:prstGeom prst="line">
            <a:avLst/>
          </a:prstGeom>
          <a:noFill/>
          <a:ln w="19050">
            <a:solidFill>
              <a:srgbClr val="5F2987"/>
            </a:solidFill>
            <a:prstDash val="dash"/>
            <a:headEnd type="triangle"/>
            <a:tailEnd type="triangle"/>
          </a:ln>
        </p:spPr>
      </p:sp>
      <p:sp>
        <p:nvSpPr>
          <p:cNvPr id="35" name="Conexión 1.B.3 – 1.A.12"/>
          <p:cNvSpPr/>
          <p:nvPr/>
        </p:nvSpPr>
        <p:spPr>
          <a:xfrm flipH="1">
            <a:off x="10919582" y="3193771"/>
            <a:ext cx="300954" cy="1874291"/>
          </a:xfrm>
          <a:prstGeom prst="line">
            <a:avLst/>
          </a:prstGeom>
          <a:noFill/>
          <a:ln w="19050">
            <a:solidFill>
              <a:srgbClr val="5F2987"/>
            </a:solidFill>
            <a:prstDash val="dash"/>
            <a:headEnd type="triangle"/>
            <a:tailEnd type="triangle"/>
          </a:ln>
        </p:spPr>
      </p:sp>
      <p:sp>
        <p:nvSpPr>
          <p:cNvPr id="36" name="Conexión 1.B.5 – 1.A.13"/>
          <p:cNvSpPr/>
          <p:nvPr/>
        </p:nvSpPr>
        <p:spPr>
          <a:xfrm flipH="1">
            <a:off x="9171349" y="3507181"/>
            <a:ext cx="1249356" cy="1560881"/>
          </a:xfrm>
          <a:prstGeom prst="line">
            <a:avLst/>
          </a:prstGeom>
          <a:noFill/>
          <a:ln w="19050">
            <a:solidFill>
              <a:srgbClr val="5F2987"/>
            </a:solidFill>
            <a:prstDash val="dash"/>
            <a:headEnd type="triangle"/>
            <a:tailEnd type="triangle"/>
          </a:ln>
        </p:spPr>
      </p:sp>
      <p:sp>
        <p:nvSpPr>
          <p:cNvPr id="37" name="Conexión 1.B.6 – 1.A.16"/>
          <p:cNvSpPr/>
          <p:nvPr/>
        </p:nvSpPr>
        <p:spPr>
          <a:xfrm flipV="1">
            <a:off x="6815158" y="2010016"/>
            <a:ext cx="2682173" cy="949960"/>
          </a:xfrm>
          <a:prstGeom prst="line">
            <a:avLst/>
          </a:prstGeom>
          <a:noFill/>
          <a:ln w="19050">
            <a:solidFill>
              <a:srgbClr val="325EEA"/>
            </a:solidFill>
            <a:prstDash val="dash"/>
            <a:headEnd type="triangle"/>
            <a:tailEnd type="triangle"/>
          </a:ln>
        </p:spPr>
      </p:sp>
      <p:sp>
        <p:nvSpPr>
          <p:cNvPr id="38" name="Conexión 1.B.8 – 1.B.1"/>
          <p:cNvSpPr/>
          <p:nvPr/>
        </p:nvSpPr>
        <p:spPr>
          <a:xfrm flipV="1">
            <a:off x="8973088" y="3152176"/>
            <a:ext cx="524243" cy="144910"/>
          </a:xfrm>
          <a:prstGeom prst="line">
            <a:avLst/>
          </a:prstGeom>
          <a:noFill/>
          <a:ln w="19050">
            <a:solidFill>
              <a:srgbClr val="325EEA"/>
            </a:solidFill>
            <a:prstDash val="dash"/>
            <a:headEnd type="triangle"/>
            <a:tailEnd type="triangle"/>
          </a:ln>
        </p:spPr>
      </p:sp>
      <p:sp>
        <p:nvSpPr>
          <p:cNvPr id="39" name="Conexión 1.B.17 – 1.A.18"/>
          <p:cNvSpPr/>
          <p:nvPr/>
        </p:nvSpPr>
        <p:spPr>
          <a:xfrm flipH="1" flipV="1">
            <a:off x="2401764" y="5279072"/>
            <a:ext cx="512051" cy="143079"/>
          </a:xfrm>
          <a:prstGeom prst="line">
            <a:avLst/>
          </a:prstGeom>
          <a:noFill/>
          <a:ln w="19050">
            <a:solidFill>
              <a:srgbClr val="497CAA"/>
            </a:solidFill>
            <a:prstDash val="dash"/>
            <a:headEnd type="triangle"/>
            <a:tailEnd type="triangle"/>
          </a:ln>
        </p:spPr>
      </p:sp>
      <p:sp>
        <p:nvSpPr>
          <p:cNvPr id="40" name="Conexión 1.A.11 – 1.B.12"/>
          <p:cNvSpPr/>
          <p:nvPr/>
        </p:nvSpPr>
        <p:spPr>
          <a:xfrm>
            <a:off x="7615701" y="999211"/>
            <a:ext cx="313010" cy="194287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41" name="Conexión 1.A.16 – 1.B.12"/>
          <p:cNvSpPr/>
          <p:nvPr/>
        </p:nvSpPr>
        <p:spPr>
          <a:xfrm flipH="1">
            <a:off x="8149015" y="2027911"/>
            <a:ext cx="1453078" cy="91417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42" name="Conexión 1.A.10 – 1.B.13"/>
          <p:cNvSpPr/>
          <p:nvPr/>
        </p:nvSpPr>
        <p:spPr>
          <a:xfrm>
            <a:off x="6978886" y="999211"/>
            <a:ext cx="1586639" cy="194287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43" name="Conexión 1.A.17 – 1.B.13"/>
          <p:cNvSpPr/>
          <p:nvPr/>
        </p:nvSpPr>
        <p:spPr>
          <a:xfrm flipH="1">
            <a:off x="8868325" y="2027911"/>
            <a:ext cx="1453078" cy="914171"/>
          </a:xfrm>
          <a:prstGeom prst="line">
            <a:avLst/>
          </a:prstGeom>
          <a:noFill/>
          <a:ln w="19050">
            <a:solidFill>
              <a:srgbClr val="CC527A"/>
            </a:solidFill>
            <a:prstDash val="dash"/>
            <a:headEnd type="triangle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3535592" y="432054"/>
            <a:ext cx="283456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Energía, clima y tecnología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61598" y="432054"/>
            <a:ext cx="554721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financiero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535592" y="1460754"/>
            <a:ext cx="576057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productivos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387605" y="1460754"/>
            <a:ext cx="262121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económica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706837" y="2626614"/>
            <a:ext cx="429757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y regulación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095848" y="2626614"/>
            <a:ext cx="320031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325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Europea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387605" y="2626614"/>
            <a:ext cx="262121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5F2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público español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243834" y="4752594"/>
            <a:ext cx="246881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exterior y cooperación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2804090" y="4752594"/>
            <a:ext cx="576057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49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económico e instituciones internacionales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656104" y="4752594"/>
            <a:ext cx="173731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regional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0484858" y="4752594"/>
            <a:ext cx="152395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CC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trabajo</a:t>
            </a:r>
            <a:endParaRPr lang="en-US" sz="1100" dirty="0"/>
          </a:p>
        </p:txBody>
      </p:sp>
      <p:sp>
        <p:nvSpPr>
          <p:cNvPr id="55" name="Tema 1.A.3"/>
          <p:cNvSpPr txBox="1"/>
          <p:nvPr/>
        </p:nvSpPr>
        <p:spPr>
          <a:xfrm>
            <a:off x="3645317" y="7475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1.A.3</a:t>
            </a:r>
            <a:endParaRPr lang="en-US" sz="1000" dirty="0"/>
          </a:p>
        </p:txBody>
      </p:sp>
      <p:pic>
        <p:nvPicPr>
          <p:cNvPr id="56" name="Image 0" descr="1.A.3 · La política española de energía y clima: mitigación y adaptación al cambio climá">
            <a:hlinkClick r:id="rId3" action="ppaction://hlinksldjump" tooltip="1.A.3 · La política española de energía y clima: mitigación y adaptación al cambio climá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317" y="747522"/>
            <a:ext cx="609585" cy="251689"/>
          </a:xfrm>
          <a:prstGeom prst="rect">
            <a:avLst/>
          </a:prstGeom>
        </p:spPr>
      </p:pic>
      <p:sp>
        <p:nvSpPr>
          <p:cNvPr id="57" name="Tema 1.A.4"/>
          <p:cNvSpPr txBox="1"/>
          <p:nvPr/>
        </p:nvSpPr>
        <p:spPr>
          <a:xfrm>
            <a:off x="4364627" y="7475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1.A.4</a:t>
            </a:r>
            <a:endParaRPr lang="en-US" sz="1000" dirty="0"/>
          </a:p>
        </p:txBody>
      </p:sp>
      <p:pic>
        <p:nvPicPr>
          <p:cNvPr id="58" name="Image 1" descr="1.A.4 · Estructura del sector energético y subsectores: sistema eléctrico, sistema gasis">
            <a:hlinkClick r:id="rId5" action="ppaction://hlinksldjump" tooltip="1.A.4 · Estructura del sector energético y subsectores: sistema eléctrico, sistema ga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627" y="747522"/>
            <a:ext cx="609585" cy="251689"/>
          </a:xfrm>
          <a:prstGeom prst="rect">
            <a:avLst/>
          </a:prstGeom>
        </p:spPr>
      </p:pic>
      <p:sp>
        <p:nvSpPr>
          <p:cNvPr id="59" name="Tema 1.A.10"/>
          <p:cNvSpPr txBox="1"/>
          <p:nvPr/>
        </p:nvSpPr>
        <p:spPr>
          <a:xfrm>
            <a:off x="6571324" y="7475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000" dirty="0"/>
          </a:p>
        </p:txBody>
      </p:sp>
      <p:pic>
        <p:nvPicPr>
          <p:cNvPr id="60" name="Image 2" descr="1.A.10 · Sistema financiero español (I): evolución reciente del sistema financiero españo">
            <a:hlinkClick r:id="rId6" action="ppaction://hlinksldjump" tooltip="1.A.10 · Sistema financiero español (I): evolución reciente del sistema financiero españ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324" y="747522"/>
            <a:ext cx="609585" cy="251689"/>
          </a:xfrm>
          <a:prstGeom prst="rect">
            <a:avLst/>
          </a:prstGeom>
        </p:spPr>
      </p:pic>
      <p:sp>
        <p:nvSpPr>
          <p:cNvPr id="61" name="Tema 1.A.11"/>
          <p:cNvSpPr txBox="1"/>
          <p:nvPr/>
        </p:nvSpPr>
        <p:spPr>
          <a:xfrm>
            <a:off x="7290634" y="7475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1.A.11</a:t>
            </a:r>
            <a:endParaRPr lang="en-US" sz="1000" dirty="0"/>
          </a:p>
        </p:txBody>
      </p:sp>
      <p:pic>
        <p:nvPicPr>
          <p:cNvPr id="62" name="Image 3" descr="1.A.11 · Sistema financiero español (II): las entidades de crédito en España. Configuraci">
            <a:hlinkClick r:id="rId7" action="ppaction://hlinksldjump" tooltip="1.A.11 · Sistema financiero español (II): las entidades de crédito en España. Configura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634" y="747522"/>
            <a:ext cx="609585" cy="251689"/>
          </a:xfrm>
          <a:prstGeom prst="rect">
            <a:avLst/>
          </a:prstGeom>
        </p:spPr>
      </p:pic>
      <p:sp>
        <p:nvSpPr>
          <p:cNvPr id="63" name="Tema 1.A.8"/>
          <p:cNvSpPr txBox="1"/>
          <p:nvPr/>
        </p:nvSpPr>
        <p:spPr>
          <a:xfrm>
            <a:off x="3645317" y="17762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000" dirty="0"/>
          </a:p>
        </p:txBody>
      </p:sp>
      <p:pic>
        <p:nvPicPr>
          <p:cNvPr id="64" name="Image 4" descr="1.A.8 · Estructura, políticas y retos de la distribución, con especial referencia al com">
            <a:hlinkClick r:id="rId8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317" y="1776222"/>
            <a:ext cx="609585" cy="251689"/>
          </a:xfrm>
          <a:prstGeom prst="rect">
            <a:avLst/>
          </a:prstGeom>
        </p:spPr>
      </p:pic>
      <p:sp>
        <p:nvSpPr>
          <p:cNvPr id="65" name="Tema 1.A.2"/>
          <p:cNvSpPr txBox="1"/>
          <p:nvPr/>
        </p:nvSpPr>
        <p:spPr>
          <a:xfrm>
            <a:off x="4364627" y="17762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000" dirty="0"/>
          </a:p>
        </p:txBody>
      </p:sp>
      <p:pic>
        <p:nvPicPr>
          <p:cNvPr id="66" name="Image 5" descr="1.A.2 · Análisis de la industria en España. Evolución, características y situación actua">
            <a:hlinkClick r:id="rId9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627" y="1776222"/>
            <a:ext cx="609585" cy="251689"/>
          </a:xfrm>
          <a:prstGeom prst="rect">
            <a:avLst/>
          </a:prstGeom>
        </p:spPr>
      </p:pic>
      <p:sp>
        <p:nvSpPr>
          <p:cNvPr id="67" name="Tema 1.A.5"/>
          <p:cNvSpPr txBox="1"/>
          <p:nvPr/>
        </p:nvSpPr>
        <p:spPr>
          <a:xfrm>
            <a:off x="5083937" y="17762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000" dirty="0"/>
          </a:p>
        </p:txBody>
      </p:sp>
      <p:pic>
        <p:nvPicPr>
          <p:cNvPr id="68" name="Image 6" descr="1.A.5 · El sector de la construcción en España. El mercado de la vivienda: problemas y s">
            <a:hlinkClick r:id="rId10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937" y="1776222"/>
            <a:ext cx="609585" cy="251689"/>
          </a:xfrm>
          <a:prstGeom prst="rect">
            <a:avLst/>
          </a:prstGeom>
        </p:spPr>
      </p:pic>
      <p:sp>
        <p:nvSpPr>
          <p:cNvPr id="69" name="Tema 1.A.6"/>
          <p:cNvSpPr txBox="1"/>
          <p:nvPr/>
        </p:nvSpPr>
        <p:spPr>
          <a:xfrm>
            <a:off x="3645317" y="2089633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000" dirty="0"/>
          </a:p>
        </p:txBody>
      </p:sp>
      <p:pic>
        <p:nvPicPr>
          <p:cNvPr id="70" name="Image 7" descr="1.A.6 · Estructura y política de los sectores de los transportes y las telecomunicacione">
            <a:hlinkClick r:id="rId11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317" y="2089633"/>
            <a:ext cx="609585" cy="251689"/>
          </a:xfrm>
          <a:prstGeom prst="rect">
            <a:avLst/>
          </a:prstGeom>
        </p:spPr>
      </p:pic>
      <p:sp>
        <p:nvSpPr>
          <p:cNvPr id="71" name="Tema 1.A.7"/>
          <p:cNvSpPr txBox="1"/>
          <p:nvPr/>
        </p:nvSpPr>
        <p:spPr>
          <a:xfrm>
            <a:off x="4364627" y="2089633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000" dirty="0"/>
          </a:p>
        </p:txBody>
      </p:sp>
      <p:pic>
        <p:nvPicPr>
          <p:cNvPr id="72" name="Image 8" descr="1.A.7 · El turismo en España: evolución, retos y política turística.">
            <a:hlinkClick r:id="rId12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627" y="2089633"/>
            <a:ext cx="609585" cy="251689"/>
          </a:xfrm>
          <a:prstGeom prst="rect">
            <a:avLst/>
          </a:prstGeom>
        </p:spPr>
      </p:pic>
      <p:sp>
        <p:nvSpPr>
          <p:cNvPr id="73" name="Tema 1.A.1"/>
          <p:cNvSpPr txBox="1"/>
          <p:nvPr/>
        </p:nvSpPr>
        <p:spPr>
          <a:xfrm>
            <a:off x="5083937" y="2089633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000" dirty="0"/>
          </a:p>
        </p:txBody>
      </p:sp>
      <p:pic>
        <p:nvPicPr>
          <p:cNvPr id="74" name="Image 9" descr="1.A.1 · Los sectores agrícola y pesquero en España.">
            <a:hlinkClick r:id="rId13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937" y="2089633"/>
            <a:ext cx="609585" cy="251689"/>
          </a:xfrm>
          <a:prstGeom prst="rect">
            <a:avLst/>
          </a:prstGeom>
        </p:spPr>
      </p:pic>
      <p:sp>
        <p:nvSpPr>
          <p:cNvPr id="75" name="Tema 1.A.16"/>
          <p:cNvSpPr txBox="1"/>
          <p:nvPr/>
        </p:nvSpPr>
        <p:spPr>
          <a:xfrm>
            <a:off x="9497331" y="17762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000" dirty="0"/>
          </a:p>
        </p:txBody>
      </p:sp>
      <p:pic>
        <p:nvPicPr>
          <p:cNvPr id="76" name="Image 10" descr="1.A.16 · La economía española en el período 1959-1999. El Plan de Estabilización de 1959.">
            <a:hlinkClick r:id="rId14" action="ppaction://hlinksldjump" tooltip="1.A.16 · La economía española en el período 1959-1999. El Plan de Estabilización de 1959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331" y="1776222"/>
            <a:ext cx="609585" cy="251689"/>
          </a:xfrm>
          <a:prstGeom prst="rect">
            <a:avLst/>
          </a:prstGeom>
        </p:spPr>
      </p:pic>
      <p:sp>
        <p:nvSpPr>
          <p:cNvPr id="77" name="Tema 1.A.17"/>
          <p:cNvSpPr txBox="1"/>
          <p:nvPr/>
        </p:nvSpPr>
        <p:spPr>
          <a:xfrm>
            <a:off x="10216641" y="177622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1.A.17</a:t>
            </a:r>
            <a:endParaRPr lang="en-US" sz="1000" dirty="0"/>
          </a:p>
        </p:txBody>
      </p:sp>
      <p:pic>
        <p:nvPicPr>
          <p:cNvPr id="78" name="Image 11" descr="1.A.17 · Evolución de la economía española desde 1999 hasta la actualidad. Especial refer">
            <a:hlinkClick r:id="rId15" action="ppaction://hlinksldjump" tooltip="1.A.17 · Evolución de la economía española desde 1999 hasta la actualidad. Especial refe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641" y="1776222"/>
            <a:ext cx="609585" cy="251689"/>
          </a:xfrm>
          <a:prstGeom prst="rect">
            <a:avLst/>
          </a:prstGeom>
        </p:spPr>
      </p:pic>
      <p:sp>
        <p:nvSpPr>
          <p:cNvPr id="79" name="Tema 1.A.9"/>
          <p:cNvSpPr txBox="1"/>
          <p:nvPr/>
        </p:nvSpPr>
        <p:spPr>
          <a:xfrm>
            <a:off x="1816563" y="294208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1.A.9</a:t>
            </a:r>
            <a:endParaRPr lang="en-US" sz="1000" dirty="0"/>
          </a:p>
        </p:txBody>
      </p:sp>
      <p:pic>
        <p:nvPicPr>
          <p:cNvPr id="80" name="Image 12" descr="1.A.9 · La defensa y la promoción de la competencia en España. Principios de regulación ">
            <a:hlinkClick r:id="rId16" action="ppaction://hlinksldjump" tooltip="1.A.9 · La defensa y la promoción de la competencia en España. Principios de regulación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563" y="2942082"/>
            <a:ext cx="609585" cy="251689"/>
          </a:xfrm>
          <a:prstGeom prst="rect">
            <a:avLst/>
          </a:prstGeom>
        </p:spPr>
      </p:pic>
      <p:sp>
        <p:nvSpPr>
          <p:cNvPr id="81" name="Tema 1.B.6"/>
          <p:cNvSpPr txBox="1"/>
          <p:nvPr/>
        </p:nvSpPr>
        <p:spPr>
          <a:xfrm>
            <a:off x="6205573" y="2942082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000" dirty="0"/>
          </a:p>
        </p:txBody>
      </p:sp>
      <p:pic>
        <p:nvPicPr>
          <p:cNvPr id="82" name="Image 13" descr="1.B.6 · Tratados, orden jurídico e instituciones de la Unión Europea.">
            <a:hlinkClick r:id="rId17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73" y="2942082"/>
            <a:ext cx="609585" cy="251689"/>
          </a:xfrm>
          <a:prstGeom prst="rect">
            <a:avLst/>
          </a:prstGeom>
        </p:spPr>
      </p:pic>
      <p:sp>
        <p:nvSpPr>
          <p:cNvPr id="83" name="Tema 1.B.9"/>
          <p:cNvSpPr txBox="1"/>
          <p:nvPr/>
        </p:nvSpPr>
        <p:spPr>
          <a:xfrm>
            <a:off x="6924883" y="2942082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000" dirty="0"/>
          </a:p>
        </p:txBody>
      </p:sp>
      <p:pic>
        <p:nvPicPr>
          <p:cNvPr id="84" name="Image 14" descr="1.B.9 · La política agrícola de la UE. Problemas económicos y procesos de reforma. La po">
            <a:hlinkClick r:id="rId18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883" y="2942082"/>
            <a:ext cx="609585" cy="251689"/>
          </a:xfrm>
          <a:prstGeom prst="rect">
            <a:avLst/>
          </a:prstGeom>
        </p:spPr>
      </p:pic>
      <p:sp>
        <p:nvSpPr>
          <p:cNvPr id="85" name="Tema 1.B.12"/>
          <p:cNvSpPr txBox="1"/>
          <p:nvPr/>
        </p:nvSpPr>
        <p:spPr>
          <a:xfrm>
            <a:off x="7644193" y="2942082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000" dirty="0"/>
          </a:p>
        </p:txBody>
      </p:sp>
      <p:pic>
        <p:nvPicPr>
          <p:cNvPr id="86" name="Image 15" descr="1.B.12 · El origen del euro: funcionamiento y evolución del SME. Los criterios de converg">
            <a:hlinkClick r:id="rId19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193" y="2942082"/>
            <a:ext cx="609585" cy="251689"/>
          </a:xfrm>
          <a:prstGeom prst="rect">
            <a:avLst/>
          </a:prstGeom>
        </p:spPr>
      </p:pic>
      <p:sp>
        <p:nvSpPr>
          <p:cNvPr id="87" name="Tema 1.B.13"/>
          <p:cNvSpPr txBox="1"/>
          <p:nvPr/>
        </p:nvSpPr>
        <p:spPr>
          <a:xfrm>
            <a:off x="8363503" y="2942082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000" dirty="0"/>
          </a:p>
        </p:txBody>
      </p:sp>
      <p:pic>
        <p:nvPicPr>
          <p:cNvPr id="88" name="Image 16" descr="1.B.13 · La gobernanza económica de la UE y de la zona euro. El Semestre Europeo. Las reg">
            <a:hlinkClick r:id="rId2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03" y="2942082"/>
            <a:ext cx="609585" cy="251689"/>
          </a:xfrm>
          <a:prstGeom prst="rect">
            <a:avLst/>
          </a:prstGeom>
        </p:spPr>
      </p:pic>
      <p:sp>
        <p:nvSpPr>
          <p:cNvPr id="89" name="Tema 1.B.7"/>
          <p:cNvSpPr txBox="1"/>
          <p:nvPr/>
        </p:nvSpPr>
        <p:spPr>
          <a:xfrm>
            <a:off x="6205573" y="3255493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000" dirty="0"/>
          </a:p>
        </p:txBody>
      </p:sp>
      <p:pic>
        <p:nvPicPr>
          <p:cNvPr id="90" name="Image 17" descr="1.B.7 · El mercado único de la UE. El principio de libre circulación de mercancías, serv">
            <a:hlinkClick r:id="rId21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73" y="3255493"/>
            <a:ext cx="609585" cy="251689"/>
          </a:xfrm>
          <a:prstGeom prst="rect">
            <a:avLst/>
          </a:prstGeom>
        </p:spPr>
      </p:pic>
      <p:sp>
        <p:nvSpPr>
          <p:cNvPr id="91" name="Tema 1.B.11"/>
          <p:cNvSpPr txBox="1"/>
          <p:nvPr/>
        </p:nvSpPr>
        <p:spPr>
          <a:xfrm>
            <a:off x="6924883" y="3255493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000" dirty="0"/>
          </a:p>
        </p:txBody>
      </p:sp>
      <p:pic>
        <p:nvPicPr>
          <p:cNvPr id="92" name="Image 18" descr="1.B.11 · La política comercial de la UE. Las relaciones económicas exteriores de la UE. L">
            <a:hlinkClick r:id="rId22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883" y="3255493"/>
            <a:ext cx="609585" cy="251689"/>
          </a:xfrm>
          <a:prstGeom prst="rect">
            <a:avLst/>
          </a:prstGeom>
        </p:spPr>
      </p:pic>
      <p:sp>
        <p:nvSpPr>
          <p:cNvPr id="93" name="Tema 1.B.10"/>
          <p:cNvSpPr txBox="1"/>
          <p:nvPr/>
        </p:nvSpPr>
        <p:spPr>
          <a:xfrm>
            <a:off x="7644193" y="3255493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000" dirty="0"/>
          </a:p>
        </p:txBody>
      </p:sp>
      <p:pic>
        <p:nvPicPr>
          <p:cNvPr id="94" name="Image 19" descr="1.B.10 · La Cohesión Económica y Social en la UE: política regional e instrumentos presup">
            <a:hlinkClick r:id="rId23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193" y="3255493"/>
            <a:ext cx="609585" cy="251689"/>
          </a:xfrm>
          <a:prstGeom prst="rect">
            <a:avLst/>
          </a:prstGeom>
        </p:spPr>
      </p:pic>
      <p:sp>
        <p:nvSpPr>
          <p:cNvPr id="95" name="Tema 1.B.8"/>
          <p:cNvSpPr txBox="1"/>
          <p:nvPr/>
        </p:nvSpPr>
        <p:spPr>
          <a:xfrm>
            <a:off x="8363503" y="3255493"/>
            <a:ext cx="609585" cy="251689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000" dirty="0"/>
          </a:p>
        </p:txBody>
      </p:sp>
      <p:pic>
        <p:nvPicPr>
          <p:cNvPr id="96" name="Image 20" descr="1.B.8 · Las finanzas de la UE y el presupuesto comunitario. El marco financiero plurianu">
            <a:hlinkClick r:id="rId24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03" y="3255493"/>
            <a:ext cx="609585" cy="251689"/>
          </a:xfrm>
          <a:prstGeom prst="rect">
            <a:avLst/>
          </a:prstGeom>
        </p:spPr>
      </p:pic>
      <p:sp>
        <p:nvSpPr>
          <p:cNvPr id="97" name="Tema 1.B.1"/>
          <p:cNvSpPr txBox="1"/>
          <p:nvPr/>
        </p:nvSpPr>
        <p:spPr>
          <a:xfrm>
            <a:off x="9497331" y="2942082"/>
            <a:ext cx="609585" cy="251689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000" dirty="0"/>
          </a:p>
        </p:txBody>
      </p:sp>
      <p:pic>
        <p:nvPicPr>
          <p:cNvPr id="98" name="Image 21" descr="1.B.1 · Concepto, características y tipos de presupuestos. Las grandes cifras de los PGE">
            <a:hlinkClick r:id="rId25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331" y="2942082"/>
            <a:ext cx="609585" cy="251689"/>
          </a:xfrm>
          <a:prstGeom prst="rect">
            <a:avLst/>
          </a:prstGeom>
        </p:spPr>
      </p:pic>
      <p:sp>
        <p:nvSpPr>
          <p:cNvPr id="99" name="Tema 1.B.2"/>
          <p:cNvSpPr txBox="1"/>
          <p:nvPr/>
        </p:nvSpPr>
        <p:spPr>
          <a:xfrm>
            <a:off x="10216641" y="2942082"/>
            <a:ext cx="609585" cy="251689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000" dirty="0"/>
          </a:p>
        </p:txBody>
      </p:sp>
      <p:pic>
        <p:nvPicPr>
          <p:cNvPr id="100" name="Image 22" descr="1.B.2 · Sistema fiscal español. Imposición directa e indirecta. La armonización fiscal e">
            <a:hlinkClick r:id="rId26" action="ppaction://hlinksldjump" tooltip="1.B.2 · Sistema fiscal español. Imposición directa e indirecta. La armonización fiscal 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641" y="2942082"/>
            <a:ext cx="609585" cy="251689"/>
          </a:xfrm>
          <a:prstGeom prst="rect">
            <a:avLst/>
          </a:prstGeom>
        </p:spPr>
      </p:pic>
      <p:sp>
        <p:nvSpPr>
          <p:cNvPr id="101" name="Tema 1.B.3"/>
          <p:cNvSpPr txBox="1"/>
          <p:nvPr/>
        </p:nvSpPr>
        <p:spPr>
          <a:xfrm>
            <a:off x="10935951" y="2942082"/>
            <a:ext cx="609585" cy="251689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000" dirty="0"/>
          </a:p>
        </p:txBody>
      </p:sp>
      <p:pic>
        <p:nvPicPr>
          <p:cNvPr id="102" name="Image 23" descr="1.B.3 · El Sistema de la Seguridad Social en España. Prestaciones y su financiación. La ">
            <a:hlinkClick r:id="rId27" action="ppaction://hlinksldjump" tooltip="1.B.3 · El Sistema de la Seguridad Social en España. Prestaciones y su financiación. La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5951" y="2942082"/>
            <a:ext cx="609585" cy="251689"/>
          </a:xfrm>
          <a:prstGeom prst="rect">
            <a:avLst/>
          </a:prstGeom>
        </p:spPr>
      </p:pic>
      <p:sp>
        <p:nvSpPr>
          <p:cNvPr id="103" name="Tema 1.B.4"/>
          <p:cNvSpPr txBox="1"/>
          <p:nvPr/>
        </p:nvSpPr>
        <p:spPr>
          <a:xfrm>
            <a:off x="9497331" y="3255493"/>
            <a:ext cx="609585" cy="251689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000" dirty="0"/>
          </a:p>
        </p:txBody>
      </p:sp>
      <p:pic>
        <p:nvPicPr>
          <p:cNvPr id="104" name="Image 24" descr="1.B.4 · El saldo presupuestario y la deuda pública en España. Análisis de su evolución r">
            <a:hlinkClick r:id="rId28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331" y="3255493"/>
            <a:ext cx="609585" cy="251689"/>
          </a:xfrm>
          <a:prstGeom prst="rect">
            <a:avLst/>
          </a:prstGeom>
        </p:spPr>
      </p:pic>
      <p:sp>
        <p:nvSpPr>
          <p:cNvPr id="105" name="Tema 1.B.5"/>
          <p:cNvSpPr txBox="1"/>
          <p:nvPr/>
        </p:nvSpPr>
        <p:spPr>
          <a:xfrm>
            <a:off x="10216641" y="3255493"/>
            <a:ext cx="609585" cy="251689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000" dirty="0"/>
          </a:p>
        </p:txBody>
      </p:sp>
      <p:pic>
        <p:nvPicPr>
          <p:cNvPr id="106" name="Image 25" descr="1.B.5 · Las Administraciones Territoriales en España. Competencias y sistemas de financi">
            <a:hlinkClick r:id="rId29" action="ppaction://hlinksldjump" tooltip="1.B.5 · Las Administraciones Territoriales en España. Competencias y sistemas de finan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641" y="3255493"/>
            <a:ext cx="609585" cy="251689"/>
          </a:xfrm>
          <a:prstGeom prst="rect">
            <a:avLst/>
          </a:prstGeom>
        </p:spPr>
      </p:pic>
      <p:sp>
        <p:nvSpPr>
          <p:cNvPr id="107" name="Tema 1.A.14"/>
          <p:cNvSpPr txBox="1"/>
          <p:nvPr/>
        </p:nvSpPr>
        <p:spPr>
          <a:xfrm>
            <a:off x="353559" y="506806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000" dirty="0"/>
          </a:p>
        </p:txBody>
      </p:sp>
      <p:pic>
        <p:nvPicPr>
          <p:cNvPr id="108" name="Image 26" descr="1.A.14 · La internacionalización de la economía española (I): estructura sectorial y geog">
            <a:hlinkClick r:id="rId30" action="ppaction://hlinksldjump" tooltip="1.A.14 · La internacionalización de la economía española (I): estructura sectorial y geo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59" y="5068062"/>
            <a:ext cx="609585" cy="251689"/>
          </a:xfrm>
          <a:prstGeom prst="rect">
            <a:avLst/>
          </a:prstGeom>
        </p:spPr>
      </p:pic>
      <p:sp>
        <p:nvSpPr>
          <p:cNvPr id="109" name="Tema 1.A.15"/>
          <p:cNvSpPr txBox="1"/>
          <p:nvPr/>
        </p:nvSpPr>
        <p:spPr>
          <a:xfrm>
            <a:off x="1072869" y="506806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1.A.15</a:t>
            </a:r>
            <a:endParaRPr lang="en-US" sz="1000" dirty="0"/>
          </a:p>
        </p:txBody>
      </p:sp>
      <p:pic>
        <p:nvPicPr>
          <p:cNvPr id="110" name="Image 27" descr="1.A.15 · La internacionalización de la economía española (II): estructura sectorial y geo">
            <a:hlinkClick r:id="rId31" action="ppaction://hlinksldjump" tooltip="1.A.15 · La internacionalización de la economía española (II): estructura sectorial y ge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9" y="5068062"/>
            <a:ext cx="609585" cy="251689"/>
          </a:xfrm>
          <a:prstGeom prst="rect">
            <a:avLst/>
          </a:prstGeom>
        </p:spPr>
      </p:pic>
      <p:sp>
        <p:nvSpPr>
          <p:cNvPr id="111" name="Tema 1.A.18"/>
          <p:cNvSpPr txBox="1"/>
          <p:nvPr/>
        </p:nvSpPr>
        <p:spPr>
          <a:xfrm>
            <a:off x="1792179" y="506806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000" dirty="0"/>
          </a:p>
        </p:txBody>
      </p:sp>
      <p:pic>
        <p:nvPicPr>
          <p:cNvPr id="112" name="Image 28" descr="1.A.18 · La política española de cooperación al desarrollo. Instrumentos de cooperación t">
            <a:hlinkClick r:id="rId32" action="ppaction://hlinksldjump" tooltip="1.A.18 · La política española de cooperación al desarrollo. Instrumentos de cooperación 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179" y="5068062"/>
            <a:ext cx="609585" cy="251689"/>
          </a:xfrm>
          <a:prstGeom prst="rect">
            <a:avLst/>
          </a:prstGeom>
        </p:spPr>
      </p:pic>
      <p:sp>
        <p:nvSpPr>
          <p:cNvPr id="113" name="Tema 1.B.14"/>
          <p:cNvSpPr txBox="1"/>
          <p:nvPr/>
        </p:nvSpPr>
        <p:spPr>
          <a:xfrm>
            <a:off x="2913815" y="5068062"/>
            <a:ext cx="609585" cy="251689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000" dirty="0"/>
          </a:p>
        </p:txBody>
      </p:sp>
      <p:pic>
        <p:nvPicPr>
          <p:cNvPr id="114" name="Image 29" descr="1.B.14 · Sistema Económico Internacional: de Bretton Woods a la actualidad.">
            <a:hlinkClick r:id="rId33" action="ppaction://hlinksldjump" tooltip="1.B.14 · Sistema Económico Internacional: de Bretton Woods a la actua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815" y="5068062"/>
            <a:ext cx="609585" cy="251689"/>
          </a:xfrm>
          <a:prstGeom prst="rect">
            <a:avLst/>
          </a:prstGeom>
        </p:spPr>
      </p:pic>
      <p:sp>
        <p:nvSpPr>
          <p:cNvPr id="115" name="Tema 1.B.15"/>
          <p:cNvSpPr txBox="1"/>
          <p:nvPr/>
        </p:nvSpPr>
        <p:spPr>
          <a:xfrm>
            <a:off x="3633125" y="5068062"/>
            <a:ext cx="609585" cy="251689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000" dirty="0"/>
          </a:p>
        </p:txBody>
      </p:sp>
      <p:pic>
        <p:nvPicPr>
          <p:cNvPr id="116" name="Image 30" descr="1.B.15 · Crisis financieras y pánicos bancarios. Especial referencia a la crisis financie">
            <a:hlinkClick r:id="rId34" action="ppaction://hlinksldjump" tooltip="1.B.15 · Crisis financieras y pánicos bancarios. Especial referencia a la crisis financi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125" y="5068062"/>
            <a:ext cx="609585" cy="251689"/>
          </a:xfrm>
          <a:prstGeom prst="rect">
            <a:avLst/>
          </a:prstGeom>
        </p:spPr>
      </p:pic>
      <p:sp>
        <p:nvSpPr>
          <p:cNvPr id="117" name="Tema 1.B.18"/>
          <p:cNvSpPr txBox="1"/>
          <p:nvPr/>
        </p:nvSpPr>
        <p:spPr>
          <a:xfrm>
            <a:off x="4352435" y="5068062"/>
            <a:ext cx="609585" cy="251689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000" dirty="0"/>
          </a:p>
        </p:txBody>
      </p:sp>
      <p:pic>
        <p:nvPicPr>
          <p:cNvPr id="118" name="Image 31" descr="1.B.18 · La OMC. Antecedentes (el GATT) y organización actual. Acuerdos sobre el comercio">
            <a:hlinkClick r:id="rId35" action="ppaction://hlinksldjump" tooltip="1.B.18 · La OMC. Antecedentes (el GATT) y organización actual. Acuerdos sobre el comer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435" y="5068062"/>
            <a:ext cx="609585" cy="251689"/>
          </a:xfrm>
          <a:prstGeom prst="rect">
            <a:avLst/>
          </a:prstGeom>
        </p:spPr>
      </p:pic>
      <p:sp>
        <p:nvSpPr>
          <p:cNvPr id="119" name="Tema 1.B.17"/>
          <p:cNvSpPr txBox="1"/>
          <p:nvPr/>
        </p:nvSpPr>
        <p:spPr>
          <a:xfrm>
            <a:off x="2913815" y="5381473"/>
            <a:ext cx="609585" cy="251689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000" dirty="0"/>
          </a:p>
        </p:txBody>
      </p:sp>
      <p:pic>
        <p:nvPicPr>
          <p:cNvPr id="120" name="Image 32" descr="1.B.17 · El Grupo del Banco Mundial. Los Bancos Regionales de Desarrollo. Otras instituci">
            <a:hlinkClick r:id="rId36" action="ppaction://hlinksldjump" tooltip="1.B.17 · El Grupo del Banco Mundial. Los Bancos Regionales de Desarrollo. Otras institu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815" y="5381473"/>
            <a:ext cx="609585" cy="251689"/>
          </a:xfrm>
          <a:prstGeom prst="rect">
            <a:avLst/>
          </a:prstGeom>
        </p:spPr>
      </p:pic>
      <p:sp>
        <p:nvSpPr>
          <p:cNvPr id="121" name="Tema 1.B.16"/>
          <p:cNvSpPr txBox="1"/>
          <p:nvPr/>
        </p:nvSpPr>
        <p:spPr>
          <a:xfrm>
            <a:off x="3633125" y="5381473"/>
            <a:ext cx="609585" cy="251689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000" dirty="0"/>
          </a:p>
        </p:txBody>
      </p:sp>
      <p:pic>
        <p:nvPicPr>
          <p:cNvPr id="122" name="Image 33" descr="1.B.16 · El Fondo Monetario Internacional. Estructura y políticas. Referencias a la coord">
            <a:hlinkClick r:id="rId37" action="ppaction://hlinksldjump" tooltip="1.B.16 · El Fondo Monetario Internacional. Estructura y políticas. Referencias a la coo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125" y="5381473"/>
            <a:ext cx="609585" cy="251689"/>
          </a:xfrm>
          <a:prstGeom prst="rect">
            <a:avLst/>
          </a:prstGeom>
        </p:spPr>
      </p:pic>
      <p:sp>
        <p:nvSpPr>
          <p:cNvPr id="123" name="Tema 1.A.13"/>
          <p:cNvSpPr txBox="1"/>
          <p:nvPr/>
        </p:nvSpPr>
        <p:spPr>
          <a:xfrm>
            <a:off x="8765829" y="506806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1.A.13</a:t>
            </a:r>
            <a:endParaRPr lang="en-US" sz="1000" dirty="0"/>
          </a:p>
        </p:txBody>
      </p:sp>
      <p:pic>
        <p:nvPicPr>
          <p:cNvPr id="124" name="Image 34" descr="1.A.13 · Economía de las regiones españolas: especialización regional, convergencia real ">
            <a:hlinkClick r:id="rId38" action="ppaction://hlinksldjump" tooltip="1.A.13 · Economía de las regiones españolas: especialización regional, convergencia real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29" y="5068062"/>
            <a:ext cx="609585" cy="251689"/>
          </a:xfrm>
          <a:prstGeom prst="rect">
            <a:avLst/>
          </a:prstGeom>
        </p:spPr>
      </p:pic>
      <p:sp>
        <p:nvSpPr>
          <p:cNvPr id="125" name="Tema 1.A.12"/>
          <p:cNvSpPr txBox="1"/>
          <p:nvPr/>
        </p:nvSpPr>
        <p:spPr>
          <a:xfrm>
            <a:off x="10594583" y="5068062"/>
            <a:ext cx="609585" cy="251689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1.A.12</a:t>
            </a:r>
            <a:endParaRPr lang="en-US" sz="1000" dirty="0"/>
          </a:p>
        </p:txBody>
      </p:sp>
      <p:pic>
        <p:nvPicPr>
          <p:cNvPr id="126" name="Image 35" descr="1.A.12 · Mercado de trabajo en España. Características, funcionamiento y problemas. Las p">
            <a:hlinkClick r:id="rId39" action="ppaction://hlinksldjump" tooltip="1.A.12 · Mercado de trabajo en España. Características, funcionamiento y problemas. Las 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583" y="5068062"/>
            <a:ext cx="609585" cy="251689"/>
          </a:xfrm>
          <a:prstGeom prst="rect">
            <a:avLst/>
          </a:prstGeom>
        </p:spPr>
      </p:pic>
      <p:sp>
        <p:nvSpPr>
          <p:cNvPr id="127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28" name="Image 36" descr="Menú">
            <a:hlinkClick r:id="rId4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129" name="Botón Bloques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100" dirty="0"/>
          </a:p>
        </p:txBody>
      </p:sp>
      <p:pic>
        <p:nvPicPr>
          <p:cNvPr id="130" name="Image 37" descr="Bloques">
            <a:hlinkClick r:id="rId41" action="ppaction://hlinksldjump" tooltip="Bloqu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131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132" name="Image 38" descr="Listado">
            <a:hlinkClick r:id="rId4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ejercicio · Bloques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4245742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ESPAÑOLA</a:t>
            </a:r>
            <a:endParaRPr lang="en-US" sz="1200" dirty="0"/>
          </a:p>
        </p:txBody>
      </p:sp>
      <p:sp>
        <p:nvSpPr>
          <p:cNvPr id="4" name="Bloque Sectores productivos"/>
          <p:cNvSpPr txBox="1"/>
          <p:nvPr/>
        </p:nvSpPr>
        <p:spPr>
          <a:xfrm>
            <a:off x="548640" y="1783080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productivos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 · A5 · A6 · A7 · A8</a:t>
            </a:r>
            <a:endParaRPr lang="en-US" sz="1400" dirty="0"/>
          </a:p>
        </p:txBody>
      </p:sp>
      <p:pic>
        <p:nvPicPr>
          <p:cNvPr id="5" name="Image 0" descr="Sectores productivos: ir a su primer tema">
            <a:hlinkClick r:id="rId3" action="ppaction://hlinksldjump" tooltip="Sectores productivos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83080"/>
            <a:ext cx="1962851" cy="914400"/>
          </a:xfrm>
          <a:prstGeom prst="rect">
            <a:avLst/>
          </a:prstGeom>
        </p:spPr>
      </p:pic>
      <p:sp>
        <p:nvSpPr>
          <p:cNvPr id="6" name="Bloque Energía, clima y tecnología"/>
          <p:cNvSpPr txBox="1"/>
          <p:nvPr/>
        </p:nvSpPr>
        <p:spPr>
          <a:xfrm>
            <a:off x="548640" y="2953512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Energía, clima y tecnología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A4</a:t>
            </a:r>
            <a:endParaRPr lang="en-US" sz="1400" dirty="0"/>
          </a:p>
        </p:txBody>
      </p:sp>
      <p:pic>
        <p:nvPicPr>
          <p:cNvPr id="7" name="Image 1" descr="Energía, clima y tecnología: ir a su primer tema">
            <a:hlinkClick r:id="rId5" action="ppaction://hlinksldjump" tooltip="Energía, clima y tecnología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53512"/>
            <a:ext cx="1962851" cy="914400"/>
          </a:xfrm>
          <a:prstGeom prst="rect">
            <a:avLst/>
          </a:prstGeom>
        </p:spPr>
      </p:pic>
      <p:sp>
        <p:nvSpPr>
          <p:cNvPr id="8" name="Bloque Competencia y regulación"/>
          <p:cNvSpPr txBox="1"/>
          <p:nvPr/>
        </p:nvSpPr>
        <p:spPr>
          <a:xfrm>
            <a:off x="548640" y="4123944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y regulación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400" dirty="0"/>
          </a:p>
        </p:txBody>
      </p:sp>
      <p:pic>
        <p:nvPicPr>
          <p:cNvPr id="9" name="Image 2" descr="Competencia y regulación: ir a su primer tema">
            <a:hlinkClick r:id="rId6" action="ppaction://hlinksldjump" tooltip="Competencia y regulación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23944"/>
            <a:ext cx="1962851" cy="914400"/>
          </a:xfrm>
          <a:prstGeom prst="rect">
            <a:avLst/>
          </a:prstGeom>
        </p:spPr>
      </p:pic>
      <p:sp>
        <p:nvSpPr>
          <p:cNvPr id="10" name="Bloque Sistema financiero"/>
          <p:cNvSpPr txBox="1"/>
          <p:nvPr/>
        </p:nvSpPr>
        <p:spPr>
          <a:xfrm>
            <a:off x="548640" y="5294376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financiero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· A11</a:t>
            </a:r>
            <a:endParaRPr lang="en-US" sz="1400" dirty="0"/>
          </a:p>
        </p:txBody>
      </p:sp>
      <p:pic>
        <p:nvPicPr>
          <p:cNvPr id="11" name="Image 3" descr="Sistema financiero: ir a su primer tema">
            <a:hlinkClick r:id="rId7" action="ppaction://hlinksldjump" tooltip="Sistema financier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94376"/>
            <a:ext cx="1962851" cy="914400"/>
          </a:xfrm>
          <a:prstGeom prst="rect">
            <a:avLst/>
          </a:prstGeom>
        </p:spPr>
      </p:pic>
      <p:sp>
        <p:nvSpPr>
          <p:cNvPr id="12" name="Bloque Mercado de trabajo"/>
          <p:cNvSpPr txBox="1"/>
          <p:nvPr/>
        </p:nvSpPr>
        <p:spPr>
          <a:xfrm>
            <a:off x="2831531" y="1783080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trabajo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lang="en-US" sz="1400" dirty="0"/>
          </a:p>
        </p:txBody>
      </p:sp>
      <p:pic>
        <p:nvPicPr>
          <p:cNvPr id="13" name="Image 4" descr="Mercado de trabajo: ir a su primer tema">
            <a:hlinkClick r:id="rId8" action="ppaction://hlinksldjump" tooltip="Mercado de trabajo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531" y="1783080"/>
            <a:ext cx="1962851" cy="914400"/>
          </a:xfrm>
          <a:prstGeom prst="rect">
            <a:avLst/>
          </a:prstGeom>
        </p:spPr>
      </p:pic>
      <p:sp>
        <p:nvSpPr>
          <p:cNvPr id="14" name="Bloque Política regional"/>
          <p:cNvSpPr txBox="1"/>
          <p:nvPr/>
        </p:nvSpPr>
        <p:spPr>
          <a:xfrm>
            <a:off x="2831531" y="2953512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regional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</a:t>
            </a:r>
            <a:endParaRPr lang="en-US" sz="1400" dirty="0"/>
          </a:p>
        </p:txBody>
      </p:sp>
      <p:pic>
        <p:nvPicPr>
          <p:cNvPr id="15" name="Image 5" descr="Política regional: ir a su primer tema">
            <a:hlinkClick r:id="rId9" action="ppaction://hlinksldjump" tooltip="Política regional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531" y="2953512"/>
            <a:ext cx="1962851" cy="914400"/>
          </a:xfrm>
          <a:prstGeom prst="rect">
            <a:avLst/>
          </a:prstGeom>
        </p:spPr>
      </p:pic>
      <p:sp>
        <p:nvSpPr>
          <p:cNvPr id="16" name="Bloque Sector exterior y cooperación"/>
          <p:cNvSpPr txBox="1"/>
          <p:nvPr/>
        </p:nvSpPr>
        <p:spPr>
          <a:xfrm>
            <a:off x="2831531" y="4123944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exterior y cooperación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 · A15 · A18</a:t>
            </a:r>
            <a:endParaRPr lang="en-US" sz="1400" dirty="0"/>
          </a:p>
        </p:txBody>
      </p:sp>
      <p:pic>
        <p:nvPicPr>
          <p:cNvPr id="17" name="Image 6" descr="Sector exterior y cooperación: ir a su primer tema">
            <a:hlinkClick r:id="rId10" action="ppaction://hlinksldjump" tooltip="Sector exterior y cooperación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531" y="4123944"/>
            <a:ext cx="1962851" cy="914400"/>
          </a:xfrm>
          <a:prstGeom prst="rect">
            <a:avLst/>
          </a:prstGeom>
        </p:spPr>
      </p:pic>
      <p:sp>
        <p:nvSpPr>
          <p:cNvPr id="18" name="Bloque Historia económica"/>
          <p:cNvSpPr txBox="1"/>
          <p:nvPr/>
        </p:nvSpPr>
        <p:spPr>
          <a:xfrm>
            <a:off x="2831531" y="5294376"/>
            <a:ext cx="1962851" cy="91440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económica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 · A17</a:t>
            </a:r>
            <a:endParaRPr lang="en-US" sz="1400" dirty="0"/>
          </a:p>
        </p:txBody>
      </p:sp>
      <p:pic>
        <p:nvPicPr>
          <p:cNvPr id="19" name="Image 7" descr="Historia económica: ir a su primer tema">
            <a:hlinkClick r:id="rId11" action="ppaction://hlinksldjump" tooltip="Historia económica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531" y="5294376"/>
            <a:ext cx="1962851" cy="9144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5114422" y="1097280"/>
            <a:ext cx="1962851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PÚBLICA</a:t>
            </a:r>
            <a:endParaRPr lang="en-US" sz="1200" dirty="0"/>
          </a:p>
        </p:txBody>
      </p:sp>
      <p:sp>
        <p:nvSpPr>
          <p:cNvPr id="21" name="Bloque Sector público español"/>
          <p:cNvSpPr txBox="1"/>
          <p:nvPr/>
        </p:nvSpPr>
        <p:spPr>
          <a:xfrm>
            <a:off x="5114422" y="1783080"/>
            <a:ext cx="1962851" cy="91440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público español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B2 · B3 · B4 · B5</a:t>
            </a:r>
            <a:endParaRPr lang="en-US" sz="1400" dirty="0"/>
          </a:p>
        </p:txBody>
      </p:sp>
      <p:pic>
        <p:nvPicPr>
          <p:cNvPr id="22" name="Image 8" descr="Sector público español: ir a su primer tema">
            <a:hlinkClick r:id="rId12" action="ppaction://hlinksldjump" tooltip="Sector público español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422" y="1783080"/>
            <a:ext cx="1962851" cy="9144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397313" y="1097280"/>
            <a:ext cx="1962851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COMUNITARIAS</a:t>
            </a:r>
            <a:endParaRPr lang="en-US" sz="1200" dirty="0"/>
          </a:p>
        </p:txBody>
      </p:sp>
      <p:sp>
        <p:nvSpPr>
          <p:cNvPr id="24" name="Bloque Unión Europea"/>
          <p:cNvSpPr txBox="1"/>
          <p:nvPr/>
        </p:nvSpPr>
        <p:spPr>
          <a:xfrm>
            <a:off x="7397313" y="1783080"/>
            <a:ext cx="1962851" cy="91440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Europea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· B7 · B8 · B9 · B10 · B11 · B12 · B13</a:t>
            </a:r>
            <a:endParaRPr lang="en-US" sz="1400" dirty="0"/>
          </a:p>
        </p:txBody>
      </p:sp>
      <p:pic>
        <p:nvPicPr>
          <p:cNvPr id="25" name="Image 9" descr="Unión Europea: ir a su primer tema">
            <a:hlinkClick r:id="rId13" action="ppaction://hlinksldjump" tooltip="Unión Europea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313" y="1783080"/>
            <a:ext cx="1962851" cy="9144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9680204" y="1097280"/>
            <a:ext cx="1962851" cy="502920"/>
          </a:xfrm>
          <a:prstGeom prst="rect">
            <a:avLst/>
          </a:prstGeom>
          <a:solidFill>
            <a:srgbClr val="234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MULTILATERALES</a:t>
            </a:r>
            <a:endParaRPr lang="en-US" sz="1200" dirty="0"/>
          </a:p>
        </p:txBody>
      </p:sp>
      <p:sp>
        <p:nvSpPr>
          <p:cNvPr id="27" name="Bloque Sistema económico e instituciones internacionales"/>
          <p:cNvSpPr txBox="1"/>
          <p:nvPr/>
        </p:nvSpPr>
        <p:spPr>
          <a:xfrm>
            <a:off x="9680204" y="1783080"/>
            <a:ext cx="1962851" cy="91440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económico e instituciones internacionales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 · B15 · B16 · B17 · B18</a:t>
            </a:r>
            <a:endParaRPr lang="en-US" sz="1400" dirty="0"/>
          </a:p>
        </p:txBody>
      </p:sp>
      <p:pic>
        <p:nvPicPr>
          <p:cNvPr id="28" name="Image 10" descr="Sistema económico e instituciones internacionales: ir a su primer tema">
            <a:hlinkClick r:id="rId14" action="ppaction://hlinksldjump" tooltip="Sistema económico e instituciones internacionales: ir a su primer t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204" y="1783080"/>
            <a:ext cx="1962851" cy="914400"/>
          </a:xfrm>
          <a:prstGeom prst="rect">
            <a:avLst/>
          </a:prstGeom>
        </p:spPr>
      </p:pic>
      <p:sp>
        <p:nvSpPr>
          <p:cNvPr id="29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0" name="Image 11" descr="Menú">
            <a:hlinkClick r:id="rId15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1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2" name="Image 12" descr="Esquema">
            <a:hlinkClick r:id="rId16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3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4" name="Image 13" descr="Listado">
            <a:hlinkClick r:id="rId17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Pensamiento económico: clásicos y neoclásicos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Pensamiento económico (I): los economistas clásicos y neoclásicos. Referencia a Marx.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75C4FF"/>
          </a:solidFill>
          <a:ln w="9525">
            <a:solidFill>
              <a:srgbClr val="406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del pensamiento económico</a:t>
            </a:r>
            <a:endParaRPr lang="en-US" sz="1700" dirty="0"/>
          </a:p>
        </p:txBody>
      </p:sp>
      <p:sp>
        <p:nvSpPr>
          <p:cNvPr id="10" name="Tema 3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75C4FF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</a:t>
            </a:r>
            <a:endParaRPr lang="en-US" sz="1200" dirty="0"/>
          </a:p>
        </p:txBody>
      </p:sp>
      <p:sp>
        <p:nvSpPr>
          <p:cNvPr id="11" name="Tema 3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200" dirty="0"/>
          </a:p>
        </p:txBody>
      </p:sp>
      <p:pic>
        <p:nvPicPr>
          <p:cNvPr id="12" name="Image 0" descr="3.A.2 · Del pensamiento económico de Keynes a la actualidad">
            <a:hlinkClick r:id="rId3" action="ppaction://hlinksldjump" tooltip="3.A.2 · Del pensamiento económico de Keynes a la actualida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5" name="Bloque conectado Modelo neoclásico básico"/>
          <p:cNvSpPr txBox="1"/>
          <p:nvPr/>
        </p:nvSpPr>
        <p:spPr>
          <a:xfrm>
            <a:off x="6530188" y="4178808"/>
            <a:ext cx="2359838" cy="411480"/>
          </a:xfrm>
          <a:prstGeom prst="rect">
            <a:avLst/>
          </a:prstGeom>
          <a:solidFill>
            <a:srgbClr val="92D050">
              <a:alpha val="45000"/>
            </a:srgbClr>
          </a:solidFill>
          <a:ln w="9525">
            <a:solidFill>
              <a:srgbClr val="50722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pic>
        <p:nvPicPr>
          <p:cNvPr id="16" name="Image 1" descr="Bloque Modelo neoclásico básico: ver en el esquema">
            <a:hlinkClick r:id="rId5" action="ppaction://hlinksldjump" tooltip="Bloque Modelo neoclásico bás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2359838" cy="411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manuelcabadogarcia.es/microeconomia/01-tema-a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1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9" name="Image 2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1" name="Image 3" descr="Esquema">
            <a:hlinkClick r:id="rId5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3" name="Image 4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pensamiento económico de Keynes a la actualidad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Pensamiento económico (II): de Keynes a la actualidad. Referencia a la Síntesis Neoclásica, al Monetarismo, a la Nueva Macroeconomía Clásica y a los modelos Neokeynesianos de primera y segunda generación.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75C4FF"/>
          </a:solidFill>
          <a:ln w="9525">
            <a:solidFill>
              <a:srgbClr val="406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del pensamiento económico</a:t>
            </a:r>
            <a:endParaRPr lang="en-US" sz="1700" dirty="0"/>
          </a:p>
        </p:txBody>
      </p:sp>
      <p:sp>
        <p:nvSpPr>
          <p:cNvPr id="10" name="Tema 3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</a:t>
            </a:r>
            <a:endParaRPr lang="en-US" sz="1200" dirty="0"/>
          </a:p>
        </p:txBody>
      </p:sp>
      <p:pic>
        <p:nvPicPr>
          <p:cNvPr id="11" name="Image 0" descr="3.A.1 · Pensamiento económico: clásicos y neoclásicos">
            <a:hlinkClick r:id="rId3" action="ppaction://hlinksldjump" tooltip="3.A.1 · Pensamiento económico: clásicos y neoclásic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75C4FF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5" name="Bloque conectado Modelo neoclásico básico"/>
          <p:cNvSpPr txBox="1"/>
          <p:nvPr/>
        </p:nvSpPr>
        <p:spPr>
          <a:xfrm>
            <a:off x="6530188" y="4178808"/>
            <a:ext cx="2359838" cy="411480"/>
          </a:xfrm>
          <a:prstGeom prst="rect">
            <a:avLst/>
          </a:prstGeom>
          <a:solidFill>
            <a:srgbClr val="92D050">
              <a:alpha val="45000"/>
            </a:srgbClr>
          </a:solidFill>
          <a:ln w="9525">
            <a:solidFill>
              <a:srgbClr val="50722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pic>
        <p:nvPicPr>
          <p:cNvPr id="16" name="Image 1" descr="Bloque Modelo neoclásico básico: ver en el esquema">
            <a:hlinkClick r:id="rId5" action="ppaction://hlinksldjump" tooltip="Bloque Modelo neoclásico bás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2359838" cy="411480"/>
          </a:xfrm>
          <a:prstGeom prst="rect">
            <a:avLst/>
          </a:prstGeom>
        </p:spPr>
      </p:pic>
      <p:sp>
        <p:nvSpPr>
          <p:cNvPr id="17" name="Bloque conectado Demanda Agregada y Oferta Agregada"/>
          <p:cNvSpPr txBox="1"/>
          <p:nvPr/>
        </p:nvSpPr>
        <p:spPr>
          <a:xfrm>
            <a:off x="9008897" y="4178808"/>
            <a:ext cx="2359838" cy="411480"/>
          </a:xfrm>
          <a:prstGeom prst="rect">
            <a:avLst/>
          </a:prstGeom>
          <a:solidFill>
            <a:srgbClr val="FF9999">
              <a:alpha val="45000"/>
            </a:srgbClr>
          </a:solidFill>
          <a:ln w="9525">
            <a:solidFill>
              <a:srgbClr val="CC7A7A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Agregada y Oferta Agregada</a:t>
            </a:r>
            <a:endParaRPr lang="en-US" sz="1100" dirty="0"/>
          </a:p>
        </p:txBody>
      </p:sp>
      <p:pic>
        <p:nvPicPr>
          <p:cNvPr id="18" name="Image 2" descr="Bloque Demanda Agregada y Oferta Agregada: ver en el esquema">
            <a:hlinkClick r:id="rId5" action="ppaction://hlinksldjump" tooltip="Bloque Demanda Agregada y Oferta Agregada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178808"/>
            <a:ext cx="2359838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manuelcabadogarcia.es/microeconomia/02-tema-a2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1" name="Image 3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3" name="Image 4" descr="Esquema">
            <a:hlinkClick r:id="rId5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5" name="Image 5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demanda del consumidor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demanda del consumidor. Axiomas sobre las preferencias, función de utilidad y función de demanda marshalliana. Otros desarrollos.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2D050"/>
          </a:solidFill>
          <a:ln w="9525">
            <a:solidFill>
              <a:srgbClr val="507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neoclásico básico</a:t>
            </a:r>
            <a:endParaRPr lang="en-US" sz="1700" dirty="0"/>
          </a:p>
        </p:txBody>
      </p:sp>
      <p:sp>
        <p:nvSpPr>
          <p:cNvPr id="10" name="Tema 3.A.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2D05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200" dirty="0"/>
          </a:p>
        </p:txBody>
      </p:sp>
      <p:sp>
        <p:nvSpPr>
          <p:cNvPr id="11" name="Tema 3.A.4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200" dirty="0"/>
          </a:p>
        </p:txBody>
      </p:sp>
      <p:pic>
        <p:nvPicPr>
          <p:cNvPr id="12" name="Image 0" descr="3.A.4 · Dualidad y elección en situaciones de riesgo">
            <a:hlinkClick r:id="rId3" action="ppaction://hlinksldjump" tooltip="3.A.4 · Dualidad y elección en situaciones de riesg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3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pic>
        <p:nvPicPr>
          <p:cNvPr id="14" name="Image 1" descr="3.A.5 · Teoría de la producción">
            <a:hlinkClick r:id="rId5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200" dirty="0"/>
          </a:p>
        </p:txBody>
      </p:sp>
      <p:pic>
        <p:nvPicPr>
          <p:cNvPr id="16" name="Image 2" descr="3.A.6 · Teoría de los costes">
            <a:hlinkClick r:id="rId6" action="ppaction://hlinksldjump" tooltip="3.A.6 · Teoría de los cost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200" dirty="0"/>
          </a:p>
        </p:txBody>
      </p:sp>
      <p:pic>
        <p:nvPicPr>
          <p:cNvPr id="18" name="Image 3" descr="3.A.7 · El modelo de competencia perfecta">
            <a:hlinkClick r:id="rId7" action="ppaction://hlinksldjump" tooltip="3.A.7 · El modelo de competencia perfect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200" dirty="0"/>
          </a:p>
        </p:txBody>
      </p:sp>
      <p:pic>
        <p:nvPicPr>
          <p:cNvPr id="22" name="Image 4" descr="3.A.4 · Dualidad y elección en situaciones de riesgo">
            <a:hlinkClick r:id="rId3" action="ppaction://hlinksldjump" tooltip="3.A.4 · Dualidad y elección en situaciones de riesg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Bloque conectado Historia del pensamiento económ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75C4FF">
              <a:alpha val="45000"/>
            </a:srgbClr>
          </a:solidFill>
          <a:ln w="9525">
            <a:solidFill>
              <a:srgbClr val="406C8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pensamiento económico</a:t>
            </a:r>
            <a:endParaRPr lang="en-US" sz="1100" dirty="0"/>
          </a:p>
        </p:txBody>
      </p:sp>
      <p:pic>
        <p:nvPicPr>
          <p:cNvPr id="24" name="Image 5" descr="Bloque Historia del pensamiento económico: ver en el esquema">
            <a:hlinkClick r:id="rId8" action="ppaction://hlinksldjump" tooltip="Bloque Historia del pensamiento económ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5" name="Bloque conectado Información y poder de mercad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26" name="Image 6" descr="Bloque Información y poder de mercado: ver en el esquema">
            <a:hlinkClick r:id="rId8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tooltip="https://manuelcabadogarcia.es/microeconomia/03-tema-a3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Dualidad y elección en situaciones de riesgo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Desarrollos de la teoría de la demanda: dualidad. Referencia a la integrabilidad de las preferencias y medidas de cambio en el bienestar. Elección en situaciones de riesgo. Otros desarrollos recientes.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2D050"/>
          </a:solidFill>
          <a:ln w="9525">
            <a:solidFill>
              <a:srgbClr val="507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neoclásico básico</a:t>
            </a:r>
            <a:endParaRPr lang="en-US" sz="1700" dirty="0"/>
          </a:p>
        </p:txBody>
      </p:sp>
      <p:sp>
        <p:nvSpPr>
          <p:cNvPr id="10" name="Tema 3.A.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200" dirty="0"/>
          </a:p>
        </p:txBody>
      </p:sp>
      <p:pic>
        <p:nvPicPr>
          <p:cNvPr id="11" name="Image 0" descr="3.A.3 · Teoría de la demanda del consumidor">
            <a:hlinkClick r:id="rId3" action="ppaction://hlinksldjump" tooltip="3.A.3 · Teoría de la demanda del consumido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4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2D05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200" dirty="0"/>
          </a:p>
        </p:txBody>
      </p:sp>
      <p:sp>
        <p:nvSpPr>
          <p:cNvPr id="13" name="Tema 3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pic>
        <p:nvPicPr>
          <p:cNvPr id="14" name="Image 1" descr="3.A.5 · Teoría de la producción">
            <a:hlinkClick r:id="rId5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200" dirty="0"/>
          </a:p>
        </p:txBody>
      </p:sp>
      <p:pic>
        <p:nvPicPr>
          <p:cNvPr id="16" name="Image 2" descr="3.A.6 · Teoría de los costes">
            <a:hlinkClick r:id="rId6" action="ppaction://hlinksldjump" tooltip="3.A.6 · Teoría de los cost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200" dirty="0"/>
          </a:p>
        </p:txBody>
      </p:sp>
      <p:pic>
        <p:nvPicPr>
          <p:cNvPr id="18" name="Image 3" descr="3.A.7 · El modelo de competencia perfecta">
            <a:hlinkClick r:id="rId7" action="ppaction://hlinksldjump" tooltip="3.A.7 · El modelo de competencia perfect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3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200" dirty="0"/>
          </a:p>
        </p:txBody>
      </p:sp>
      <p:pic>
        <p:nvPicPr>
          <p:cNvPr id="22" name="Image 4" descr="3.A.3 · Teoría de la demanda del consumidor">
            <a:hlinkClick r:id="rId3" action="ppaction://hlinksldjump" tooltip="3.A.3 · Teoría de la demanda del consumido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Bloque conectado Historia del pensamiento económ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75C4FF">
              <a:alpha val="45000"/>
            </a:srgbClr>
          </a:solidFill>
          <a:ln w="9525">
            <a:solidFill>
              <a:srgbClr val="406C8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pensamiento económico</a:t>
            </a:r>
            <a:endParaRPr lang="en-US" sz="1100" dirty="0"/>
          </a:p>
        </p:txBody>
      </p:sp>
      <p:pic>
        <p:nvPicPr>
          <p:cNvPr id="24" name="Image 5" descr="Bloque Historia del pensamiento económico: ver en el esquema">
            <a:hlinkClick r:id="rId8" action="ppaction://hlinksldjump" tooltip="Bloque Historia del pensamiento económ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5" name="Bloque conectado Información y poder de mercad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26" name="Image 6" descr="Bloque Información y poder de mercado: ver en el esquema">
            <a:hlinkClick r:id="rId8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tooltip="https://manuelcabadogarcia.es/microeconomia/04-tema-a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producción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producción. Caracterización de la tecnología de la empresa en el corto y el largo plazo. El conjunto de posibilidades de producción. La función de producción. Rendimientos locales y globales a escala. Elasticidad de sustitución. Producción conjunta.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2D050"/>
          </a:solidFill>
          <a:ln w="9525">
            <a:solidFill>
              <a:srgbClr val="507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neoclásico básico</a:t>
            </a:r>
            <a:endParaRPr lang="en-US" sz="1700" dirty="0"/>
          </a:p>
        </p:txBody>
      </p:sp>
      <p:sp>
        <p:nvSpPr>
          <p:cNvPr id="10" name="Tema 3.A.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200" dirty="0"/>
          </a:p>
        </p:txBody>
      </p:sp>
      <p:pic>
        <p:nvPicPr>
          <p:cNvPr id="11" name="Image 0" descr="3.A.3 · Teoría de la demanda del consumidor">
            <a:hlinkClick r:id="rId3" action="ppaction://hlinksldjump" tooltip="3.A.3 · Teoría de la demanda del consumido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4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200" dirty="0"/>
          </a:p>
        </p:txBody>
      </p:sp>
      <p:pic>
        <p:nvPicPr>
          <p:cNvPr id="13" name="Image 1" descr="3.A.4 · Dualidad y elección en situaciones de riesgo">
            <a:hlinkClick r:id="rId5" action="ppaction://hlinksldjump" tooltip="3.A.4 · Dualidad y elección en situaciones de riesg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2D05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sp>
        <p:nvSpPr>
          <p:cNvPr id="15" name="Tema 3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200" dirty="0"/>
          </a:p>
        </p:txBody>
      </p:sp>
      <p:pic>
        <p:nvPicPr>
          <p:cNvPr id="16" name="Image 2" descr="3.A.6 · Teoría de los costes">
            <a:hlinkClick r:id="rId6" action="ppaction://hlinksldjump" tooltip="3.A.6 · Teoría de los cost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200" dirty="0"/>
          </a:p>
        </p:txBody>
      </p:sp>
      <p:pic>
        <p:nvPicPr>
          <p:cNvPr id="18" name="Image 3" descr="3.A.7 · El modelo de competencia perfecta">
            <a:hlinkClick r:id="rId7" action="ppaction://hlinksldjump" tooltip="3.A.7 · El modelo de competencia perfect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6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200" dirty="0"/>
          </a:p>
        </p:txBody>
      </p:sp>
      <p:pic>
        <p:nvPicPr>
          <p:cNvPr id="22" name="Image 4" descr="3.A.6 · Teoría de los costes">
            <a:hlinkClick r:id="rId6" action="ppaction://hlinksldjump" tooltip="3.A.6 · Teoría de los cost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Bloque conectado Historia del pensamiento económ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75C4FF">
              <a:alpha val="45000"/>
            </a:srgbClr>
          </a:solidFill>
          <a:ln w="9525">
            <a:solidFill>
              <a:srgbClr val="406C8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pensamiento económico</a:t>
            </a:r>
            <a:endParaRPr lang="en-US" sz="1100" dirty="0"/>
          </a:p>
        </p:txBody>
      </p:sp>
      <p:pic>
        <p:nvPicPr>
          <p:cNvPr id="24" name="Image 5" descr="Bloque Historia del pensamiento económico: ver en el esquema">
            <a:hlinkClick r:id="rId8" action="ppaction://hlinksldjump" tooltip="Bloque Historia del pensamiento económ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5" name="Bloque conectado Información y poder de mercad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26" name="Image 6" descr="Bloque Información y poder de mercado: ver en el esquema">
            <a:hlinkClick r:id="rId8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7" name="Bloque conectado Mercado de trabajo"/>
          <p:cNvSpPr txBox="1"/>
          <p:nvPr/>
        </p:nvSpPr>
        <p:spPr>
          <a:xfrm>
            <a:off x="6530188" y="5239512"/>
            <a:ext cx="2359838" cy="411480"/>
          </a:xfrm>
          <a:prstGeom prst="rect">
            <a:avLst/>
          </a:prstGeom>
          <a:solidFill>
            <a:srgbClr val="C6E0B4">
              <a:alpha val="45000"/>
            </a:srgbClr>
          </a:solidFill>
          <a:ln w="9525">
            <a:solidFill>
              <a:srgbClr val="6D7B63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trabajo</a:t>
            </a:r>
            <a:endParaRPr lang="en-US" sz="1100" dirty="0"/>
          </a:p>
        </p:txBody>
      </p:sp>
      <p:pic>
        <p:nvPicPr>
          <p:cNvPr id="28" name="Image 7" descr="Bloque Mercado de trabajo: ver en el esquema">
            <a:hlinkClick r:id="rId8" action="ppaction://hlinksldjump" tooltip="Bloque Mercado de trabaj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5239512"/>
            <a:ext cx="2359838" cy="41148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tooltip="https://manuelcabadogarcia.es/microeconomia/05-tema-a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1" name="Image 8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3" name="Image 9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5" name="Image 10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los costes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los costes. Análisis de la dualidad en el ámbito de la empresa. Análisis temporal. Otros desarrollos.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2D050"/>
          </a:solidFill>
          <a:ln w="9525">
            <a:solidFill>
              <a:srgbClr val="507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neoclásico básico</a:t>
            </a:r>
            <a:endParaRPr lang="en-US" sz="1700" dirty="0"/>
          </a:p>
        </p:txBody>
      </p:sp>
      <p:sp>
        <p:nvSpPr>
          <p:cNvPr id="10" name="Tema 3.A.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200" dirty="0"/>
          </a:p>
        </p:txBody>
      </p:sp>
      <p:pic>
        <p:nvPicPr>
          <p:cNvPr id="11" name="Image 0" descr="3.A.3 · Teoría de la demanda del consumidor">
            <a:hlinkClick r:id="rId3" action="ppaction://hlinksldjump" tooltip="3.A.3 · Teoría de la demanda del consumido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4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200" dirty="0"/>
          </a:p>
        </p:txBody>
      </p:sp>
      <p:pic>
        <p:nvPicPr>
          <p:cNvPr id="13" name="Image 1" descr="3.A.4 · Dualidad y elección en situaciones de riesgo">
            <a:hlinkClick r:id="rId5" action="ppaction://hlinksldjump" tooltip="3.A.4 · Dualidad y elección en situaciones de riesg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pic>
        <p:nvPicPr>
          <p:cNvPr id="15" name="Image 2" descr="3.A.5 · Teoría de la producción">
            <a:hlinkClick r:id="rId6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2D05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200" dirty="0"/>
          </a:p>
        </p:txBody>
      </p:sp>
      <p:sp>
        <p:nvSpPr>
          <p:cNvPr id="17" name="Tema 3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200" dirty="0"/>
          </a:p>
        </p:txBody>
      </p:sp>
      <p:pic>
        <p:nvPicPr>
          <p:cNvPr id="18" name="Image 3" descr="3.A.7 · El modelo de competencia perfecta">
            <a:hlinkClick r:id="rId7" action="ppaction://hlinksldjump" tooltip="3.A.7 · El modelo de competencia perfect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5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pic>
        <p:nvPicPr>
          <p:cNvPr id="22" name="Image 4" descr="3.A.5 · Teoría de la producción">
            <a:hlinkClick r:id="rId6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Bloque conectado Historia del pensamiento económ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75C4FF">
              <a:alpha val="45000"/>
            </a:srgbClr>
          </a:solidFill>
          <a:ln w="9525">
            <a:solidFill>
              <a:srgbClr val="406C8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pensamiento económico</a:t>
            </a:r>
            <a:endParaRPr lang="en-US" sz="1100" dirty="0"/>
          </a:p>
        </p:txBody>
      </p:sp>
      <p:pic>
        <p:nvPicPr>
          <p:cNvPr id="24" name="Image 5" descr="Bloque Historia del pensamiento económico: ver en el esquema">
            <a:hlinkClick r:id="rId8" action="ppaction://hlinksldjump" tooltip="Bloque Historia del pensamiento económ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5" name="Bloque conectado Información y poder de mercad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26" name="Image 6" descr="Bloque Información y poder de mercado: ver en el esquema">
            <a:hlinkClick r:id="rId8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tooltip="https://manuelcabadogarcia.es/microeconomia/06-tema-a6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competencia perfecta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mercados (I). El modelo de competencia perfecta. Análisis de equilibrio parcial: corto y largo plazo, dinámicas de ajuste y estabilidad del equilibrio. Análisis de eficiencia y bienestar.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2D050"/>
          </a:solidFill>
          <a:ln w="9525">
            <a:solidFill>
              <a:srgbClr val="507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neoclásico básico</a:t>
            </a:r>
            <a:endParaRPr lang="en-US" sz="1700" dirty="0"/>
          </a:p>
        </p:txBody>
      </p:sp>
      <p:sp>
        <p:nvSpPr>
          <p:cNvPr id="10" name="Tema 3.A.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3.A.3</a:t>
            </a:r>
            <a:endParaRPr lang="en-US" sz="1200" dirty="0"/>
          </a:p>
        </p:txBody>
      </p:sp>
      <p:pic>
        <p:nvPicPr>
          <p:cNvPr id="11" name="Image 0" descr="3.A.3 · Teoría de la demanda del consumidor">
            <a:hlinkClick r:id="rId3" action="ppaction://hlinksldjump" tooltip="3.A.3 · Teoría de la demanda del consumido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4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3.A.4</a:t>
            </a:r>
            <a:endParaRPr lang="en-US" sz="1200" dirty="0"/>
          </a:p>
        </p:txBody>
      </p:sp>
      <p:pic>
        <p:nvPicPr>
          <p:cNvPr id="13" name="Image 1" descr="3.A.4 · Dualidad y elección en situaciones de riesgo">
            <a:hlinkClick r:id="rId5" action="ppaction://hlinksldjump" tooltip="3.A.4 · Dualidad y elección en situaciones de riesg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pic>
        <p:nvPicPr>
          <p:cNvPr id="15" name="Image 2" descr="3.A.5 · Teoría de la producción">
            <a:hlinkClick r:id="rId6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3.A.6</a:t>
            </a:r>
            <a:endParaRPr lang="en-US" sz="1200" dirty="0"/>
          </a:p>
        </p:txBody>
      </p:sp>
      <p:pic>
        <p:nvPicPr>
          <p:cNvPr id="17" name="Image 3" descr="3.A.6 · Teoría de los costes">
            <a:hlinkClick r:id="rId7" action="ppaction://hlinksldjump" tooltip="3.A.6 · Teoría de los cost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2D05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8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22" name="Image 4" descr="3.A.8 · Teoría del monopolio y su regulación">
            <a:hlinkClick r:id="rId8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Bloque conectado Historia del pensamiento económ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75C4FF">
              <a:alpha val="45000"/>
            </a:srgbClr>
          </a:solidFill>
          <a:ln w="9525">
            <a:solidFill>
              <a:srgbClr val="406C8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pensamiento económico</a:t>
            </a:r>
            <a:endParaRPr lang="en-US" sz="1100" dirty="0"/>
          </a:p>
        </p:txBody>
      </p:sp>
      <p:pic>
        <p:nvPicPr>
          <p:cNvPr id="24" name="Image 5" descr="Bloque Historia del pensamiento económico: ver en el esquema">
            <a:hlinkClick r:id="rId9" action="ppaction://hlinksldjump" tooltip="Bloque Historia del pensamiento económ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5" name="Bloque conectado Información y poder de mercad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26" name="Image 6" descr="Bloque Información y poder de mercado: ver en el esquema">
            <a:hlinkClick r:id="rId9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icroeconomia/07-tema-a7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del monopolio y su regulación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mercados (II). Teoría del monopolio. Discriminación de precios. Monopolio natural. Análisis de eficiencia y bienestar. La regulación del monopolio.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CC00"/>
          </a:solidFill>
          <a:ln w="9525">
            <a:solidFill>
              <a:srgbClr val="00A3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y poder de mercado</a:t>
            </a:r>
            <a:endParaRPr lang="en-US" sz="1700" dirty="0"/>
          </a:p>
        </p:txBody>
      </p:sp>
      <p:sp>
        <p:nvSpPr>
          <p:cNvPr id="10" name="Tema 3.A.8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CC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sp>
        <p:nvSpPr>
          <p:cNvPr id="11" name="Tema 3.A.9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pic>
        <p:nvPicPr>
          <p:cNvPr id="12" name="Image 0" descr="3.A.9 · Teoría del oligopolio. Análisis mediante la teoría de juegos">
            <a:hlinkClick r:id="rId3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3.A.10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200" dirty="0"/>
          </a:p>
        </p:txBody>
      </p:sp>
      <p:pic>
        <p:nvPicPr>
          <p:cNvPr id="14" name="Image 1" descr="3.A.10 · Teoría de la competencia monopolística">
            <a:hlinkClick r:id="rId5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A.13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200" dirty="0"/>
          </a:p>
        </p:txBody>
      </p:sp>
      <p:pic>
        <p:nvPicPr>
          <p:cNvPr id="16" name="Image 2" descr="3.A.13 · Economía de la información y teoría de la agencia">
            <a:hlinkClick r:id="rId6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200" dirty="0"/>
          </a:p>
        </p:txBody>
      </p:sp>
      <p:pic>
        <p:nvPicPr>
          <p:cNvPr id="18" name="Image 3" descr="3.A.18 · Poder de mercado y regulación óptima">
            <a:hlinkClick r:id="rId7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7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3.A.7</a:t>
            </a:r>
            <a:endParaRPr lang="en-US" sz="1200" dirty="0"/>
          </a:p>
        </p:txBody>
      </p:sp>
      <p:pic>
        <p:nvPicPr>
          <p:cNvPr id="22" name="Image 4" descr="3.A.7 · El modelo de competencia perfecta">
            <a:hlinkClick r:id="rId8" action="ppaction://hlinksldjump" tooltip="3.A.7 · El modelo de competencia perfect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A.9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pic>
        <p:nvPicPr>
          <p:cNvPr id="24" name="Image 5" descr="3.A.9 · Teoría del oligopolio. Análisis mediante la teoría de juegos">
            <a:hlinkClick r:id="rId3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Tema 3.A.18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200" dirty="0"/>
          </a:p>
        </p:txBody>
      </p:sp>
      <p:pic>
        <p:nvPicPr>
          <p:cNvPr id="26" name="Image 6" descr="3.A.18 · Poder de mercado y regulación óptima">
            <a:hlinkClick r:id="rId7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7" name="Tema 3.A.11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200" dirty="0"/>
          </a:p>
        </p:txBody>
      </p:sp>
      <p:pic>
        <p:nvPicPr>
          <p:cNvPr id="28" name="Image 7" descr="3.A.11 · Teorías microeconómicas del mercado de trabajo (I)">
            <a:hlinkClick r:id="rId9" action="ppaction://hlinksldjump" tooltip="3.A.11 · Teorías microeconómicas del mercado de trabajo (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29" name="Bloque conectado Modelo neoclásico bás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2D050">
              <a:alpha val="45000"/>
            </a:srgbClr>
          </a:solidFill>
          <a:ln w="9525">
            <a:solidFill>
              <a:srgbClr val="50722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pic>
        <p:nvPicPr>
          <p:cNvPr id="30" name="Image 8" descr="Bloque Modelo neoclásico básico: ver en el esquema">
            <a:hlinkClick r:id="rId10" action="ppaction://hlinksldjump" tooltip="Bloque Modelo neoclásico bás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1" name="Bloque conectado Economía del Bienestar y Sector Públic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9900">
              <a:alpha val="45000"/>
            </a:srgbClr>
          </a:solidFill>
          <a:ln w="9525">
            <a:solidFill>
              <a:srgbClr val="0099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Bienestar y Sector Público</a:t>
            </a:r>
            <a:endParaRPr lang="en-US" sz="1100" dirty="0"/>
          </a:p>
        </p:txBody>
      </p:sp>
      <p:pic>
        <p:nvPicPr>
          <p:cNvPr id="32" name="Image 9" descr="Bloque Economía del Bienestar y Sector Público: ver en el esquema">
            <a:hlinkClick r:id="rId10" action="ppaction://hlinksldjump" tooltip="Bloque Economía del Bienestar y Sector Públ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tooltip="https://manuelcabadogarcia.es/microeconomia/08-tema-a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2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3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9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del oligopolio. Análisis mediante la teoría de juegos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mercados (III). Teoría del oligopolio: soluciones no cooperativas y soluciones cooperativas. Análisis mediante la aplicación de la teoría de juegos.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CC00"/>
          </a:solidFill>
          <a:ln w="9525">
            <a:solidFill>
              <a:srgbClr val="00A3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y poder de mercado</a:t>
            </a:r>
            <a:endParaRPr lang="en-US" sz="1700" dirty="0"/>
          </a:p>
        </p:txBody>
      </p:sp>
      <p:sp>
        <p:nvSpPr>
          <p:cNvPr id="10" name="Tema 3.A.8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11" name="Image 0" descr="3.A.8 · Teoría del monopolio y su regulación">
            <a:hlinkClick r:id="rId3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9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CC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sp>
        <p:nvSpPr>
          <p:cNvPr id="13" name="Tema 3.A.10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200" dirty="0"/>
          </a:p>
        </p:txBody>
      </p:sp>
      <p:pic>
        <p:nvPicPr>
          <p:cNvPr id="14" name="Image 1" descr="3.A.10 · Teoría de la competencia monopolística">
            <a:hlinkClick r:id="rId5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A.13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200" dirty="0"/>
          </a:p>
        </p:txBody>
      </p:sp>
      <p:pic>
        <p:nvPicPr>
          <p:cNvPr id="16" name="Image 2" descr="3.A.13 · Economía de la información y teoría de la agencia">
            <a:hlinkClick r:id="rId6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200" dirty="0"/>
          </a:p>
        </p:txBody>
      </p:sp>
      <p:pic>
        <p:nvPicPr>
          <p:cNvPr id="18" name="Image 3" descr="3.A.18 · Poder de mercado y regulación óptima">
            <a:hlinkClick r:id="rId7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8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22" name="Image 4" descr="3.A.8 · Teoría del monopolio y su regulación">
            <a:hlinkClick r:id="rId3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A.10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200" dirty="0"/>
          </a:p>
        </p:txBody>
      </p:sp>
      <p:pic>
        <p:nvPicPr>
          <p:cNvPr id="24" name="Image 5" descr="3.A.10 · Teoría de la competencia monopolística">
            <a:hlinkClick r:id="rId5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Tema 3.B.17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200" dirty="0"/>
          </a:p>
        </p:txBody>
      </p:sp>
      <p:pic>
        <p:nvPicPr>
          <p:cNvPr id="26" name="Image 6" descr="3.B.17 · La política comercial estratégica.">
            <a:hlinkClick r:id="rId8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7" name="Bloque conectado Modelo neoclásico bás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2D050">
              <a:alpha val="45000"/>
            </a:srgbClr>
          </a:solidFill>
          <a:ln w="9525">
            <a:solidFill>
              <a:srgbClr val="50722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pic>
        <p:nvPicPr>
          <p:cNvPr id="28" name="Image 7" descr="Bloque Modelo neoclásico básico: ver en el esquema">
            <a:hlinkClick r:id="rId9" action="ppaction://hlinksldjump" tooltip="Bloque Modelo neoclásico bás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9" name="Bloque conectado Economía del Bienestar y Sector Públic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9900">
              <a:alpha val="45000"/>
            </a:srgbClr>
          </a:solidFill>
          <a:ln w="9525">
            <a:solidFill>
              <a:srgbClr val="0099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Bienestar y Sector Público</a:t>
            </a:r>
            <a:endParaRPr lang="en-US" sz="1100" dirty="0"/>
          </a:p>
        </p:txBody>
      </p:sp>
      <p:pic>
        <p:nvPicPr>
          <p:cNvPr id="30" name="Image 8" descr="Bloque Economía del Bienestar y Sector Público: ver en el esquema">
            <a:hlinkClick r:id="rId9" action="ppaction://hlinksldjump" tooltip="Bloque Economía del Bienestar y Sector Públ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icroeconomia/09-tema-a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3" name="Image 9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5" name="Image 10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7" name="Image 11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0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competencia monopolística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mercados (IV). Diferenciación de productos. La competencia monopolística y otros desarrollos.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CC00"/>
          </a:solidFill>
          <a:ln w="9525">
            <a:solidFill>
              <a:srgbClr val="00A3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y poder de mercado</a:t>
            </a:r>
            <a:endParaRPr lang="en-US" sz="1700" dirty="0"/>
          </a:p>
        </p:txBody>
      </p:sp>
      <p:sp>
        <p:nvSpPr>
          <p:cNvPr id="10" name="Tema 3.A.8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11" name="Image 0" descr="3.A.8 · Teoría del monopolio y su regulación">
            <a:hlinkClick r:id="rId3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9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pic>
        <p:nvPicPr>
          <p:cNvPr id="13" name="Image 1" descr="3.A.9 · Teoría del oligopolio. Análisis mediante la teoría de juegos">
            <a:hlinkClick r:id="rId5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0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CC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200" dirty="0"/>
          </a:p>
        </p:txBody>
      </p:sp>
      <p:sp>
        <p:nvSpPr>
          <p:cNvPr id="15" name="Tema 3.A.13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200" dirty="0"/>
          </a:p>
        </p:txBody>
      </p:sp>
      <p:pic>
        <p:nvPicPr>
          <p:cNvPr id="16" name="Image 2" descr="3.A.13 · Economía de la información y teoría de la agencia">
            <a:hlinkClick r:id="rId6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200" dirty="0"/>
          </a:p>
        </p:txBody>
      </p:sp>
      <p:pic>
        <p:nvPicPr>
          <p:cNvPr id="18" name="Image 3" descr="3.A.18 · Poder de mercado y regulación óptima">
            <a:hlinkClick r:id="rId7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pic>
        <p:nvPicPr>
          <p:cNvPr id="22" name="Image 4" descr="3.A.9 · Teoría del oligopolio. Análisis mediante la teoría de juegos">
            <a:hlinkClick r:id="rId5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B.15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200" dirty="0"/>
          </a:p>
        </p:txBody>
      </p:sp>
      <p:pic>
        <p:nvPicPr>
          <p:cNvPr id="24" name="Image 5" descr="3.B.15 · Nuevos desarrollos de la teoría del Comercio Internacional.">
            <a:hlinkClick r:id="rId8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Modelo neoclásico bás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2D050">
              <a:alpha val="45000"/>
            </a:srgbClr>
          </a:solidFill>
          <a:ln w="9525">
            <a:solidFill>
              <a:srgbClr val="50722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pic>
        <p:nvPicPr>
          <p:cNvPr id="26" name="Image 6" descr="Bloque Modelo neoclásico básico: ver en el esquema">
            <a:hlinkClick r:id="rId9" action="ppaction://hlinksldjump" tooltip="Bloque Modelo neoclásico bás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Bloque conectado Economía del Bienestar y Sector Públic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9900">
              <a:alpha val="45000"/>
            </a:srgbClr>
          </a:solidFill>
          <a:ln w="9525">
            <a:solidFill>
              <a:srgbClr val="0099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Bienestar y Sector Público</a:t>
            </a:r>
            <a:endParaRPr lang="en-US" sz="1100" dirty="0"/>
          </a:p>
        </p:txBody>
      </p:sp>
      <p:pic>
        <p:nvPicPr>
          <p:cNvPr id="28" name="Image 7" descr="Bloque Economía del Bienestar y Sector Público: ver en el esquema">
            <a:hlinkClick r:id="rId9" action="ppaction://hlinksldjump" tooltip="Bloque Economía del Bienestar y Sector Públ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icroeconomia/10-tema-a1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1" name="Image 8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3" name="Image 9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5" name="Image 10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microeconómicas del mercado de trabajo (I)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microeconómicas del mercado de trabajo (I). La teoría neoclásica del mercado de trabajo. Análisis intertemporal de la oferta de trabajo. Teoría del capital humano.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C6E0B4"/>
          </a:solidFill>
          <a:ln w="9525">
            <a:solidFill>
              <a:srgbClr val="6D7B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trabajo</a:t>
            </a:r>
            <a:endParaRPr lang="en-US" sz="1700" dirty="0"/>
          </a:p>
        </p:txBody>
      </p:sp>
      <p:sp>
        <p:nvSpPr>
          <p:cNvPr id="10" name="Tema 3.A.1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C6E0B4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200" dirty="0"/>
          </a:p>
        </p:txBody>
      </p:sp>
      <p:sp>
        <p:nvSpPr>
          <p:cNvPr id="11" name="Tema 3.A.1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3.A.12</a:t>
            </a:r>
            <a:endParaRPr lang="en-US" sz="1200" dirty="0"/>
          </a:p>
        </p:txBody>
      </p:sp>
      <p:pic>
        <p:nvPicPr>
          <p:cNvPr id="12" name="Image 0" descr="3.A.12 · Teorías microeconómicas del mercado de trabajo (II)">
            <a:hlinkClick r:id="rId3" action="ppaction://hlinksldjump" tooltip="3.A.12 · Teorías microeconómicas del mercado de trabajo (I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5" name="Tema 3.A.1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3.A.12</a:t>
            </a:r>
            <a:endParaRPr lang="en-US" sz="1200" dirty="0"/>
          </a:p>
        </p:txBody>
      </p:sp>
      <p:pic>
        <p:nvPicPr>
          <p:cNvPr id="16" name="Image 1" descr="3.A.12 · Teorías microeconómicas del mercado de trabajo (II)">
            <a:hlinkClick r:id="rId3" action="ppaction://hlinksldjump" tooltip="3.A.12 · Teorías microeconómicas del mercado de trabajo (I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7" name="Tema 3.A.5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pic>
        <p:nvPicPr>
          <p:cNvPr id="18" name="Image 2" descr="3.A.5 · Teoría de la producción">
            <a:hlinkClick r:id="rId5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9" name="Tema 3.B.11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0" name="Image 3" descr="3.B.11 · Análisis macroeconómico del mercado de trabajo.">
            <a:hlinkClick r:id="rId6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1" name="Tema 3.A.8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22" name="Image 4" descr="3.A.8 · Teoría del monopolio y su regulación">
            <a:hlinkClick r:id="rId7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23" name="Tema 3.A.21"/>
          <p:cNvSpPr txBox="1"/>
          <p:nvPr/>
        </p:nvSpPr>
        <p:spPr>
          <a:xfrm>
            <a:off x="10480396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4" name="Image 5" descr="3.A.21 · Imposición y oferta.">
            <a:hlinkClick r:id="rId8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396" y="4178808"/>
            <a:ext cx="868680" cy="3657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tooltip="https://manuelcabadogarcia.es/microeconomia/11-tema-a1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7" name="Image 6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9" name="Image 7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1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microeconómicas del mercado de trabajo (II)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microeconómicas del mercado de trabajo (II). La curva de Beveridge, el modelo de búsqueda y emparejamiento y costes de ajuste. Mención a los modelos de negociación, salarios de eficiencia y contratos implícitos.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C6E0B4"/>
          </a:solidFill>
          <a:ln w="9525">
            <a:solidFill>
              <a:srgbClr val="6D7B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trabajo</a:t>
            </a:r>
            <a:endParaRPr lang="en-US" sz="1700" dirty="0"/>
          </a:p>
        </p:txBody>
      </p:sp>
      <p:sp>
        <p:nvSpPr>
          <p:cNvPr id="10" name="Tema 3.A.1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200" dirty="0"/>
          </a:p>
        </p:txBody>
      </p:sp>
      <p:pic>
        <p:nvPicPr>
          <p:cNvPr id="11" name="Image 0" descr="3.A.11 · Teorías microeconómicas del mercado de trabajo (I)">
            <a:hlinkClick r:id="rId3" action="ppaction://hlinksldjump" tooltip="3.A.11 · Teorías microeconómicas del mercado de trabajo (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C6E0B4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5" name="Tema 3.A.1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200" dirty="0"/>
          </a:p>
        </p:txBody>
      </p:sp>
      <p:pic>
        <p:nvPicPr>
          <p:cNvPr id="16" name="Image 1" descr="3.A.11 · Teorías microeconómicas del mercado de trabajo (I)">
            <a:hlinkClick r:id="rId3" action="ppaction://hlinksldjump" tooltip="3.A.11 · Teorías microeconómicas del mercado de trabajo (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7" name="Tema 3.A.5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3.A.5</a:t>
            </a:r>
            <a:endParaRPr lang="en-US" sz="1200" dirty="0"/>
          </a:p>
        </p:txBody>
      </p:sp>
      <p:pic>
        <p:nvPicPr>
          <p:cNvPr id="18" name="Image 2" descr="3.A.5 · Teoría de la producción">
            <a:hlinkClick r:id="rId5" action="ppaction://hlinksldjump" tooltip="3.A.5 · Teoría de la produc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9" name="Tema 3.A.13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200" dirty="0"/>
          </a:p>
        </p:txBody>
      </p:sp>
      <p:pic>
        <p:nvPicPr>
          <p:cNvPr id="20" name="Image 3" descr="3.A.13 · Economía de la información y teoría de la agencia">
            <a:hlinkClick r:id="rId6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1" name="Tema 3.B.11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2" name="Image 4" descr="3.B.11 · Análisis macroeconómico del mercado de trabajo.">
            <a:hlinkClick r:id="rId7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tooltip="https://manuelcabadogarcia.es/microeconomia/12-tema-a12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6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7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 la información y teoría de la agencia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 la información y teoría de la agencia: selección adversa y riesgo moral.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CC00"/>
          </a:solidFill>
          <a:ln w="9525">
            <a:solidFill>
              <a:srgbClr val="00A3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y poder de mercado</a:t>
            </a:r>
            <a:endParaRPr lang="en-US" sz="1700" dirty="0"/>
          </a:p>
        </p:txBody>
      </p:sp>
      <p:sp>
        <p:nvSpPr>
          <p:cNvPr id="10" name="Tema 3.A.8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11" name="Image 0" descr="3.A.8 · Teoría del monopolio y su regulación">
            <a:hlinkClick r:id="rId3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9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pic>
        <p:nvPicPr>
          <p:cNvPr id="13" name="Image 1" descr="3.A.9 · Teoría del oligopolio. Análisis mediante la teoría de juegos">
            <a:hlinkClick r:id="rId5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0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200" dirty="0"/>
          </a:p>
        </p:txBody>
      </p:sp>
      <p:pic>
        <p:nvPicPr>
          <p:cNvPr id="15" name="Image 2" descr="3.A.10 · Teoría de la competencia monopolística">
            <a:hlinkClick r:id="rId6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13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CC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200" dirty="0"/>
          </a:p>
        </p:txBody>
      </p:sp>
      <p:sp>
        <p:nvSpPr>
          <p:cNvPr id="17" name="Tema 3.A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200" dirty="0"/>
          </a:p>
        </p:txBody>
      </p:sp>
      <p:pic>
        <p:nvPicPr>
          <p:cNvPr id="18" name="Image 3" descr="3.A.18 · Poder de mercado y regulación óptima">
            <a:hlinkClick r:id="rId7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18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200" dirty="0"/>
          </a:p>
        </p:txBody>
      </p:sp>
      <p:pic>
        <p:nvPicPr>
          <p:cNvPr id="22" name="Image 4" descr="3.A.18 · Poder de mercado y regulación óptima">
            <a:hlinkClick r:id="rId7" action="ppaction://hlinksldjump" tooltip="3.A.18 · Poder de mercado y regulación ópti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A.1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3.A.12</a:t>
            </a:r>
            <a:endParaRPr lang="en-US" sz="1200" dirty="0"/>
          </a:p>
        </p:txBody>
      </p:sp>
      <p:pic>
        <p:nvPicPr>
          <p:cNvPr id="24" name="Image 5" descr="3.A.12 · Teorías microeconómicas del mercado de trabajo (II)">
            <a:hlinkClick r:id="rId8" action="ppaction://hlinksldjump" tooltip="3.A.12 · Teorías microeconómicas del mercado de trabajo (I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Modelo neoclásico bás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2D050">
              <a:alpha val="45000"/>
            </a:srgbClr>
          </a:solidFill>
          <a:ln w="9525">
            <a:solidFill>
              <a:srgbClr val="50722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pic>
        <p:nvPicPr>
          <p:cNvPr id="26" name="Image 6" descr="Bloque Modelo neoclásico básico: ver en el esquema">
            <a:hlinkClick r:id="rId9" action="ppaction://hlinksldjump" tooltip="Bloque Modelo neoclásico bás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Bloque conectado Economía del Bienestar y Sector Públic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9900">
              <a:alpha val="45000"/>
            </a:srgbClr>
          </a:solidFill>
          <a:ln w="9525">
            <a:solidFill>
              <a:srgbClr val="0099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Bienestar y Sector Público</a:t>
            </a:r>
            <a:endParaRPr lang="en-US" sz="1100" dirty="0"/>
          </a:p>
        </p:txBody>
      </p:sp>
      <p:pic>
        <p:nvPicPr>
          <p:cNvPr id="28" name="Image 7" descr="Bloque Economía del Bienestar y Sector Público: ver en el esquema">
            <a:hlinkClick r:id="rId9" action="ppaction://hlinksldjump" tooltip="Bloque Economía del Bienestar y Sector Públ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icroeconomia/13-tema-a13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1" name="Image 8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3" name="Image 9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5" name="Image 10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Óptimo, equilibrio competitivo y “second best”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(I). Óptimo económico y equilibrio general competitivo. Los teoremas fundamentales del bienestar. Teoría del “second best”.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sp>
        <p:nvSpPr>
          <p:cNvPr id="11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12" name="Image 0" descr="3.A.15 · Fallos del mercado y del sector público">
            <a:hlinkClick r:id="rId3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14" name="Image 1" descr="3.A.16 · Teoría de la elección colectiva">
            <a:hlinkClick r:id="rId5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16" name="Image 2" descr="3.A.17 · Sector Público. Crecimiento del gasto público">
            <a:hlinkClick r:id="rId6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18" name="Image 3" descr="3.A.19 · Estado del Bienestar, redistribución y protección social.">
            <a:hlinkClick r:id="rId7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0" name="Image 4" descr="3.A.20 · Teoría de la imposición">
            <a:hlinkClick r:id="rId8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2" name="Image 5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24" name="Image 6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15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28" name="Image 7" descr="3.A.15 · Fallos del mercado y del sector público">
            <a:hlinkClick r:id="rId3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Tema 3.B.14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200" dirty="0"/>
          </a:p>
        </p:txBody>
      </p:sp>
      <p:pic>
        <p:nvPicPr>
          <p:cNvPr id="30" name="Image 8" descr="3.B.14 · Teoría tradicional del Comercio Internacional.">
            <a:hlinkClick r:id="rId11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1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2" name="Image 9" descr="Bloque Información y poder de mercado: ver en el esquema">
            <a:hlinkClick r:id="rId12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tooltip="https://manuelcabadogarcia.es/microeconomia/14-tema-a1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4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2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Fallos del mercado y del sector público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(II). Los fallos del mercado: externalidades y bienes públicos. Intervención y fallos del sector público.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11" name="Image 0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sp>
        <p:nvSpPr>
          <p:cNvPr id="13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14" name="Image 1" descr="3.A.16 · Teoría de la elección colectiva">
            <a:hlinkClick r:id="rId5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16" name="Image 2" descr="3.A.17 · Sector Público. Crecimiento del gasto público">
            <a:hlinkClick r:id="rId6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18" name="Image 3" descr="3.A.19 · Estado del Bienestar, redistribución y protección social.">
            <a:hlinkClick r:id="rId7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0" name="Image 4" descr="3.A.20 · Teoría de la imposición">
            <a:hlinkClick r:id="rId8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2" name="Image 5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24" name="Image 6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1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28" name="Image 7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Tema 3.A.16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30" name="Image 8" descr="3.A.16 · Teoría de la elección colectiva">
            <a:hlinkClick r:id="rId5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1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2" name="Image 9" descr="Bloque Información y poder de mercado: ver en el esquema">
            <a:hlinkClick r:id="rId11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icroeconomia/15-tema-a1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elección colectiva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(III): teoría de la elección colectiva. El teorema de imposibilidad de Arrow. Funciones de bienestar social, reglas de votación y otros desarrollos posteriores.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11" name="Image 0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13" name="Image 1" descr="3.A.15 · Fallos del mercado y del sector público">
            <a:hlinkClick r:id="rId5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sp>
        <p:nvSpPr>
          <p:cNvPr id="15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16" name="Image 2" descr="3.A.17 · Sector Público. Crecimiento del gasto público">
            <a:hlinkClick r:id="rId6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18" name="Image 3" descr="3.A.19 · Estado del Bienestar, redistribución y protección social.">
            <a:hlinkClick r:id="rId7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0" name="Image 4" descr="3.A.20 · Teoría de la imposición">
            <a:hlinkClick r:id="rId8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2" name="Image 5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24" name="Image 6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15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28" name="Image 7" descr="3.A.15 · Fallos del mercado y del sector público">
            <a:hlinkClick r:id="rId5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Tema 3.A.17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30" name="Image 8" descr="3.A.17 · Sector Público. Crecimiento del gasto público">
            <a:hlinkClick r:id="rId6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1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2" name="Image 9" descr="Bloque Información y poder de mercado: ver en el esquema">
            <a:hlinkClick r:id="rId11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icroeconomia/16-tema-a16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Público. Crecimiento del gasto público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gasto público. Razones de su crecimiento. Teoría de la burocracia y constitución fiscal. El debate sobre el tamaño del Sector Público, en lo referente al gasto.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11" name="Image 0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13" name="Image 1" descr="3.A.15 · Fallos del mercado y del sector público">
            <a:hlinkClick r:id="rId5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15" name="Image 2" descr="3.A.16 · Teoría de la elección colectiva">
            <a:hlinkClick r:id="rId6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sp>
        <p:nvSpPr>
          <p:cNvPr id="17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18" name="Image 3" descr="3.A.19 · Estado del Bienestar, redistribución y protección social.">
            <a:hlinkClick r:id="rId7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0" name="Image 4" descr="3.A.20 · Teoría de la imposición">
            <a:hlinkClick r:id="rId8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2" name="Image 5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24" name="Image 6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16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28" name="Image 7" descr="3.A.16 · Teoría de la elección colectiva">
            <a:hlinkClick r:id="rId6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Tema 3.A.2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30" name="Image 8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1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2" name="Image 9" descr="Bloque Información y poder de mercado: ver en el esquema">
            <a:hlinkClick r:id="rId11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icroeconomia/17-tema-a17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de mercado y regulación óptima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de mercado y regulación óptima: instrumentos, efectos y limitaciones. Desarrollos en presencia de información asimétrica. Aplicaciones prácticas.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CC00"/>
          </a:solidFill>
          <a:ln w="9525">
            <a:solidFill>
              <a:srgbClr val="00A3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y poder de mercado</a:t>
            </a:r>
            <a:endParaRPr lang="en-US" sz="1700" dirty="0"/>
          </a:p>
        </p:txBody>
      </p:sp>
      <p:sp>
        <p:nvSpPr>
          <p:cNvPr id="10" name="Tema 3.A.8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11" name="Image 0" descr="3.A.8 · Teoría del monopolio y su regulación">
            <a:hlinkClick r:id="rId3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9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pic>
        <p:nvPicPr>
          <p:cNvPr id="13" name="Image 1" descr="3.A.9 · Teoría del oligopolio. Análisis mediante la teoría de juegos">
            <a:hlinkClick r:id="rId5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0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200" dirty="0"/>
          </a:p>
        </p:txBody>
      </p:sp>
      <p:pic>
        <p:nvPicPr>
          <p:cNvPr id="15" name="Image 2" descr="3.A.10 · Teoría de la competencia monopolística">
            <a:hlinkClick r:id="rId6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13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200" dirty="0"/>
          </a:p>
        </p:txBody>
      </p:sp>
      <p:pic>
        <p:nvPicPr>
          <p:cNvPr id="17" name="Image 3" descr="3.A.13 · Economía de la información y teoría de la agencia">
            <a:hlinkClick r:id="rId7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A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CC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3.A.18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8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3.A.8</a:t>
            </a:r>
            <a:endParaRPr lang="en-US" sz="1200" dirty="0"/>
          </a:p>
        </p:txBody>
      </p:sp>
      <p:pic>
        <p:nvPicPr>
          <p:cNvPr id="22" name="Image 4" descr="3.A.8 · Teoría del monopolio y su regulación">
            <a:hlinkClick r:id="rId3" action="ppaction://hlinksldjump" tooltip="3.A.8 · Teoría del monopolio y su regula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A.13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3.A.13</a:t>
            </a:r>
            <a:endParaRPr lang="en-US" sz="1200" dirty="0"/>
          </a:p>
        </p:txBody>
      </p:sp>
      <p:pic>
        <p:nvPicPr>
          <p:cNvPr id="24" name="Image 5" descr="3.A.13 · Economía de la información y teoría de la agencia">
            <a:hlinkClick r:id="rId7" action="ppaction://hlinksldjump" tooltip="3.A.13 · Economía de la información y teoría de la agenci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Modelo neoclásico básic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2D050">
              <a:alpha val="45000"/>
            </a:srgbClr>
          </a:solidFill>
          <a:ln w="9525">
            <a:solidFill>
              <a:srgbClr val="50722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neoclásico básico</a:t>
            </a:r>
            <a:endParaRPr lang="en-US" sz="1100" dirty="0"/>
          </a:p>
        </p:txBody>
      </p:sp>
      <p:pic>
        <p:nvPicPr>
          <p:cNvPr id="26" name="Image 6" descr="Bloque Modelo neoclásico básico: ver en el esquema">
            <a:hlinkClick r:id="rId8" action="ppaction://hlinksldjump" tooltip="Bloque Modelo neoclásico bás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Bloque conectado Economía del Bienestar y Sector Público"/>
          <p:cNvSpPr txBox="1"/>
          <p:nvPr/>
        </p:nvSpPr>
        <p:spPr>
          <a:xfrm>
            <a:off x="9008897" y="4709160"/>
            <a:ext cx="2359838" cy="411480"/>
          </a:xfrm>
          <a:prstGeom prst="rect">
            <a:avLst/>
          </a:prstGeom>
          <a:solidFill>
            <a:srgbClr val="009900">
              <a:alpha val="45000"/>
            </a:srgbClr>
          </a:solidFill>
          <a:ln w="9525">
            <a:solidFill>
              <a:srgbClr val="0099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Bienestar y Sector Público</a:t>
            </a:r>
            <a:endParaRPr lang="en-US" sz="1100" dirty="0"/>
          </a:p>
        </p:txBody>
      </p:sp>
      <p:pic>
        <p:nvPicPr>
          <p:cNvPr id="28" name="Image 7" descr="Bloque Economía del Bienestar y Sector Público: ver en el esquema">
            <a:hlinkClick r:id="rId8" action="ppaction://hlinksldjump" tooltip="Bloque Economía del Bienestar y Sector Públic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97" y="4709160"/>
            <a:ext cx="2359838" cy="41148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tooltip="https://manuelcabadogarcia.es/microeconomia/18-tema-a1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1" name="Image 8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3" name="Image 9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5" name="Image 10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19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Bienestar, redistribución y protección social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Estado del Bienestar y los instrumentos de redistribución y protección social. Medición e indicadores del impacto redistributivo.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11" name="Image 0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13" name="Image 1" descr="3.A.15 · Fallos del mercado y del sector público">
            <a:hlinkClick r:id="rId5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15" name="Image 2" descr="3.A.16 · Teoría de la elección colectiva">
            <a:hlinkClick r:id="rId6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17" name="Image 3" descr="3.A.17 · Sector Público. Crecimiento del gasto público">
            <a:hlinkClick r:id="rId7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sp>
        <p:nvSpPr>
          <p:cNvPr id="19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0" name="Image 4" descr="3.A.20 · Teoría de la imposición">
            <a:hlinkClick r:id="rId8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2" name="Image 5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24" name="Image 6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2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8" name="Image 7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0" name="Image 8" descr="Bloque Información y poder de mercado: ver en el esquema">
            <a:hlinkClick r:id="rId11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icroeconomia/19-tema-a1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3" name="Image 9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5" name="Image 10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7" name="Image 11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20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imposición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imposición: traslación e incidencia de los impuestos. Enfoques de equilibrio parcial y general. Efecto renta y efecto sustitución de los impuestos. Concepto y medición del exceso de gravamen.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11" name="Image 0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13" name="Image 1" descr="3.A.15 · Fallos del mercado y del sector público">
            <a:hlinkClick r:id="rId5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15" name="Image 2" descr="3.A.16 · Teoría de la elección colectiva">
            <a:hlinkClick r:id="rId6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17" name="Image 3" descr="3.A.17 · Sector Público. Crecimiento del gasto público">
            <a:hlinkClick r:id="rId7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19" name="Image 4" descr="3.A.19 · Estado del Bienestar, redistribución y protección social.">
            <a:hlinkClick r:id="rId8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20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sp>
        <p:nvSpPr>
          <p:cNvPr id="21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2" name="Image 5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24" name="Image 6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2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8" name="Image 7" descr="3.A.21 · Imposición y oferta.">
            <a:hlinkClick r:id="rId9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Tema 3.B.8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30" name="Image 8" descr="3.B.8 · La política fiscal.">
            <a:hlinkClick r:id="rId11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1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2" name="Image 9" descr="Bloque Información y poder de mercado: ver en el esquema">
            <a:hlinkClick r:id="rId12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tooltip="https://manuelcabadogarcia.es/microeconomia/20-tema-a2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4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2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2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Imposición y oferta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Imposición y oferta. Efectos incentivos de los impuestos. Medidas de progresividad impositiva. El compromiso entre eficiencia y equidad de la política tributaria.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11" name="Image 0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13" name="Image 1" descr="3.A.15 · Fallos del mercado y del sector público">
            <a:hlinkClick r:id="rId5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15" name="Image 2" descr="3.A.16 · Teoría de la elección colectiva">
            <a:hlinkClick r:id="rId6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17" name="Image 3" descr="3.A.17 · Sector Público. Crecimiento del gasto público">
            <a:hlinkClick r:id="rId7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19" name="Image 4" descr="3.A.19 · Estado del Bienestar, redistribución y protección social.">
            <a:hlinkClick r:id="rId8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20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1" name="Image 5" descr="3.A.20 · Teoría de la imposición">
            <a:hlinkClick r:id="rId9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2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sp>
        <p:nvSpPr>
          <p:cNvPr id="23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pic>
        <p:nvPicPr>
          <p:cNvPr id="24" name="Image 6" descr="3.A.22 · Federalismo fiscal">
            <a:hlinkClick r:id="rId10" action="ppaction://hlinksldjump" tooltip="3.A.22 · Federalismo fisca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2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8" name="Image 7" descr="3.A.20 · Teoría de la imposición">
            <a:hlinkClick r:id="rId9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Tema 3.A.19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30" name="Image 8" descr="3.A.19 · Estado del Bienestar, redistribución y protección social.">
            <a:hlinkClick r:id="rId8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1" name="Tema 3.B.8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32" name="Image 9" descr="3.B.8 · La política fiscal.">
            <a:hlinkClick r:id="rId11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3" name="Tema 3.A.11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C6E0B4"/>
          </a:solidFill>
          <a:ln w="6350">
            <a:solidFill>
              <a:srgbClr val="C6E0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3.A.11</a:t>
            </a:r>
            <a:endParaRPr lang="en-US" sz="1200" dirty="0"/>
          </a:p>
        </p:txBody>
      </p:sp>
      <p:pic>
        <p:nvPicPr>
          <p:cNvPr id="34" name="Image 10" descr="3.A.11 · Teorías microeconómicas del mercado de trabajo (I)">
            <a:hlinkClick r:id="rId12" action="ppaction://hlinksldjump" tooltip="3.A.11 · Teorías microeconómicas del mercado de trabajo (I)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35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6" name="Image 11" descr="Bloque Información y poder de mercado: ver en el esquema">
            <a:hlinkClick r:id="rId13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tooltip="https://manuelcabadogarcia.es/microeconomia/21-tema-a2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9" name="Image 12" descr="Menú">
            <a:hlinkClick r:id="rId15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4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41" name="Image 13" descr="Esquema">
            <a:hlinkClick r:id="rId13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4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43" name="Image 14" descr="Listado">
            <a:hlinkClick r:id="rId16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A) Microeconomía y Economía del Sector Público</a:t>
            </a:r>
            <a:endParaRPr lang="en-US" sz="1200" dirty="0"/>
          </a:p>
        </p:txBody>
      </p:sp>
      <p:sp>
        <p:nvSpPr>
          <p:cNvPr id="3" name="Tema 3.A.2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Federalismo fiscal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teoría del federalismo fiscal: la asignación óptima de las funciones entre los distintos niveles de gobierno para alcanzar el bienestar máximo. La financiación de las haciendas territoriales: impuestos, transferencias y deuda.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del Bienestar y Sector Público</a:t>
            </a:r>
            <a:endParaRPr lang="en-US" sz="1700" dirty="0"/>
          </a:p>
        </p:txBody>
      </p:sp>
      <p:sp>
        <p:nvSpPr>
          <p:cNvPr id="10" name="Tema 3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11" name="Image 0" descr="3.A.14 · Óptimo, equilibrio competitivo y “second best”">
            <a:hlinkClick r:id="rId3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3.A.15</a:t>
            </a:r>
            <a:endParaRPr lang="en-US" sz="1200" dirty="0"/>
          </a:p>
        </p:txBody>
      </p:sp>
      <p:pic>
        <p:nvPicPr>
          <p:cNvPr id="13" name="Image 1" descr="3.A.15 · Fallos del mercado y del sector público">
            <a:hlinkClick r:id="rId5" action="ppaction://hlinksldjump" tooltip="3.A.15 · Fallos del mercado y del sector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A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3.A.16</a:t>
            </a:r>
            <a:endParaRPr lang="en-US" sz="1200" dirty="0"/>
          </a:p>
        </p:txBody>
      </p:sp>
      <p:pic>
        <p:nvPicPr>
          <p:cNvPr id="15" name="Image 2" descr="3.A.16 · Teoría de la elección colectiva">
            <a:hlinkClick r:id="rId6" action="ppaction://hlinksldjump" tooltip="3.A.16 · Teoría de la elección colectiv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A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17" name="Image 3" descr="3.A.17 · Sector Público. Crecimiento del gasto público">
            <a:hlinkClick r:id="rId7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A.19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3.A.19</a:t>
            </a:r>
            <a:endParaRPr lang="en-US" sz="1200" dirty="0"/>
          </a:p>
        </p:txBody>
      </p:sp>
      <p:pic>
        <p:nvPicPr>
          <p:cNvPr id="19" name="Image 4" descr="3.A.19 · Estado del Bienestar, redistribución y protección social.">
            <a:hlinkClick r:id="rId8" action="ppaction://hlinksldjump" tooltip="3.A.19 · Estado del Bienestar, redistribución y protección soci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20" name="Tema 3.A.20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1" name="Image 5" descr="3.A.20 · Teoría de la imposición">
            <a:hlinkClick r:id="rId9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2" name="Tema 3.A.21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23" name="Image 6" descr="3.A.21 · Imposición y oferta.">
            <a:hlinkClick r:id="rId10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4" name="Tema 3.A.22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0099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3.A.22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7" name="Tema 3.A.17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3.A.17</a:t>
            </a:r>
            <a:endParaRPr lang="en-US" sz="1200" dirty="0"/>
          </a:p>
        </p:txBody>
      </p:sp>
      <p:pic>
        <p:nvPicPr>
          <p:cNvPr id="28" name="Image 7" descr="3.A.17 · Sector Público. Crecimiento del gasto público">
            <a:hlinkClick r:id="rId7" action="ppaction://hlinksldjump" tooltip="3.A.17 · Sector Público. Crecimiento del gasto públic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9" name="Bloque conectado Información y poder de mercad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00CC00">
              <a:alpha val="45000"/>
            </a:srgbClr>
          </a:solidFill>
          <a:ln w="9525">
            <a:solidFill>
              <a:srgbClr val="00A3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poder de mercado</a:t>
            </a:r>
            <a:endParaRPr lang="en-US" sz="1100" dirty="0"/>
          </a:p>
        </p:txBody>
      </p:sp>
      <p:pic>
        <p:nvPicPr>
          <p:cNvPr id="30" name="Image 8" descr="Bloque Información y poder de mercado: ver en el esquema">
            <a:hlinkClick r:id="rId11" action="ppaction://hlinksldjump" tooltip="Bloque Información y poder de mercad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icroeconomia/22-tema-a22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3" name="Image 9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5" name="Image 10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7" name="Image 11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Magnitudes macroeconómicas y contabilidad nacional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Magnitudes macroeconómicas y contabilidad nacional.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CCC"/>
          </a:solidFill>
          <a:ln w="9525">
            <a:solidFill>
              <a:srgbClr val="8C70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Contabilidad Nacional</a:t>
            </a:r>
            <a:endParaRPr lang="en-US" sz="1700" dirty="0"/>
          </a:p>
        </p:txBody>
      </p:sp>
      <p:sp>
        <p:nvSpPr>
          <p:cNvPr id="10" name="Tema 3.B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CCC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</a:t>
            </a:r>
            <a:endParaRPr lang="en-US" sz="1200" dirty="0"/>
          </a:p>
        </p:txBody>
      </p:sp>
      <p:sp>
        <p:nvSpPr>
          <p:cNvPr id="11" name="Tema 3.B.19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3.B.19</a:t>
            </a:r>
            <a:endParaRPr lang="en-US" sz="1200" dirty="0"/>
          </a:p>
        </p:txBody>
      </p:sp>
      <p:pic>
        <p:nvPicPr>
          <p:cNvPr id="12" name="Image 0" descr="3.B.19 · Balanza de Pagos: concepto, medición e interpretación.">
            <a:hlinkClick r:id="rId3" action="ppaction://hlinksldjump" tooltip="3.B.19 · Balanza de Pagos: concepto, medición e interpre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5" name="Tema 3.B.1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3.B.19</a:t>
            </a:r>
            <a:endParaRPr lang="en-US" sz="1200" dirty="0"/>
          </a:p>
        </p:txBody>
      </p:sp>
      <p:pic>
        <p:nvPicPr>
          <p:cNvPr id="16" name="Image 1" descr="3.B.19 · Balanza de Pagos: concepto, medición e interpretación.">
            <a:hlinkClick r:id="rId3" action="ppaction://hlinksldjump" tooltip="3.B.19 · Balanza de Pagos: concepto, medición e interpre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7" name="Tema 3.B.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18" name="Image 2" descr="3.B.2 · El modelo de oferta y demanda agregada.">
            <a:hlinkClick r:id="rId5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manuelcabadogarcia.es/macroeconomia/01-tema-b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1" name="Image 3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3" name="Image 4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5" name="Image 5" descr="Listado">
            <a:hlinkClick r:id="rId9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oferta y demanda agregada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oferta y demanda agregada: determinación del equilibrio. Análisis de las políticas monetaria y fiscal. Referencia al caso de una economía abierta.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9999"/>
          </a:solidFill>
          <a:ln w="9525">
            <a:solidFill>
              <a:srgbClr val="CC7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Agregada y Oferta Agregada</a:t>
            </a:r>
            <a:endParaRPr lang="en-US" sz="1700" dirty="0"/>
          </a:p>
        </p:txBody>
      </p:sp>
      <p:sp>
        <p:nvSpPr>
          <p:cNvPr id="10" name="Tema 3.B.2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99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sp>
        <p:nvSpPr>
          <p:cNvPr id="11" name="Tema 3.B.3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3.B.3</a:t>
            </a:r>
            <a:endParaRPr lang="en-US" sz="1200" dirty="0"/>
          </a:p>
        </p:txBody>
      </p:sp>
      <p:pic>
        <p:nvPicPr>
          <p:cNvPr id="12" name="Image 0" descr="3.B.3 · Teorías de la demanda de consumo.">
            <a:hlinkClick r:id="rId3" action="ppaction://hlinksldjump" tooltip="3.B.3 · Teorías de la demanda de consum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3.B.4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3.B.4</a:t>
            </a:r>
            <a:endParaRPr lang="en-US" sz="1200" dirty="0"/>
          </a:p>
        </p:txBody>
      </p:sp>
      <p:pic>
        <p:nvPicPr>
          <p:cNvPr id="14" name="Image 1" descr="3.B.4 · Teorías de la demanda de inversión.">
            <a:hlinkClick r:id="rId5" action="ppaction://hlinksldjump" tooltip="3.B.4 · Teorías de la demanda de inver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B.5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200" dirty="0"/>
          </a:p>
        </p:txBody>
      </p:sp>
      <p:pic>
        <p:nvPicPr>
          <p:cNvPr id="16" name="Image 2" descr="3.B.5 · Teorías de la demanda de dinero">
            <a:hlinkClick r:id="rId6" action="ppaction://hlinksldjump" tooltip="3.B.5 · Teorías de la demanda de diner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9" name="Tema 3.A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200" dirty="0"/>
          </a:p>
        </p:txBody>
      </p:sp>
      <p:pic>
        <p:nvPicPr>
          <p:cNvPr id="20" name="Image 3" descr="3.A.2 · Del pensamiento económico de Keynes a la actualidad">
            <a:hlinkClick r:id="rId7" action="ppaction://hlinksldjump" tooltip="3.A.2 · Del pensamiento económico de Keynes a la actualida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1" name="Tema 3.B.1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</a:t>
            </a:r>
            <a:endParaRPr lang="en-US" sz="1200" dirty="0"/>
          </a:p>
        </p:txBody>
      </p:sp>
      <p:pic>
        <p:nvPicPr>
          <p:cNvPr id="22" name="Image 4" descr="3.B.1 · Magnitudes macroeconómicas y contabilidad nacional.">
            <a:hlinkClick r:id="rId8" action="ppaction://hlinksldjump" tooltip="3.B.1 · Magnitudes macroeconómicas y contabilidad 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3" name="Bloque conectado Ciclo económico y políticas de demanda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FFC000">
              <a:alpha val="45000"/>
            </a:srgbClr>
          </a:solidFill>
          <a:ln w="9525">
            <a:solidFill>
              <a:srgbClr val="8C6A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económico y políticas de demanda</a:t>
            </a:r>
            <a:endParaRPr lang="en-US" sz="1100" dirty="0"/>
          </a:p>
        </p:txBody>
      </p:sp>
      <p:pic>
        <p:nvPicPr>
          <p:cNvPr id="24" name="Image 5" descr="Bloque Ciclo económico y políticas de demanda: ver en el esquema">
            <a:hlinkClick r:id="rId9" action="ppaction://hlinksldjump" tooltip="Bloque Ciclo económico y políticas de demanda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acroeconomia/02-tema-b2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7" name="Image 6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9" name="Image 7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1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demanda de consumo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demanda de consumo corriente: ciclo vital y renta permanente. Evidencia empírica e implicaciones de política económica.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9999"/>
          </a:solidFill>
          <a:ln w="9525">
            <a:solidFill>
              <a:srgbClr val="CC7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Agregada y Oferta Agregada</a:t>
            </a:r>
            <a:endParaRPr lang="en-US" sz="1700" dirty="0"/>
          </a:p>
        </p:txBody>
      </p:sp>
      <p:sp>
        <p:nvSpPr>
          <p:cNvPr id="10" name="Tema 3.B.2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11" name="Image 0" descr="3.B.2 · El modelo de oferta y demanda agregada.">
            <a:hlinkClick r:id="rId3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3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99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3.B.3</a:t>
            </a:r>
            <a:endParaRPr lang="en-US" sz="1200" dirty="0"/>
          </a:p>
        </p:txBody>
      </p:sp>
      <p:sp>
        <p:nvSpPr>
          <p:cNvPr id="13" name="Tema 3.B.4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3.B.4</a:t>
            </a:r>
            <a:endParaRPr lang="en-US" sz="1200" dirty="0"/>
          </a:p>
        </p:txBody>
      </p:sp>
      <p:pic>
        <p:nvPicPr>
          <p:cNvPr id="14" name="Image 1" descr="3.B.4 · Teorías de la demanda de inversión.">
            <a:hlinkClick r:id="rId5" action="ppaction://hlinksldjump" tooltip="3.B.4 · Teorías de la demanda de inver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B.5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200" dirty="0"/>
          </a:p>
        </p:txBody>
      </p:sp>
      <p:pic>
        <p:nvPicPr>
          <p:cNvPr id="16" name="Image 2" descr="3.B.5 · Teorías de la demanda de dinero">
            <a:hlinkClick r:id="rId6" action="ppaction://hlinksldjump" tooltip="3.B.5 · Teorías de la demanda de diner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9" name="Tema 3.A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200" dirty="0"/>
          </a:p>
        </p:txBody>
      </p:sp>
      <p:pic>
        <p:nvPicPr>
          <p:cNvPr id="20" name="Image 3" descr="3.A.2 · Del pensamiento económico de Keynes a la actualidad">
            <a:hlinkClick r:id="rId7" action="ppaction://hlinksldjump" tooltip="3.A.2 · Del pensamiento económico de Keynes a la actualida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tooltip="https://manuelcabadogarcia.es/macroeconomia/03-tema-b3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4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5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6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demanda de inversión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inversión en bienes de equipo. Incertidumbre e irreversibilidad de la inversión. Implicaciones de política económica.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9999"/>
          </a:solidFill>
          <a:ln w="9525">
            <a:solidFill>
              <a:srgbClr val="CC7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Agregada y Oferta Agregada</a:t>
            </a:r>
            <a:endParaRPr lang="en-US" sz="1700" dirty="0"/>
          </a:p>
        </p:txBody>
      </p:sp>
      <p:sp>
        <p:nvSpPr>
          <p:cNvPr id="10" name="Tema 3.B.2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11" name="Image 0" descr="3.B.2 · El modelo de oferta y demanda agregada.">
            <a:hlinkClick r:id="rId3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3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3.B.3</a:t>
            </a:r>
            <a:endParaRPr lang="en-US" sz="1200" dirty="0"/>
          </a:p>
        </p:txBody>
      </p:sp>
      <p:pic>
        <p:nvPicPr>
          <p:cNvPr id="13" name="Image 1" descr="3.B.3 · Teorías de la demanda de consumo.">
            <a:hlinkClick r:id="rId5" action="ppaction://hlinksldjump" tooltip="3.B.3 · Teorías de la demanda de consum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4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99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3.B.4</a:t>
            </a:r>
            <a:endParaRPr lang="en-US" sz="1200" dirty="0"/>
          </a:p>
        </p:txBody>
      </p:sp>
      <p:sp>
        <p:nvSpPr>
          <p:cNvPr id="15" name="Tema 3.B.5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200" dirty="0"/>
          </a:p>
        </p:txBody>
      </p:sp>
      <p:pic>
        <p:nvPicPr>
          <p:cNvPr id="16" name="Image 2" descr="3.B.5 · Teorías de la demanda de dinero">
            <a:hlinkClick r:id="rId6" action="ppaction://hlinksldjump" tooltip="3.B.5 · Teorías de la demanda de diner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9" name="Tema 3.A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200" dirty="0"/>
          </a:p>
        </p:txBody>
      </p:sp>
      <p:pic>
        <p:nvPicPr>
          <p:cNvPr id="20" name="Image 3" descr="3.A.2 · Del pensamiento económico de Keynes a la actualidad">
            <a:hlinkClick r:id="rId7" action="ppaction://hlinksldjump" tooltip="3.A.2 · Del pensamiento económico de Keynes a la actualida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tooltip="https://manuelcabadogarcia.es/macroeconomia/04-tema-b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4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5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6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demanda de dinero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demanda de dinero. Implicaciones de política económica.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9999"/>
          </a:solidFill>
          <a:ln w="9525">
            <a:solidFill>
              <a:srgbClr val="CC7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Agregada y Oferta Agregada</a:t>
            </a:r>
            <a:endParaRPr lang="en-US" sz="1700" dirty="0"/>
          </a:p>
        </p:txBody>
      </p:sp>
      <p:sp>
        <p:nvSpPr>
          <p:cNvPr id="10" name="Tema 3.B.2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11" name="Image 0" descr="3.B.2 · El modelo de oferta y demanda agregada.">
            <a:hlinkClick r:id="rId3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3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3.B.3</a:t>
            </a:r>
            <a:endParaRPr lang="en-US" sz="1200" dirty="0"/>
          </a:p>
        </p:txBody>
      </p:sp>
      <p:pic>
        <p:nvPicPr>
          <p:cNvPr id="13" name="Image 1" descr="3.B.3 · Teorías de la demanda de consumo.">
            <a:hlinkClick r:id="rId5" action="ppaction://hlinksldjump" tooltip="3.B.3 · Teorías de la demanda de consum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4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3.B.4</a:t>
            </a:r>
            <a:endParaRPr lang="en-US" sz="1200" dirty="0"/>
          </a:p>
        </p:txBody>
      </p:sp>
      <p:pic>
        <p:nvPicPr>
          <p:cNvPr id="15" name="Image 2" descr="3.B.4 · Teorías de la demanda de inversión.">
            <a:hlinkClick r:id="rId6" action="ppaction://hlinksldjump" tooltip="3.B.4 · Teorías de la demanda de inver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B.5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99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9" name="Tema 3.A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75C4FF"/>
          </a:solidFill>
          <a:ln w="6350">
            <a:solidFill>
              <a:srgbClr val="75C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</a:t>
            </a:r>
            <a:endParaRPr lang="en-US" sz="1200" dirty="0"/>
          </a:p>
        </p:txBody>
      </p:sp>
      <p:pic>
        <p:nvPicPr>
          <p:cNvPr id="20" name="Image 3" descr="3.A.2 · Del pensamiento económico de Keynes a la actualidad">
            <a:hlinkClick r:id="rId7" action="ppaction://hlinksldjump" tooltip="3.A.2 · Del pensamiento económico de Keynes a la actualida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1" name="Tema 3.B.6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22" name="Image 4" descr="3.B.6 · Política monetaria: diseño e instrumentación.">
            <a:hlinkClick r:id="rId8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3" name="Tema 3.B.10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24" name="Image 5" descr="3.B.10 · Inflación: eficiencia y bienestar.">
            <a:hlinkClick r:id="rId9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acroeconomia/05-tema-b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7" name="Image 6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9" name="Image 7" descr="Esquema">
            <a:hlinkClick r:id="rId12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1" name="Image 8" descr="Listado">
            <a:hlinkClick r:id="rId13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monetaria: diseño e instrumentación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monetaria (I): el diseño y la instrumentación de la política monetaria.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000"/>
          </a:solidFill>
          <a:ln w="9525">
            <a:solidFill>
              <a:srgbClr val="8C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económico y políticas de demanda</a:t>
            </a:r>
            <a:endParaRPr lang="en-US" sz="1700" dirty="0"/>
          </a:p>
        </p:txBody>
      </p:sp>
      <p:sp>
        <p:nvSpPr>
          <p:cNvPr id="10" name="Tema 3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sp>
        <p:nvSpPr>
          <p:cNvPr id="11" name="Tema 3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12" name="Image 0" descr="3.B.7 · Política monetaria: los mecanismos de transmisión.">
            <a:hlinkClick r:id="rId3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3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14" name="Image 1" descr="3.B.8 · La política fiscal.">
            <a:hlinkClick r:id="rId5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16" name="Image 2" descr="3.B.9 · Déficit público: financiación, dinámica y sostenibilidad.">
            <a:hlinkClick r:id="rId6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18" name="Image 3" descr="3.B.10 · Inflación: eficiencia y bienestar.">
            <a:hlinkClick r:id="rId7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0" name="Image 4" descr="3.B.11 · Análisis macroeconómico del mercado de trabajo.">
            <a:hlinkClick r:id="rId8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22" name="Image 5" descr="3.B.12 · Teorías de los ciclos económicos.">
            <a:hlinkClick r:id="rId9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5" name="Tema 3.B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26" name="Image 6" descr="3.B.2 · El modelo de oferta y demanda agregada.">
            <a:hlinkClick r:id="rId10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7" name="Tema 3.B.5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200" dirty="0"/>
          </a:p>
        </p:txBody>
      </p:sp>
      <p:pic>
        <p:nvPicPr>
          <p:cNvPr id="28" name="Image 7" descr="3.B.5 · Teorías de la demanda de dinero">
            <a:hlinkClick r:id="rId11" action="ppaction://hlinksldjump" tooltip="3.B.5 · Teorías de la demanda de diner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9" name="Tema 3.B.7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30" name="Image 8" descr="3.B.7 · Política monetaria: los mecanismos de transmisión.">
            <a:hlinkClick r:id="rId3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1" name="Tema 3.B.9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32" name="Image 9" descr="3.B.9 · Déficit público: financiación, dinámica y sostenibilidad.">
            <a:hlinkClick r:id="rId6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acroeconomia/06-tema-b6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4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monetaria: los mecanismos de transmisión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monetaria (II): los mecanismos de transmisión de la política monetaria convencional y no convencional.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000"/>
          </a:solidFill>
          <a:ln w="9525">
            <a:solidFill>
              <a:srgbClr val="8C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económico y políticas de demanda</a:t>
            </a:r>
            <a:endParaRPr lang="en-US" sz="1700" dirty="0"/>
          </a:p>
        </p:txBody>
      </p:sp>
      <p:sp>
        <p:nvSpPr>
          <p:cNvPr id="10" name="Tema 3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11" name="Image 0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sp>
        <p:nvSpPr>
          <p:cNvPr id="13" name="Tema 3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14" name="Image 1" descr="3.B.8 · La política fiscal.">
            <a:hlinkClick r:id="rId5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16" name="Image 2" descr="3.B.9 · Déficit público: financiación, dinámica y sostenibilidad.">
            <a:hlinkClick r:id="rId6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18" name="Image 3" descr="3.B.10 · Inflación: eficiencia y bienestar.">
            <a:hlinkClick r:id="rId7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0" name="Image 4" descr="3.B.11 · Análisis macroeconómico del mercado de trabajo.">
            <a:hlinkClick r:id="rId8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22" name="Image 5" descr="3.B.12 · Teorías de los ciclos económicos.">
            <a:hlinkClick r:id="rId9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5" name="Tema 3.B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26" name="Image 6" descr="3.B.2 · El modelo de oferta y demanda agregada.">
            <a:hlinkClick r:id="rId10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7" name="Tema 3.B.6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28" name="Image 7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9" name="Tema 3.B.12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30" name="Image 8" descr="3.B.12 · Teorías de los ciclos económicos.">
            <a:hlinkClick r:id="rId9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tooltip="https://manuelcabadogarcia.es/macroeconomia/07-tema-b7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3" name="Image 9" descr="Menú">
            <a:hlinkClick r:id="rId12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5" name="Image 10" descr="Esquema">
            <a:hlinkClick r:id="rId13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7" name="Image 11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fiscal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fiscal: efectos sobre el crecimiento económico y el ahorro. Políticas de oferta.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000"/>
          </a:solidFill>
          <a:ln w="9525">
            <a:solidFill>
              <a:srgbClr val="8C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económico y políticas de demanda</a:t>
            </a:r>
            <a:endParaRPr lang="en-US" sz="1700" dirty="0"/>
          </a:p>
        </p:txBody>
      </p:sp>
      <p:sp>
        <p:nvSpPr>
          <p:cNvPr id="10" name="Tema 3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11" name="Image 0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13" name="Image 1" descr="3.B.7 · Política monetaria: los mecanismos de transmisión.">
            <a:hlinkClick r:id="rId5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C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sp>
        <p:nvSpPr>
          <p:cNvPr id="15" name="Tema 3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16" name="Image 2" descr="3.B.9 · Déficit público: financiación, dinámica y sostenibilidad.">
            <a:hlinkClick r:id="rId6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18" name="Image 3" descr="3.B.10 · Inflación: eficiencia y bienestar.">
            <a:hlinkClick r:id="rId7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0" name="Image 4" descr="3.B.11 · Análisis macroeconómico del mercado de trabajo.">
            <a:hlinkClick r:id="rId8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22" name="Image 5" descr="3.B.12 · Teorías de los ciclos económicos.">
            <a:hlinkClick r:id="rId9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5" name="Tema 3.A.2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3.A.20</a:t>
            </a:r>
            <a:endParaRPr lang="en-US" sz="1200" dirty="0"/>
          </a:p>
        </p:txBody>
      </p:sp>
      <p:pic>
        <p:nvPicPr>
          <p:cNvPr id="26" name="Image 6" descr="3.A.20 · Teoría de la imposición">
            <a:hlinkClick r:id="rId10" action="ppaction://hlinksldjump" tooltip="3.A.20 · Teoría de la imposició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7" name="Tema 3.B.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28" name="Image 7" descr="3.B.2 · El modelo de oferta y demanda agregada.">
            <a:hlinkClick r:id="rId11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9" name="Tema 3.B.9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30" name="Image 8" descr="3.B.9 · Déficit público: financiación, dinámica y sostenibilidad.">
            <a:hlinkClick r:id="rId6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1" name="Tema 3.B.13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FF9966"/>
          </a:solidFill>
          <a:ln w="6350">
            <a:solidFill>
              <a:srgbClr val="FF99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3.B.13</a:t>
            </a:r>
            <a:endParaRPr lang="en-US" sz="1200" dirty="0"/>
          </a:p>
        </p:txBody>
      </p:sp>
      <p:pic>
        <p:nvPicPr>
          <p:cNvPr id="32" name="Image 9" descr="3.B.13 · Teorías del crecimiento económico.">
            <a:hlinkClick r:id="rId12" action="ppaction://hlinksldjump" tooltip="3.B.13 · Teorías del crecimiento económic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33" name="Tema 3.A.21"/>
          <p:cNvSpPr txBox="1"/>
          <p:nvPr/>
        </p:nvSpPr>
        <p:spPr>
          <a:xfrm>
            <a:off x="10480396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3.A.21</a:t>
            </a:r>
            <a:endParaRPr lang="en-US" sz="1200" dirty="0"/>
          </a:p>
        </p:txBody>
      </p:sp>
      <p:pic>
        <p:nvPicPr>
          <p:cNvPr id="34" name="Image 10" descr="3.A.21 · Imposición y oferta.">
            <a:hlinkClick r:id="rId13" action="ppaction://hlinksldjump" tooltip="3.A.21 · Imposición y ofert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396" y="4178808"/>
            <a:ext cx="86868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tooltip="https://manuelcabadogarcia.es/macroeconomia/08-tema-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7" name="Image 11" descr="Menú">
            <a:hlinkClick r:id="rId15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9" name="Image 12" descr="Esquema">
            <a:hlinkClick r:id="rId16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4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41" name="Image 13" descr="Listado">
            <a:hlinkClick r:id="rId17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9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público: financiación, dinámica y sostenibilidad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público. Conceptos. Financiación y sus consecuencias macroeconómicas. Dominación monetaria y dominación fiscal. La dinámica de la deuda pública y su sostenibilidad.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000"/>
          </a:solidFill>
          <a:ln w="9525">
            <a:solidFill>
              <a:srgbClr val="8C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económico y políticas de demanda</a:t>
            </a:r>
            <a:endParaRPr lang="en-US" sz="1700" dirty="0"/>
          </a:p>
        </p:txBody>
      </p:sp>
      <p:sp>
        <p:nvSpPr>
          <p:cNvPr id="10" name="Tema 3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11" name="Image 0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13" name="Image 1" descr="3.B.7 · Política monetaria: los mecanismos de transmisión.">
            <a:hlinkClick r:id="rId5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15" name="Image 2" descr="3.B.8 · La política fiscal.">
            <a:hlinkClick r:id="rId6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C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sp>
        <p:nvSpPr>
          <p:cNvPr id="17" name="Tema 3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18" name="Image 3" descr="3.B.10 · Inflación: eficiencia y bienestar.">
            <a:hlinkClick r:id="rId7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3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0" name="Image 4" descr="3.B.11 · Análisis macroeconómico del mercado de trabajo.">
            <a:hlinkClick r:id="rId8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22" name="Image 5" descr="3.B.12 · Teorías de los ciclos económicos.">
            <a:hlinkClick r:id="rId9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5" name="Tema 3.B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26" name="Image 6" descr="3.B.2 · El modelo de oferta y demanda agregada.">
            <a:hlinkClick r:id="rId10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7" name="Tema 3.B.8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28" name="Image 7" descr="3.B.8 · La política fiscal.">
            <a:hlinkClick r:id="rId6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9" name="Tema 3.B.10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30" name="Image 8" descr="3.B.10 · Inflación: eficiencia y bienestar.">
            <a:hlinkClick r:id="rId7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1" name="Tema 3.B.6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32" name="Image 9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tooltip="https://manuelcabadogarcia.es/macroeconomia/09-tema-b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2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3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0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Inflación: eficiencia y bienestar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inflación: causas y efectos sobre la eficiencia económica y el bienestar. Hiperinflación y deflación.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000"/>
          </a:solidFill>
          <a:ln w="9525">
            <a:solidFill>
              <a:srgbClr val="8C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económico y políticas de demanda</a:t>
            </a:r>
            <a:endParaRPr lang="en-US" sz="1700" dirty="0"/>
          </a:p>
        </p:txBody>
      </p:sp>
      <p:sp>
        <p:nvSpPr>
          <p:cNvPr id="10" name="Tema 3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11" name="Image 0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13" name="Image 1" descr="3.B.7 · Política monetaria: los mecanismos de transmisión.">
            <a:hlinkClick r:id="rId5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15" name="Image 2" descr="3.B.8 · La política fiscal.">
            <a:hlinkClick r:id="rId6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17" name="Image 3" descr="3.B.9 · Déficit público: financiación, dinámica y sostenibilidad.">
            <a:hlinkClick r:id="rId7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C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sp>
        <p:nvSpPr>
          <p:cNvPr id="19" name="Tema 3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0" name="Image 4" descr="3.B.11 · Análisis macroeconómico del mercado de trabajo.">
            <a:hlinkClick r:id="rId8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3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22" name="Image 5" descr="3.B.12 · Teorías de los ciclos económicos.">
            <a:hlinkClick r:id="rId9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5" name="Tema 3.B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26" name="Image 6" descr="3.B.2 · El modelo de oferta y demanda agregada.">
            <a:hlinkClick r:id="rId10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7" name="Tema 3.B.11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8" name="Image 7" descr="3.B.11 · Análisis macroeconómico del mercado de trabajo.">
            <a:hlinkClick r:id="rId8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9" name="Tema 3.B.9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30" name="Image 8" descr="3.B.9 · Déficit público: financiación, dinámica y sostenibilidad.">
            <a:hlinkClick r:id="rId7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1" name="Tema 3.B.5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3.B.5</a:t>
            </a:r>
            <a:endParaRPr lang="en-US" sz="1200" dirty="0"/>
          </a:p>
        </p:txBody>
      </p:sp>
      <p:pic>
        <p:nvPicPr>
          <p:cNvPr id="32" name="Image 9" descr="3.B.5 · Teorías de la demanda de dinero">
            <a:hlinkClick r:id="rId11" action="ppaction://hlinksldjump" tooltip="3.B.5 · Teorías de la demanda de diner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acroeconomia/10-tema-b1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0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1" descr="Esquema">
            <a:hlinkClick r:id="rId14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2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macroeconómico del mercado de trabajo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macroeconómico del mercado de trabajo. La tasa natural de paro y la NAIRU. La persistencia del desempleo.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000"/>
          </a:solidFill>
          <a:ln w="9525">
            <a:solidFill>
              <a:srgbClr val="8C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económico y políticas de demanda</a:t>
            </a:r>
            <a:endParaRPr lang="en-US" sz="1700" dirty="0"/>
          </a:p>
        </p:txBody>
      </p:sp>
      <p:sp>
        <p:nvSpPr>
          <p:cNvPr id="10" name="Tema 3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11" name="Image 0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13" name="Image 1" descr="3.B.7 · Política monetaria: los mecanismos de transmisión.">
            <a:hlinkClick r:id="rId5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15" name="Image 2" descr="3.B.8 · La política fiscal.">
            <a:hlinkClick r:id="rId6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17" name="Image 3" descr="3.B.9 · Déficit público: financiación, dinámica y sostenibilidad.">
            <a:hlinkClick r:id="rId7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19" name="Image 4" descr="3.B.10 · Inflación: eficiencia y bienestar.">
            <a:hlinkClick r:id="rId8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20" name="Tema 3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C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sp>
        <p:nvSpPr>
          <p:cNvPr id="21" name="Tema 3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22" name="Image 5" descr="3.B.12 · Teorías de los ciclos económicos.">
            <a:hlinkClick r:id="rId9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5" name="Tema 3.B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26" name="Image 6" descr="3.B.2 · El modelo de oferta y demanda agregada.">
            <a:hlinkClick r:id="rId10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7" name="Tema 3.B.10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28" name="Image 7" descr="3.B.10 · Inflación: eficiencia y bienestar.">
            <a:hlinkClick r:id="rId8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9" name="Bloque conectado Mercado de trabajo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C6E0B4">
              <a:alpha val="45000"/>
            </a:srgbClr>
          </a:solidFill>
          <a:ln w="9525">
            <a:solidFill>
              <a:srgbClr val="6D7B63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trabajo</a:t>
            </a:r>
            <a:endParaRPr lang="en-US" sz="1100" dirty="0"/>
          </a:p>
        </p:txBody>
      </p:sp>
      <p:pic>
        <p:nvPicPr>
          <p:cNvPr id="30" name="Image 8" descr="Bloque Mercado de trabajo: ver en el esquema">
            <a:hlinkClick r:id="rId11" action="ppaction://hlinksldjump" tooltip="Bloque Mercado de trabajo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acroeconomia/11-tema-b1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3" name="Image 9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5" name="Image 10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7" name="Image 11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los ciclos económicos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los ciclos económicos. Teorías del ciclo real y teorías de los nuevos keynesianos. Referencia al ciclo financiero y sus interrelaciones con el ciclo real.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000"/>
          </a:solidFill>
          <a:ln w="9525">
            <a:solidFill>
              <a:srgbClr val="8C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económico y políticas de demanda</a:t>
            </a:r>
            <a:endParaRPr lang="en-US" sz="1700" dirty="0"/>
          </a:p>
        </p:txBody>
      </p:sp>
      <p:sp>
        <p:nvSpPr>
          <p:cNvPr id="10" name="Tema 3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3.B.6</a:t>
            </a:r>
            <a:endParaRPr lang="en-US" sz="1200" dirty="0"/>
          </a:p>
        </p:txBody>
      </p:sp>
      <p:pic>
        <p:nvPicPr>
          <p:cNvPr id="11" name="Image 0" descr="3.B.6 · Política monetaria: diseño e instrumentación.">
            <a:hlinkClick r:id="rId3" action="ppaction://hlinksldjump" tooltip="3.B.6 · Política monetaria: diseño e instrumen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13" name="Image 1" descr="3.B.7 · Política monetaria: los mecanismos de transmisión.">
            <a:hlinkClick r:id="rId5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15" name="Image 2" descr="3.B.8 · La política fiscal.">
            <a:hlinkClick r:id="rId6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3.B.9</a:t>
            </a:r>
            <a:endParaRPr lang="en-US" sz="1200" dirty="0"/>
          </a:p>
        </p:txBody>
      </p:sp>
      <p:pic>
        <p:nvPicPr>
          <p:cNvPr id="17" name="Image 3" descr="3.B.9 · Déficit público: financiación, dinámica y sostenibilidad.">
            <a:hlinkClick r:id="rId7" action="ppaction://hlinksldjump" tooltip="3.B.9 · Déficit público: financiación, dinámica y sostenibi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3.B.10</a:t>
            </a:r>
            <a:endParaRPr lang="en-US" sz="1200" dirty="0"/>
          </a:p>
        </p:txBody>
      </p:sp>
      <p:pic>
        <p:nvPicPr>
          <p:cNvPr id="19" name="Image 4" descr="3.B.10 · Inflación: eficiencia y bienestar.">
            <a:hlinkClick r:id="rId8" action="ppaction://hlinksldjump" tooltip="3.B.10 · Inflación: eficiencia y bienestar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20" name="Tema 3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3.B.11</a:t>
            </a:r>
            <a:endParaRPr lang="en-US" sz="1200" dirty="0"/>
          </a:p>
        </p:txBody>
      </p:sp>
      <p:pic>
        <p:nvPicPr>
          <p:cNvPr id="21" name="Image 5" descr="3.B.11 · Análisis macroeconómico del mercado de trabajo.">
            <a:hlinkClick r:id="rId9" action="ppaction://hlinksldjump" tooltip="3.B.11 · Análisis macroeconómico del mercado de trabaj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2" name="Tema 3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FFC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5" name="Tema 3.B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9999"/>
          </a:solidFill>
          <a:ln w="6350">
            <a:solidFill>
              <a:srgbClr val="FF99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</a:t>
            </a:r>
            <a:endParaRPr lang="en-US" sz="1200" dirty="0"/>
          </a:p>
        </p:txBody>
      </p:sp>
      <p:pic>
        <p:nvPicPr>
          <p:cNvPr id="26" name="Image 6" descr="3.B.2 · El modelo de oferta y demanda agregada.">
            <a:hlinkClick r:id="rId10" action="ppaction://hlinksldjump" tooltip="3.B.2 · El modelo de oferta y demanda agregad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7" name="Tema 3.B.13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9966"/>
          </a:solidFill>
          <a:ln w="6350">
            <a:solidFill>
              <a:srgbClr val="FF99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3.B.13</a:t>
            </a:r>
            <a:endParaRPr lang="en-US" sz="1200" dirty="0"/>
          </a:p>
        </p:txBody>
      </p:sp>
      <p:pic>
        <p:nvPicPr>
          <p:cNvPr id="28" name="Image 7" descr="3.B.13 · Teorías del crecimiento económico.">
            <a:hlinkClick r:id="rId11" action="ppaction://hlinksldjump" tooltip="3.B.13 · Teorías del crecimiento económico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9" name="Tema 3.B.7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3.B.7</a:t>
            </a:r>
            <a:endParaRPr lang="en-US" sz="1200" dirty="0"/>
          </a:p>
        </p:txBody>
      </p:sp>
      <p:pic>
        <p:nvPicPr>
          <p:cNvPr id="30" name="Image 8" descr="3.B.7 · Política monetaria: los mecanismos de transmisión.">
            <a:hlinkClick r:id="rId5" action="ppaction://hlinksldjump" tooltip="3.B.7 · Política monetaria: los mecanismos de transmis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tooltip="https://manuelcabadogarcia.es/macroeconomia/12-tema-b12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3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3" name="Image 9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5" name="Image 10" descr="Esquema">
            <a:hlinkClick r:id="rId14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7" name="Image 11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9966"/>
          </a:solidFill>
          <a:ln w="6350">
            <a:solidFill>
              <a:srgbClr val="FF99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del crecimiento económico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del crecimiento económico: modelo de Solow y modelos de crecimiento endógeno de primera y segunda generación.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9966"/>
          </a:solidFill>
          <a:ln w="9525">
            <a:solidFill>
              <a:srgbClr val="CC7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 económico</a:t>
            </a:r>
            <a:endParaRPr lang="en-US" sz="1700" dirty="0"/>
          </a:p>
        </p:txBody>
      </p:sp>
      <p:sp>
        <p:nvSpPr>
          <p:cNvPr id="10" name="Tema 3.B.1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9966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3" name="Tema 3.B.1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3.B.12</a:t>
            </a:r>
            <a:endParaRPr lang="en-US" sz="1200" dirty="0"/>
          </a:p>
        </p:txBody>
      </p:sp>
      <p:pic>
        <p:nvPicPr>
          <p:cNvPr id="14" name="Image 0" descr="3.B.12 · Teorías de los ciclos económicos.">
            <a:hlinkClick r:id="rId3" action="ppaction://hlinksldjump" tooltip="3.B.12 · Teorías de los ciclos económic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5" name="Tema 3.B.8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3.B.8</a:t>
            </a:r>
            <a:endParaRPr lang="en-US" sz="1200" dirty="0"/>
          </a:p>
        </p:txBody>
      </p:sp>
      <p:pic>
        <p:nvPicPr>
          <p:cNvPr id="16" name="Image 1" descr="3.B.8 · La política fiscal.">
            <a:hlinkClick r:id="rId5" action="ppaction://hlinksldjump" tooltip="3.B.8 · La política fisc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manuelcabadogarcia.es/macroeconomia/13-tema-b13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1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9" name="Image 2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1" name="Image 3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3" name="Image 4" descr="Listado">
            <a:hlinkClick r:id="rId9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tradicional del Comercio Internacional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del comercio internacional (I): las teorías de la ventaja absoluta y de la ventaja comparativa. Determinación de la relación real de intercambio. El modelo de factores específicos. El modelo Heckscher-Ohlin-Samuelson (H-O-S); teoremas derivados del modelo y extensiones.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9FF33"/>
          </a:solidFill>
          <a:ln w="9525">
            <a:solidFill>
              <a:srgbClr val="548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 Internacional</a:t>
            </a:r>
            <a:endParaRPr lang="en-US" sz="1700" dirty="0"/>
          </a:p>
        </p:txBody>
      </p:sp>
      <p:sp>
        <p:nvSpPr>
          <p:cNvPr id="10" name="Tema 3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9FF33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200" dirty="0"/>
          </a:p>
        </p:txBody>
      </p:sp>
      <p:sp>
        <p:nvSpPr>
          <p:cNvPr id="11" name="Tema 3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200" dirty="0"/>
          </a:p>
        </p:txBody>
      </p:sp>
      <p:pic>
        <p:nvPicPr>
          <p:cNvPr id="12" name="Image 0" descr="3.B.15 · Nuevos desarrollos de la teoría del Comercio Internacional.">
            <a:hlinkClick r:id="rId3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3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200" dirty="0"/>
          </a:p>
        </p:txBody>
      </p:sp>
      <p:pic>
        <p:nvPicPr>
          <p:cNvPr id="14" name="Image 1" descr="3.B.16 · Política comercial: barreras arancelarias y no arancelarias.">
            <a:hlinkClick r:id="rId5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200" dirty="0"/>
          </a:p>
        </p:txBody>
      </p:sp>
      <p:pic>
        <p:nvPicPr>
          <p:cNvPr id="16" name="Image 2" descr="3.B.17 · La política comercial estratégica.">
            <a:hlinkClick r:id="rId6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200" dirty="0"/>
          </a:p>
        </p:txBody>
      </p:sp>
      <p:pic>
        <p:nvPicPr>
          <p:cNvPr id="18" name="Image 3" descr="3.B.18 · Teorías de la integración económica.">
            <a:hlinkClick r:id="rId7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1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9900"/>
          </a:solidFill>
          <a:ln w="6350">
            <a:solidFill>
              <a:srgbClr val="009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3.A.14</a:t>
            </a:r>
            <a:endParaRPr lang="en-US" sz="1200" dirty="0"/>
          </a:p>
        </p:txBody>
      </p:sp>
      <p:pic>
        <p:nvPicPr>
          <p:cNvPr id="22" name="Image 4" descr="3.A.14 · Óptimo, equilibrio competitivo y “second best”">
            <a:hlinkClick r:id="rId8" action="ppaction://hlinksldjump" tooltip="3.A.14 · Óptimo, equilibrio competitivo y “second best”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B.15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200" dirty="0"/>
          </a:p>
        </p:txBody>
      </p:sp>
      <p:pic>
        <p:nvPicPr>
          <p:cNvPr id="24" name="Image 5" descr="3.B.15 · Nuevos desarrollos de la teoría del Comercio Internacional.">
            <a:hlinkClick r:id="rId3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Economía abierta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FF0000">
              <a:alpha val="45000"/>
            </a:srgbClr>
          </a:solidFill>
          <a:ln w="9525">
            <a:solidFill>
              <a:srgbClr val="FF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100" dirty="0"/>
          </a:p>
        </p:txBody>
      </p:sp>
      <p:pic>
        <p:nvPicPr>
          <p:cNvPr id="26" name="Image 6" descr="Bloque Economía abierta: ver en el esquema">
            <a:hlinkClick r:id="rId9" action="ppaction://hlinksldjump" tooltip="Bloque Economía abierta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acroeconomia/14-tema-b1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Nuevos desarrollos de la teoría del Comercio Internacional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del comercio internacional (II): nueva teoría del comercio internacional. Especial referencia a la competencia imperfecta, los rendimientos crecientes y la heterogeneidad empresarial.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9FF33"/>
          </a:solidFill>
          <a:ln w="9525">
            <a:solidFill>
              <a:srgbClr val="548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 Internacional</a:t>
            </a:r>
            <a:endParaRPr lang="en-US" sz="1700" dirty="0"/>
          </a:p>
        </p:txBody>
      </p:sp>
      <p:sp>
        <p:nvSpPr>
          <p:cNvPr id="10" name="Tema 3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200" dirty="0"/>
          </a:p>
        </p:txBody>
      </p:sp>
      <p:pic>
        <p:nvPicPr>
          <p:cNvPr id="11" name="Image 0" descr="3.B.14 · Teoría tradicional del Comercio Internacional.">
            <a:hlinkClick r:id="rId3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9FF33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200" dirty="0"/>
          </a:p>
        </p:txBody>
      </p:sp>
      <p:sp>
        <p:nvSpPr>
          <p:cNvPr id="13" name="Tema 3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200" dirty="0"/>
          </a:p>
        </p:txBody>
      </p:sp>
      <p:pic>
        <p:nvPicPr>
          <p:cNvPr id="14" name="Image 1" descr="3.B.16 · Política comercial: barreras arancelarias y no arancelarias.">
            <a:hlinkClick r:id="rId5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3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200" dirty="0"/>
          </a:p>
        </p:txBody>
      </p:sp>
      <p:pic>
        <p:nvPicPr>
          <p:cNvPr id="16" name="Image 2" descr="3.B.17 · La política comercial estratégica.">
            <a:hlinkClick r:id="rId6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200" dirty="0"/>
          </a:p>
        </p:txBody>
      </p:sp>
      <p:pic>
        <p:nvPicPr>
          <p:cNvPr id="18" name="Image 3" descr="3.B.18 · Teorías de la integración económica.">
            <a:hlinkClick r:id="rId7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1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3.A.10</a:t>
            </a:r>
            <a:endParaRPr lang="en-US" sz="1200" dirty="0"/>
          </a:p>
        </p:txBody>
      </p:sp>
      <p:pic>
        <p:nvPicPr>
          <p:cNvPr id="22" name="Image 4" descr="3.A.10 · Teoría de la competencia monopolística">
            <a:hlinkClick r:id="rId8" action="ppaction://hlinksldjump" tooltip="3.A.10 · Teoría de la competencia monopolístic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B.14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200" dirty="0"/>
          </a:p>
        </p:txBody>
      </p:sp>
      <p:pic>
        <p:nvPicPr>
          <p:cNvPr id="24" name="Image 5" descr="3.B.14 · Teoría tradicional del Comercio Internacional.">
            <a:hlinkClick r:id="rId3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Economía abierta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FF0000">
              <a:alpha val="45000"/>
            </a:srgbClr>
          </a:solidFill>
          <a:ln w="9525">
            <a:solidFill>
              <a:srgbClr val="FF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100" dirty="0"/>
          </a:p>
        </p:txBody>
      </p:sp>
      <p:pic>
        <p:nvPicPr>
          <p:cNvPr id="26" name="Image 6" descr="Bloque Economía abierta: ver en el esquema">
            <a:hlinkClick r:id="rId9" action="ppaction://hlinksldjump" tooltip="Bloque Economía abierta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acroeconomia/15-tema-b1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comercial: barreras arancelarias y no arancelarias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comercial (I): instrumentos y efectos. Barreras arancelarias y no arancelarias. Otros instrumentos tradicionales.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9FF33"/>
          </a:solidFill>
          <a:ln w="9525">
            <a:solidFill>
              <a:srgbClr val="548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 Internacional</a:t>
            </a:r>
            <a:endParaRPr lang="en-US" sz="1700" dirty="0"/>
          </a:p>
        </p:txBody>
      </p:sp>
      <p:sp>
        <p:nvSpPr>
          <p:cNvPr id="10" name="Tema 3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200" dirty="0"/>
          </a:p>
        </p:txBody>
      </p:sp>
      <p:pic>
        <p:nvPicPr>
          <p:cNvPr id="11" name="Image 0" descr="3.B.14 · Teoría tradicional del Comercio Internacional.">
            <a:hlinkClick r:id="rId3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200" dirty="0"/>
          </a:p>
        </p:txBody>
      </p:sp>
      <p:pic>
        <p:nvPicPr>
          <p:cNvPr id="13" name="Image 1" descr="3.B.15 · Nuevos desarrollos de la teoría del Comercio Internacional.">
            <a:hlinkClick r:id="rId5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9FF33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200" dirty="0"/>
          </a:p>
        </p:txBody>
      </p:sp>
      <p:sp>
        <p:nvSpPr>
          <p:cNvPr id="15" name="Tema 3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200" dirty="0"/>
          </a:p>
        </p:txBody>
      </p:sp>
      <p:pic>
        <p:nvPicPr>
          <p:cNvPr id="16" name="Image 2" descr="3.B.17 · La política comercial estratégica.">
            <a:hlinkClick r:id="rId6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3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200" dirty="0"/>
          </a:p>
        </p:txBody>
      </p:sp>
      <p:pic>
        <p:nvPicPr>
          <p:cNvPr id="18" name="Image 3" descr="3.B.18 · Teorías de la integración económica.">
            <a:hlinkClick r:id="rId7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B.17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200" dirty="0"/>
          </a:p>
        </p:txBody>
      </p:sp>
      <p:pic>
        <p:nvPicPr>
          <p:cNvPr id="22" name="Image 4" descr="3.B.17 · La política comercial estratégica.">
            <a:hlinkClick r:id="rId6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B.18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200" dirty="0"/>
          </a:p>
        </p:txBody>
      </p:sp>
      <p:pic>
        <p:nvPicPr>
          <p:cNvPr id="24" name="Image 5" descr="3.B.18 · Teorías de la integración económica.">
            <a:hlinkClick r:id="rId7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Economía abierta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FF0000">
              <a:alpha val="45000"/>
            </a:srgbClr>
          </a:solidFill>
          <a:ln w="9525">
            <a:solidFill>
              <a:srgbClr val="FF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100" dirty="0"/>
          </a:p>
        </p:txBody>
      </p:sp>
      <p:pic>
        <p:nvPicPr>
          <p:cNvPr id="26" name="Image 6" descr="Bloque Economía abierta: ver en el esquema">
            <a:hlinkClick r:id="rId8" action="ppaction://hlinksldjump" tooltip="Bloque Economía abierta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tooltip="https://manuelcabadogarcia.es/macroeconomia/16-tema-b16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comercial estratégica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comercial (II): la política comercial estratégica.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9FF33"/>
          </a:solidFill>
          <a:ln w="9525">
            <a:solidFill>
              <a:srgbClr val="548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 Internacional</a:t>
            </a:r>
            <a:endParaRPr lang="en-US" sz="1700" dirty="0"/>
          </a:p>
        </p:txBody>
      </p:sp>
      <p:sp>
        <p:nvSpPr>
          <p:cNvPr id="10" name="Tema 3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200" dirty="0"/>
          </a:p>
        </p:txBody>
      </p:sp>
      <p:pic>
        <p:nvPicPr>
          <p:cNvPr id="11" name="Image 0" descr="3.B.14 · Teoría tradicional del Comercio Internacional.">
            <a:hlinkClick r:id="rId3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200" dirty="0"/>
          </a:p>
        </p:txBody>
      </p:sp>
      <p:pic>
        <p:nvPicPr>
          <p:cNvPr id="13" name="Image 1" descr="3.B.15 · Nuevos desarrollos de la teoría del Comercio Internacional.">
            <a:hlinkClick r:id="rId5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200" dirty="0"/>
          </a:p>
        </p:txBody>
      </p:sp>
      <p:pic>
        <p:nvPicPr>
          <p:cNvPr id="15" name="Image 2" descr="3.B.16 · Política comercial: barreras arancelarias y no arancelarias.">
            <a:hlinkClick r:id="rId6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9FF33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200" dirty="0"/>
          </a:p>
        </p:txBody>
      </p:sp>
      <p:sp>
        <p:nvSpPr>
          <p:cNvPr id="17" name="Tema 3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200" dirty="0"/>
          </a:p>
        </p:txBody>
      </p:sp>
      <p:pic>
        <p:nvPicPr>
          <p:cNvPr id="18" name="Image 3" descr="3.B.18 · Teorías de la integración económica.">
            <a:hlinkClick r:id="rId7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A.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00CC00"/>
          </a:solidFill>
          <a:ln w="6350">
            <a:solidFill>
              <a:srgbClr val="00CC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3.A.9</a:t>
            </a:r>
            <a:endParaRPr lang="en-US" sz="1200" dirty="0"/>
          </a:p>
        </p:txBody>
      </p:sp>
      <p:pic>
        <p:nvPicPr>
          <p:cNvPr id="22" name="Image 4" descr="3.A.9 · Teoría del oligopolio. Análisis mediante la teoría de juegos">
            <a:hlinkClick r:id="rId8" action="ppaction://hlinksldjump" tooltip="3.A.9 · Teoría del oligopolio. Análisis mediante la teoría de juego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B.16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200" dirty="0"/>
          </a:p>
        </p:txBody>
      </p:sp>
      <p:pic>
        <p:nvPicPr>
          <p:cNvPr id="24" name="Image 5" descr="3.B.16 · Política comercial: barreras arancelarias y no arancelarias.">
            <a:hlinkClick r:id="rId6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Economía abierta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FF0000">
              <a:alpha val="45000"/>
            </a:srgbClr>
          </a:solidFill>
          <a:ln w="9525">
            <a:solidFill>
              <a:srgbClr val="FF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100" dirty="0"/>
          </a:p>
        </p:txBody>
      </p:sp>
      <p:pic>
        <p:nvPicPr>
          <p:cNvPr id="26" name="Image 6" descr="Bloque Economía abierta: ver en el esquema">
            <a:hlinkClick r:id="rId9" action="ppaction://hlinksldjump" tooltip="Bloque Economía abierta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acroeconomia/17-tema-b17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integración económica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integración económica.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99FF33"/>
          </a:solidFill>
          <a:ln w="9525">
            <a:solidFill>
              <a:srgbClr val="548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 Internacional</a:t>
            </a:r>
            <a:endParaRPr lang="en-US" sz="1700" dirty="0"/>
          </a:p>
        </p:txBody>
      </p:sp>
      <p:sp>
        <p:nvSpPr>
          <p:cNvPr id="10" name="Tema 3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3.B.14</a:t>
            </a:r>
            <a:endParaRPr lang="en-US" sz="1200" dirty="0"/>
          </a:p>
        </p:txBody>
      </p:sp>
      <p:pic>
        <p:nvPicPr>
          <p:cNvPr id="11" name="Image 0" descr="3.B.14 · Teoría tradicional del Comercio Internacional.">
            <a:hlinkClick r:id="rId3" action="ppaction://hlinksldjump" tooltip="3.B.14 · Teoría tradicional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3.B.15</a:t>
            </a:r>
            <a:endParaRPr lang="en-US" sz="1200" dirty="0"/>
          </a:p>
        </p:txBody>
      </p:sp>
      <p:pic>
        <p:nvPicPr>
          <p:cNvPr id="13" name="Image 1" descr="3.B.15 · Nuevos desarrollos de la teoría del Comercio Internacional.">
            <a:hlinkClick r:id="rId5" action="ppaction://hlinksldjump" tooltip="3.B.15 · Nuevos desarrollos de la teoría del Comercio Inter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200" dirty="0"/>
          </a:p>
        </p:txBody>
      </p:sp>
      <p:pic>
        <p:nvPicPr>
          <p:cNvPr id="15" name="Image 2" descr="3.B.16 · Política comercial: barreras arancelarias y no arancelarias.">
            <a:hlinkClick r:id="rId6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6" name="Tema 3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3.B.17</a:t>
            </a:r>
            <a:endParaRPr lang="en-US" sz="1200" dirty="0"/>
          </a:p>
        </p:txBody>
      </p:sp>
      <p:pic>
        <p:nvPicPr>
          <p:cNvPr id="17" name="Image 3" descr="3.B.17 · La política comercial estratégica.">
            <a:hlinkClick r:id="rId7" action="ppaction://hlinksldjump" tooltip="3.B.17 · La política comercial estratég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8" name="Tema 3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99FF33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1" name="Tema 3.B.16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3.B.16</a:t>
            </a:r>
            <a:endParaRPr lang="en-US" sz="1200" dirty="0"/>
          </a:p>
        </p:txBody>
      </p:sp>
      <p:pic>
        <p:nvPicPr>
          <p:cNvPr id="22" name="Image 4" descr="3.B.16 · Política comercial: barreras arancelarias y no arancelarias.">
            <a:hlinkClick r:id="rId6" action="ppaction://hlinksldjump" tooltip="3.B.16 · Política comercial: barreras arancelarias y no arancelari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3" name="Tema 3.B.2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200" dirty="0"/>
          </a:p>
        </p:txBody>
      </p:sp>
      <p:pic>
        <p:nvPicPr>
          <p:cNvPr id="24" name="Image 5" descr="3.B.22 · Teorías de la integración monetaria.">
            <a:hlinkClick r:id="rId8" action="ppaction://hlinksldjump" tooltip="3.B.22 · Teorías de la integración monetari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5" name="Bloque conectado Economía abierta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FF0000">
              <a:alpha val="45000"/>
            </a:srgbClr>
          </a:solidFill>
          <a:ln w="9525">
            <a:solidFill>
              <a:srgbClr val="FF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100" dirty="0"/>
          </a:p>
        </p:txBody>
      </p:sp>
      <p:pic>
        <p:nvPicPr>
          <p:cNvPr id="26" name="Image 6" descr="Bloque Economía abierta: ver en el esquema">
            <a:hlinkClick r:id="rId9" action="ppaction://hlinksldjump" tooltip="Bloque Economía abierta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tooltip="https://manuelcabadogarcia.es/macroeconomia/18-tema-b1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7" descr="Menú">
            <a:hlinkClick r:id="rId11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8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9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19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Balanza de Pagos: concepto, medición e interpretación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Balanza de Pagos: concepto, medición e interpretación.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CCCC"/>
          </a:solidFill>
          <a:ln w="9525">
            <a:solidFill>
              <a:srgbClr val="8C70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Contabilidad Nacional</a:t>
            </a:r>
            <a:endParaRPr lang="en-US" sz="1700" dirty="0"/>
          </a:p>
        </p:txBody>
      </p:sp>
      <p:sp>
        <p:nvSpPr>
          <p:cNvPr id="10" name="Tema 3.B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</a:t>
            </a:r>
            <a:endParaRPr lang="en-US" sz="1200" dirty="0"/>
          </a:p>
        </p:txBody>
      </p:sp>
      <p:pic>
        <p:nvPicPr>
          <p:cNvPr id="11" name="Image 0" descr="3.B.1 · Magnitudes macroeconómicas y contabilidad nacional.">
            <a:hlinkClick r:id="rId3" action="ppaction://hlinksldjump" tooltip="3.B.1 · Magnitudes macroeconómicas y contabilidad 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19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CCCC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3.B.19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5" name="Tema 3.B.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</a:t>
            </a:r>
            <a:endParaRPr lang="en-US" sz="1200" dirty="0"/>
          </a:p>
        </p:txBody>
      </p:sp>
      <p:pic>
        <p:nvPicPr>
          <p:cNvPr id="16" name="Image 1" descr="3.B.1 · Magnitudes macroeconómicas y contabilidad nacional.">
            <a:hlinkClick r:id="rId3" action="ppaction://hlinksldjump" tooltip="3.B.1 · Magnitudes macroeconómicas y contabilidad nacional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7" name="Tema 3.B.20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200" dirty="0"/>
          </a:p>
        </p:txBody>
      </p:sp>
      <p:pic>
        <p:nvPicPr>
          <p:cNvPr id="18" name="Image 2" descr="3.B.20 · Mecanismos de ajuste de la Balanza de Pagos.">
            <a:hlinkClick r:id="rId5" action="ppaction://hlinksldjump" tooltip="3.B.20 · Mecanismos de ajuste de la Balanza de Pag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manuelcabadogarcia.es/macroeconomia/19-tema-b1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1" name="Image 3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3" name="Image 4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5" name="Image 5" descr="Listado">
            <a:hlinkClick r:id="rId9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20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Mecanismos de ajuste de la Balanza de Pagos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Mecanismos de ajuste de la Balanza de Pagos. Especial referencia al enfoque intertemporal de la Balanza de Pagos. Análisis de sostenibilidad del déficit y de la deuda exterior.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abierta</a:t>
            </a:r>
            <a:endParaRPr lang="en-US" sz="1700" dirty="0"/>
          </a:p>
        </p:txBody>
      </p:sp>
      <p:sp>
        <p:nvSpPr>
          <p:cNvPr id="10" name="Tema 3.B.20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0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200" dirty="0"/>
          </a:p>
        </p:txBody>
      </p:sp>
      <p:sp>
        <p:nvSpPr>
          <p:cNvPr id="11" name="Tema 3.B.21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200" dirty="0"/>
          </a:p>
        </p:txBody>
      </p:sp>
      <p:pic>
        <p:nvPicPr>
          <p:cNvPr id="12" name="Image 0" descr="3.B.21 · El mercado de divisas.">
            <a:hlinkClick r:id="rId3" action="ppaction://hlinksldjump" tooltip="3.B.21 · El mercado de divis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3.B.22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200" dirty="0"/>
          </a:p>
        </p:txBody>
      </p:sp>
      <p:pic>
        <p:nvPicPr>
          <p:cNvPr id="14" name="Image 1" descr="3.B.22 · Teorías de la integración monetaria.">
            <a:hlinkClick r:id="rId5" action="ppaction://hlinksldjump" tooltip="3.B.22 · Teorías de la integración monetari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7" name="Tema 3.B.1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CCCC"/>
          </a:solidFill>
          <a:ln w="6350">
            <a:solidFill>
              <a:srgbClr val="FF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3.B.19</a:t>
            </a:r>
            <a:endParaRPr lang="en-US" sz="1200" dirty="0"/>
          </a:p>
        </p:txBody>
      </p:sp>
      <p:pic>
        <p:nvPicPr>
          <p:cNvPr id="18" name="Image 2" descr="3.B.19 · Balanza de Pagos: concepto, medición e interpretación.">
            <a:hlinkClick r:id="rId6" action="ppaction://hlinksldjump" tooltip="3.B.19 · Balanza de Pagos: concepto, medición e interpretación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9" name="Tema 3.B.21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200" dirty="0"/>
          </a:p>
        </p:txBody>
      </p:sp>
      <p:pic>
        <p:nvPicPr>
          <p:cNvPr id="20" name="Image 3" descr="3.B.21 · El mercado de divisas.">
            <a:hlinkClick r:id="rId3" action="ppaction://hlinksldjump" tooltip="3.B.21 · El mercado de divis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1" name="Bloque conectado Comercio Internacional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9FF33">
              <a:alpha val="45000"/>
            </a:srgbClr>
          </a:solidFill>
          <a:ln w="9525">
            <a:solidFill>
              <a:srgbClr val="548C1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Internacional</a:t>
            </a:r>
            <a:endParaRPr lang="en-US" sz="1100" dirty="0"/>
          </a:p>
        </p:txBody>
      </p:sp>
      <p:pic>
        <p:nvPicPr>
          <p:cNvPr id="22" name="Image 4" descr="Bloque Comercio Internacional: ver en el esquema">
            <a:hlinkClick r:id="rId7" action="ppaction://hlinksldjump" tooltip="Bloque Comercio Internacional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tooltip="https://manuelcabadogarcia.es/macroeconomia/20-tema-b2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6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7" descr="Listado">
            <a:hlinkClick r:id="rId1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2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de divisas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de divisas: operaciones e instrumentos. Teorías de la determinación del tipo de cambio.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abierta</a:t>
            </a:r>
            <a:endParaRPr lang="en-US" sz="1700" dirty="0"/>
          </a:p>
        </p:txBody>
      </p:sp>
      <p:sp>
        <p:nvSpPr>
          <p:cNvPr id="10" name="Tema 3.B.20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200" dirty="0"/>
          </a:p>
        </p:txBody>
      </p:sp>
      <p:pic>
        <p:nvPicPr>
          <p:cNvPr id="11" name="Image 0" descr="3.B.20 · Mecanismos de ajuste de la Balanza de Pagos.">
            <a:hlinkClick r:id="rId3" action="ppaction://hlinksldjump" tooltip="3.B.20 · Mecanismos de ajuste de la Balanza de Pag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21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0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200" dirty="0"/>
          </a:p>
        </p:txBody>
      </p:sp>
      <p:sp>
        <p:nvSpPr>
          <p:cNvPr id="13" name="Tema 3.B.22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200" dirty="0"/>
          </a:p>
        </p:txBody>
      </p:sp>
      <p:pic>
        <p:nvPicPr>
          <p:cNvPr id="14" name="Image 1" descr="3.B.22 · Teorías de la integración monetaria.">
            <a:hlinkClick r:id="rId5" action="ppaction://hlinksldjump" tooltip="3.B.22 · Teorías de la integración monetari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7" name="Tema 3.B.2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200" dirty="0"/>
          </a:p>
        </p:txBody>
      </p:sp>
      <p:pic>
        <p:nvPicPr>
          <p:cNvPr id="18" name="Image 2" descr="3.B.20 · Mecanismos de ajuste de la Balanza de Pagos.">
            <a:hlinkClick r:id="rId3" action="ppaction://hlinksldjump" tooltip="3.B.20 · Mecanismos de ajuste de la Balanza de Pag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9" name="Tema 3.B.2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200" dirty="0"/>
          </a:p>
        </p:txBody>
      </p:sp>
      <p:pic>
        <p:nvPicPr>
          <p:cNvPr id="20" name="Image 3" descr="3.B.22 · Teorías de la integración monetaria.">
            <a:hlinkClick r:id="rId5" action="ppaction://hlinksldjump" tooltip="3.B.22 · Teorías de la integración monetari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1" name="Bloque conectado Comercio Internacional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9FF33">
              <a:alpha val="45000"/>
            </a:srgbClr>
          </a:solidFill>
          <a:ln w="9525">
            <a:solidFill>
              <a:srgbClr val="548C1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Internacional</a:t>
            </a:r>
            <a:endParaRPr lang="en-US" sz="1100" dirty="0"/>
          </a:p>
        </p:txBody>
      </p:sp>
      <p:pic>
        <p:nvPicPr>
          <p:cNvPr id="22" name="Image 4" descr="Bloque Comercio Internacional: ver en el esquema">
            <a:hlinkClick r:id="rId6" action="ppaction://hlinksldjump" tooltip="Bloque Comercio Internacional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tooltip="https://manuelcabadogarcia.es/macroeconomia/21-tema-b2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5" descr="Menú">
            <a:hlinkClick r:id="rId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6" descr="Esquema">
            <a:hlinkClick r:id="rId6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7" descr="Listado">
            <a:hlinkClick r:id="rId9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ejercicio · Parte B) Macroeconomía y Economía Internacional</a:t>
            </a:r>
            <a:endParaRPr lang="en-US" sz="1200" dirty="0"/>
          </a:p>
        </p:txBody>
      </p:sp>
      <p:sp>
        <p:nvSpPr>
          <p:cNvPr id="3" name="Tema 3.B.2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777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A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Teorías de la integración monetaria</a:t>
            </a:r>
            <a:endParaRPr lang="en-US" sz="2200" dirty="0"/>
          </a:p>
        </p:txBody>
      </p:sp>
      <p:sp>
        <p:nvSpPr>
          <p:cNvPr id="5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integración monetaria.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abierta</a:t>
            </a:r>
            <a:endParaRPr lang="en-US" sz="1700" dirty="0"/>
          </a:p>
        </p:txBody>
      </p:sp>
      <p:sp>
        <p:nvSpPr>
          <p:cNvPr id="10" name="Tema 3.B.20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3.B.20</a:t>
            </a:r>
            <a:endParaRPr lang="en-US" sz="1200" dirty="0"/>
          </a:p>
        </p:txBody>
      </p:sp>
      <p:pic>
        <p:nvPicPr>
          <p:cNvPr id="11" name="Image 0" descr="3.B.20 · Mecanismos de ajuste de la Balanza de Pagos.">
            <a:hlinkClick r:id="rId3" action="ppaction://hlinksldjump" tooltip="3.B.20 · Mecanismos de ajuste de la Balanza de Pago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2" name="Tema 3.B.21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200" dirty="0"/>
          </a:p>
        </p:txBody>
      </p:sp>
      <p:pic>
        <p:nvPicPr>
          <p:cNvPr id="13" name="Image 1" descr="3.B.21 · El mercado de divisas.">
            <a:hlinkClick r:id="rId5" action="ppaction://hlinksldjump" tooltip="3.B.21 · El mercado de divis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4" name="Tema 3.B.22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0000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7" name="Tema 3.B.18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99FF33"/>
          </a:solidFill>
          <a:ln w="6350">
            <a:solidFill>
              <a:srgbClr val="99FF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3.B.18</a:t>
            </a:r>
            <a:endParaRPr lang="en-US" sz="1200" dirty="0"/>
          </a:p>
        </p:txBody>
      </p:sp>
      <p:pic>
        <p:nvPicPr>
          <p:cNvPr id="18" name="Image 2" descr="3.B.18 · Teorías de la integración económica.">
            <a:hlinkClick r:id="rId6" action="ppaction://hlinksldjump" tooltip="3.B.18 · Teorías de la integración económ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9" name="Tema 3.B.21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3.B.21</a:t>
            </a:r>
            <a:endParaRPr lang="en-US" sz="1200" dirty="0"/>
          </a:p>
        </p:txBody>
      </p:sp>
      <p:pic>
        <p:nvPicPr>
          <p:cNvPr id="20" name="Image 3" descr="3.B.21 · El mercado de divisas.">
            <a:hlinkClick r:id="rId5" action="ppaction://hlinksldjump" tooltip="3.B.21 · El mercado de divisas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1" name="Bloque conectado Comercio Internacional"/>
          <p:cNvSpPr txBox="1"/>
          <p:nvPr/>
        </p:nvSpPr>
        <p:spPr>
          <a:xfrm>
            <a:off x="6530188" y="4709160"/>
            <a:ext cx="2359838" cy="411480"/>
          </a:xfrm>
          <a:prstGeom prst="rect">
            <a:avLst/>
          </a:prstGeom>
          <a:solidFill>
            <a:srgbClr val="99FF33">
              <a:alpha val="45000"/>
            </a:srgbClr>
          </a:solidFill>
          <a:ln w="9525">
            <a:solidFill>
              <a:srgbClr val="548C1C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Internacional</a:t>
            </a:r>
            <a:endParaRPr lang="en-US" sz="1100" dirty="0"/>
          </a:p>
        </p:txBody>
      </p:sp>
      <p:pic>
        <p:nvPicPr>
          <p:cNvPr id="22" name="Image 4" descr="Bloque Comercio Internacional: ver en el esquema">
            <a:hlinkClick r:id="rId7" action="ppaction://hlinksldjump" tooltip="Bloque Comercio Internacional: ver en el 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709160"/>
            <a:ext cx="2359838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tooltip="https://manuelcabadogarcia.es/macroeconomia/22-tema-b22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Leer los apuntes de este tema en la web →</a:t>
            </a:r>
            <a:endParaRPr lang="en-US" sz="1300" dirty="0"/>
          </a:p>
        </p:txBody>
      </p:sp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6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7" descr="Listado">
            <a:hlinkClick r:id="rId1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sectores agrícola y pesquero en España.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Sectores productivos</a:t>
            </a:r>
            <a:endParaRPr lang="en-US" sz="1700" dirty="0"/>
          </a:p>
        </p:txBody>
      </p:sp>
      <p:sp>
        <p:nvSpPr>
          <p:cNvPr id="9" name="Tema 1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200" dirty="0"/>
          </a:p>
        </p:txBody>
      </p:sp>
      <p:sp>
        <p:nvSpPr>
          <p:cNvPr id="10" name="Tema 1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200" dirty="0"/>
          </a:p>
        </p:txBody>
      </p:sp>
      <p:pic>
        <p:nvPicPr>
          <p:cNvPr id="11" name="Image 0" descr="1.A.2 · Análisis de la industria en España. Evolución, características y situación actua">
            <a:hlinkClick r:id="rId3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Tema 1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200" dirty="0"/>
          </a:p>
        </p:txBody>
      </p:sp>
      <p:pic>
        <p:nvPicPr>
          <p:cNvPr id="13" name="Image 1" descr="1.A.5 · El sector de la construcción en España. El mercado de la vivienda: problemas y s">
            <a:hlinkClick r:id="rId5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200" dirty="0"/>
          </a:p>
        </p:txBody>
      </p:sp>
      <p:pic>
        <p:nvPicPr>
          <p:cNvPr id="15" name="Image 2" descr="1.A.6 · Estructura y política de los sectores de los transportes y las telecomunicacione">
            <a:hlinkClick r:id="rId6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200" dirty="0"/>
          </a:p>
        </p:txBody>
      </p:sp>
      <p:pic>
        <p:nvPicPr>
          <p:cNvPr id="17" name="Image 3" descr="1.A.7 · El turismo en España: evolución, retos y política turística.">
            <a:hlinkClick r:id="rId7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A.8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200" dirty="0"/>
          </a:p>
        </p:txBody>
      </p:sp>
      <p:pic>
        <p:nvPicPr>
          <p:cNvPr id="19" name="Image 4" descr="1.A.8 · Estructura, políticas y retos de la distribución, con especial referencia al com">
            <a:hlinkClick r:id="rId8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2" name="Tema 1.B.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23" name="Image 5" descr="1.B.9 · La política agrícola de la UE. Problemas económicos y procesos de reforma. La po">
            <a:hlinkClick r:id="rId9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6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7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la industria en España. Evolución, características y situación actual de la industria y de la política industrial españolas. La estrategia de la UE. Referencia a los principales sectores: industria agroalimentaria, automovilística, química y farmacéutica e industria de fabricación de bienes de equipo y de alta tecnología.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Sectores productivos</a:t>
            </a:r>
            <a:endParaRPr lang="en-US" sz="1700" dirty="0"/>
          </a:p>
        </p:txBody>
      </p:sp>
      <p:sp>
        <p:nvSpPr>
          <p:cNvPr id="9" name="Tema 1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200" dirty="0"/>
          </a:p>
        </p:txBody>
      </p:sp>
      <p:pic>
        <p:nvPicPr>
          <p:cNvPr id="10" name="Image 0" descr="1.A.1 · Los sectores agrícola y pesquero en España.">
            <a:hlinkClick r:id="rId3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200" dirty="0"/>
          </a:p>
        </p:txBody>
      </p:sp>
      <p:sp>
        <p:nvSpPr>
          <p:cNvPr id="12" name="Tema 1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200" dirty="0"/>
          </a:p>
        </p:txBody>
      </p:sp>
      <p:pic>
        <p:nvPicPr>
          <p:cNvPr id="13" name="Image 1" descr="1.A.5 · El sector de la construcción en España. El mercado de la vivienda: problemas y s">
            <a:hlinkClick r:id="rId5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200" dirty="0"/>
          </a:p>
        </p:txBody>
      </p:sp>
      <p:pic>
        <p:nvPicPr>
          <p:cNvPr id="15" name="Image 2" descr="1.A.6 · Estructura y política de los sectores de los transportes y las telecomunicacione">
            <a:hlinkClick r:id="rId6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200" dirty="0"/>
          </a:p>
        </p:txBody>
      </p:sp>
      <p:pic>
        <p:nvPicPr>
          <p:cNvPr id="17" name="Image 3" descr="1.A.7 · El turismo en España: evolución, retos y política turística.">
            <a:hlinkClick r:id="rId7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A.8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200" dirty="0"/>
          </a:p>
        </p:txBody>
      </p:sp>
      <p:pic>
        <p:nvPicPr>
          <p:cNvPr id="19" name="Image 4" descr="1.A.8 · Estructura, políticas y retos de la distribución, con especial referencia al com">
            <a:hlinkClick r:id="rId8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2" name="Tema 1.A.3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1.A.3</a:t>
            </a:r>
            <a:endParaRPr lang="en-US" sz="1200" dirty="0"/>
          </a:p>
        </p:txBody>
      </p:sp>
      <p:pic>
        <p:nvPicPr>
          <p:cNvPr id="23" name="Image 5" descr="1.A.3 · La política española de energía y clima: mitigación y adaptación al cambio climá">
            <a:hlinkClick r:id="rId9" action="ppaction://hlinksldjump" tooltip="1.A.3 · La política española de energía y clima: mitigación y adaptación al cambio climá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6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7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1.A.3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española de energía y clima: mitigación y adaptación al cambio climático. Vinculación con la política de energía y clima de la UE. La política de ciencia y tecnología en España. Vinculación con la política de I+D de la UE.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Energía, clima y tecnología</a:t>
            </a:r>
            <a:endParaRPr lang="en-US" sz="1700" dirty="0"/>
          </a:p>
        </p:txBody>
      </p:sp>
      <p:sp>
        <p:nvSpPr>
          <p:cNvPr id="9" name="Tema 1.A.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1.A.3</a:t>
            </a:r>
            <a:endParaRPr lang="en-US" sz="1200" dirty="0"/>
          </a:p>
        </p:txBody>
      </p:sp>
      <p:sp>
        <p:nvSpPr>
          <p:cNvPr id="10" name="Tema 1.A.4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1.A.4</a:t>
            </a:r>
            <a:endParaRPr lang="en-US" sz="1200" dirty="0"/>
          </a:p>
        </p:txBody>
      </p:sp>
      <p:pic>
        <p:nvPicPr>
          <p:cNvPr id="11" name="Image 0" descr="1.A.4 · Estructura del sector energético y subsectores: sistema eléctrico, sistema gasis">
            <a:hlinkClick r:id="rId3" action="ppaction://hlinksldjump" tooltip="1.A.4 · Estructura del sector energético y subsectores: sistema eléctrico, sistema ga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4" name="Tema 1.A.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1.A.4</a:t>
            </a:r>
            <a:endParaRPr lang="en-US" sz="1200" dirty="0"/>
          </a:p>
        </p:txBody>
      </p:sp>
      <p:pic>
        <p:nvPicPr>
          <p:cNvPr id="15" name="Image 1" descr="1.A.4 · Estructura del sector energético y subsectores: sistema eléctrico, sistema gasis">
            <a:hlinkClick r:id="rId3" action="ppaction://hlinksldjump" tooltip="1.A.4 · Estructura del sector energético y subsectores: sistema eléctrico, sistema ga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6" name="Tema 1.A.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200" dirty="0"/>
          </a:p>
        </p:txBody>
      </p:sp>
      <p:pic>
        <p:nvPicPr>
          <p:cNvPr id="17" name="Image 2" descr="1.A.2 · Análisis de la industria en España. Evolución, características y situación actua">
            <a:hlinkClick r:id="rId5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9" name="Image 3" descr="Menú">
            <a:hlinkClick r:id="rId6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1" name="Image 4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3" name="Image 5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1.A.4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sector energético y subsectores: sistema eléctrico, sistema gasista y productos petrolíferos. Nuevas tecnologías y retos del sector.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Energía, clima y tecnología</a:t>
            </a:r>
            <a:endParaRPr lang="en-US" sz="1700" dirty="0"/>
          </a:p>
        </p:txBody>
      </p:sp>
      <p:sp>
        <p:nvSpPr>
          <p:cNvPr id="9" name="Tema 1.A.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1.A.3</a:t>
            </a:r>
            <a:endParaRPr lang="en-US" sz="1200" dirty="0"/>
          </a:p>
        </p:txBody>
      </p:sp>
      <p:pic>
        <p:nvPicPr>
          <p:cNvPr id="10" name="Image 0" descr="1.A.3 · La política española de energía y clima: mitigación y adaptación al cambio climá">
            <a:hlinkClick r:id="rId3" action="ppaction://hlinksldjump" tooltip="1.A.3 · La política española de energía y clima: mitigación y adaptación al cambio climá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4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4" name="Tema 1.A.3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1.A.3</a:t>
            </a:r>
            <a:endParaRPr lang="en-US" sz="1200" dirty="0"/>
          </a:p>
        </p:txBody>
      </p:sp>
      <p:pic>
        <p:nvPicPr>
          <p:cNvPr id="15" name="Image 1" descr="1.A.3 · La política española de energía y clima: mitigación y adaptación al cambio climá">
            <a:hlinkClick r:id="rId3" action="ppaction://hlinksldjump" tooltip="1.A.3 · La política española de energía y clima: mitigación y adaptación al cambio climá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7" name="Image 2" descr="Menú">
            <a:hlinkClick r:id="rId5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1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19" name="Image 3" descr="Esquema">
            <a:hlinkClick r:id="rId6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1" name="Image 4" descr="Listado">
            <a:hlinkClick r:id="rId7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sector de la construcción en España. El mercado de la vivienda: problemas y situación actual. Política de vivienda y suelo.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Sectores productivos</a:t>
            </a:r>
            <a:endParaRPr lang="en-US" sz="1700" dirty="0"/>
          </a:p>
        </p:txBody>
      </p:sp>
      <p:sp>
        <p:nvSpPr>
          <p:cNvPr id="9" name="Tema 1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200" dirty="0"/>
          </a:p>
        </p:txBody>
      </p:sp>
      <p:pic>
        <p:nvPicPr>
          <p:cNvPr id="10" name="Image 0" descr="1.A.1 · Los sectores agrícola y pesquero en España.">
            <a:hlinkClick r:id="rId3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200" dirty="0"/>
          </a:p>
        </p:txBody>
      </p:sp>
      <p:pic>
        <p:nvPicPr>
          <p:cNvPr id="12" name="Image 1" descr="1.A.2 · Análisis de la industria en España. Evolución, características y situación actua">
            <a:hlinkClick r:id="rId5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200" dirty="0"/>
          </a:p>
        </p:txBody>
      </p:sp>
      <p:sp>
        <p:nvSpPr>
          <p:cNvPr id="14" name="Tema 1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200" dirty="0"/>
          </a:p>
        </p:txBody>
      </p:sp>
      <p:pic>
        <p:nvPicPr>
          <p:cNvPr id="15" name="Image 2" descr="1.A.6 · Estructura y política de los sectores de los transportes y las telecomunicacione">
            <a:hlinkClick r:id="rId6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200" dirty="0"/>
          </a:p>
        </p:txBody>
      </p:sp>
      <p:pic>
        <p:nvPicPr>
          <p:cNvPr id="17" name="Image 3" descr="1.A.7 · El turismo en España: evolución, retos y política turística.">
            <a:hlinkClick r:id="rId7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A.8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200" dirty="0"/>
          </a:p>
        </p:txBody>
      </p:sp>
      <p:pic>
        <p:nvPicPr>
          <p:cNvPr id="19" name="Image 4" descr="1.A.8 · Estructura, políticas y retos de la distribución, con especial referencia al com">
            <a:hlinkClick r:id="rId8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2" name="Tema 1.A.1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200" dirty="0"/>
          </a:p>
        </p:txBody>
      </p:sp>
      <p:pic>
        <p:nvPicPr>
          <p:cNvPr id="23" name="Image 5" descr="1.A.10 · Sistema financiero español (I): evolución reciente del sistema financiero españo">
            <a:hlinkClick r:id="rId9" action="ppaction://hlinksldjump" tooltip="1.A.10 · Sistema financiero español (I): evolución reciente del sistema financiero españ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6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7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y política de los sectores de los transportes y las telecomunicaciones en España.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Sectores productivos</a:t>
            </a:r>
            <a:endParaRPr lang="en-US" sz="1700" dirty="0"/>
          </a:p>
        </p:txBody>
      </p:sp>
      <p:sp>
        <p:nvSpPr>
          <p:cNvPr id="9" name="Tema 1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200" dirty="0"/>
          </a:p>
        </p:txBody>
      </p:sp>
      <p:pic>
        <p:nvPicPr>
          <p:cNvPr id="10" name="Image 0" descr="1.A.1 · Los sectores agrícola y pesquero en España.">
            <a:hlinkClick r:id="rId3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200" dirty="0"/>
          </a:p>
        </p:txBody>
      </p:sp>
      <p:pic>
        <p:nvPicPr>
          <p:cNvPr id="12" name="Image 1" descr="1.A.2 · Análisis de la industria en España. Evolución, características y situación actua">
            <a:hlinkClick r:id="rId5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200" dirty="0"/>
          </a:p>
        </p:txBody>
      </p:sp>
      <p:pic>
        <p:nvPicPr>
          <p:cNvPr id="14" name="Image 2" descr="1.A.5 · El sector de la construcción en España. El mercado de la vivienda: problemas y s">
            <a:hlinkClick r:id="rId6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200" dirty="0"/>
          </a:p>
        </p:txBody>
      </p:sp>
      <p:sp>
        <p:nvSpPr>
          <p:cNvPr id="16" name="Tema 1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200" dirty="0"/>
          </a:p>
        </p:txBody>
      </p:sp>
      <p:pic>
        <p:nvPicPr>
          <p:cNvPr id="17" name="Image 3" descr="1.A.7 · El turismo en España: evolución, retos y política turística.">
            <a:hlinkClick r:id="rId7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A.8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200" dirty="0"/>
          </a:p>
        </p:txBody>
      </p:sp>
      <p:pic>
        <p:nvPicPr>
          <p:cNvPr id="19" name="Image 4" descr="1.A.8 · Estructura, políticas y retos de la distribución, con especial referencia al com">
            <a:hlinkClick r:id="rId8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2" name="Tema 1.A.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1.A.9</a:t>
            </a:r>
            <a:endParaRPr lang="en-US" sz="1200" dirty="0"/>
          </a:p>
        </p:txBody>
      </p:sp>
      <p:pic>
        <p:nvPicPr>
          <p:cNvPr id="23" name="Image 5" descr="1.A.9 · La defensa y la promoción de la competencia en España. Principios de regulación ">
            <a:hlinkClick r:id="rId9" action="ppaction://hlinksldjump" tooltip="1.A.9 · La defensa y la promoción de la competencia en España. Principios de regulación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6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7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turismo en España: evolución, retos y política turística.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Sectores productivos</a:t>
            </a:r>
            <a:endParaRPr lang="en-US" sz="1700" dirty="0"/>
          </a:p>
        </p:txBody>
      </p:sp>
      <p:sp>
        <p:nvSpPr>
          <p:cNvPr id="9" name="Tema 1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200" dirty="0"/>
          </a:p>
        </p:txBody>
      </p:sp>
      <p:pic>
        <p:nvPicPr>
          <p:cNvPr id="10" name="Image 0" descr="1.A.1 · Los sectores agrícola y pesquero en España.">
            <a:hlinkClick r:id="rId3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200" dirty="0"/>
          </a:p>
        </p:txBody>
      </p:sp>
      <p:pic>
        <p:nvPicPr>
          <p:cNvPr id="12" name="Image 1" descr="1.A.2 · Análisis de la industria en España. Evolución, características y situación actua">
            <a:hlinkClick r:id="rId5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200" dirty="0"/>
          </a:p>
        </p:txBody>
      </p:sp>
      <p:pic>
        <p:nvPicPr>
          <p:cNvPr id="14" name="Image 2" descr="1.A.5 · El sector de la construcción en España. El mercado de la vivienda: problemas y s">
            <a:hlinkClick r:id="rId6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200" dirty="0"/>
          </a:p>
        </p:txBody>
      </p:sp>
      <p:pic>
        <p:nvPicPr>
          <p:cNvPr id="16" name="Image 3" descr="1.A.6 · Estructura y política de los sectores de los transportes y las telecomunicacione">
            <a:hlinkClick r:id="rId7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200" dirty="0"/>
          </a:p>
        </p:txBody>
      </p:sp>
      <p:sp>
        <p:nvSpPr>
          <p:cNvPr id="18" name="Tema 1.A.8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200" dirty="0"/>
          </a:p>
        </p:txBody>
      </p:sp>
      <p:pic>
        <p:nvPicPr>
          <p:cNvPr id="19" name="Image 4" descr="1.A.8 · Estructura, políticas y retos de la distribución, con especial referencia al com">
            <a:hlinkClick r:id="rId8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2" name="Tema 1.A.1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200" dirty="0"/>
          </a:p>
        </p:txBody>
      </p:sp>
      <p:pic>
        <p:nvPicPr>
          <p:cNvPr id="23" name="Image 5" descr="1.A.14 · La internacionalización de la economía española (I): estructura sectorial y geog">
            <a:hlinkClick r:id="rId9" action="ppaction://hlinksldjump" tooltip="1.A.14 · La internacionalización de la economía española (I): estructura sectorial y geo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6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7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Estructura, políticas y retos de la distribución, con especial referencia al comercio electrónico.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Sectores productivos</a:t>
            </a:r>
            <a:endParaRPr lang="en-US" sz="1700" dirty="0"/>
          </a:p>
        </p:txBody>
      </p:sp>
      <p:sp>
        <p:nvSpPr>
          <p:cNvPr id="9" name="Tema 1.A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200" dirty="0"/>
          </a:p>
        </p:txBody>
      </p:sp>
      <p:pic>
        <p:nvPicPr>
          <p:cNvPr id="10" name="Image 0" descr="1.A.1 · Los sectores agrícola y pesquero en España.">
            <a:hlinkClick r:id="rId3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1.A.2</a:t>
            </a:r>
            <a:endParaRPr lang="en-US" sz="1200" dirty="0"/>
          </a:p>
        </p:txBody>
      </p:sp>
      <p:pic>
        <p:nvPicPr>
          <p:cNvPr id="12" name="Image 1" descr="1.A.2 · Análisis de la industria en España. Evolución, características y situación actua">
            <a:hlinkClick r:id="rId5" action="ppaction://hlinksldjump" tooltip="1.A.2 · Análisis de la industria en España. Evolución, características y situación actu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A.5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200" dirty="0"/>
          </a:p>
        </p:txBody>
      </p:sp>
      <p:pic>
        <p:nvPicPr>
          <p:cNvPr id="14" name="Image 2" descr="1.A.5 · El sector de la construcción en España. El mercado de la vivienda: problemas y s">
            <a:hlinkClick r:id="rId6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A.6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200" dirty="0"/>
          </a:p>
        </p:txBody>
      </p:sp>
      <p:pic>
        <p:nvPicPr>
          <p:cNvPr id="16" name="Image 3" descr="1.A.6 · Estructura y política de los sectores de los transportes y las telecomunicacione">
            <a:hlinkClick r:id="rId7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A.7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200" dirty="0"/>
          </a:p>
        </p:txBody>
      </p:sp>
      <p:pic>
        <p:nvPicPr>
          <p:cNvPr id="18" name="Image 4" descr="1.A.7 · El turismo en España: evolución, retos y política turística.">
            <a:hlinkClick r:id="rId8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1.A.8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2" name="Tema 1.A.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1.A.9</a:t>
            </a:r>
            <a:endParaRPr lang="en-US" sz="1200" dirty="0"/>
          </a:p>
        </p:txBody>
      </p:sp>
      <p:pic>
        <p:nvPicPr>
          <p:cNvPr id="23" name="Image 5" descr="1.A.9 · La defensa y la promoción de la competencia en España. Principios de regulación ">
            <a:hlinkClick r:id="rId9" action="ppaction://hlinksldjump" tooltip="1.A.9 · La defensa y la promoción de la competencia en España. Principios de regulación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6" descr="Menú">
            <a:hlinkClick r:id="rId10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7" descr="Esquema">
            <a:hlinkClick r:id="rId11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8" descr="Listado">
            <a:hlinkClick r:id="rId12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9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1.A.9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defensa y la promoción de la competencia en España. Principios de regulación económica eficiente. Garantía de unidad de mercado.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 y regulación</a:t>
            </a:r>
            <a:endParaRPr lang="en-US" sz="1700" dirty="0"/>
          </a:p>
        </p:txBody>
      </p:sp>
      <p:sp>
        <p:nvSpPr>
          <p:cNvPr id="9" name="Tema 1.A.9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2" name="Tema 1.B.7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3" name="Image 0" descr="1.B.7 · El mercado único de la UE. El principio de libre circulación de mercancías, serv">
            <a:hlinkClick r:id="rId3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4" name="Tema 1.A.6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1.A.6</a:t>
            </a:r>
            <a:endParaRPr lang="en-US" sz="1200" dirty="0"/>
          </a:p>
        </p:txBody>
      </p:sp>
      <p:pic>
        <p:nvPicPr>
          <p:cNvPr id="15" name="Image 1" descr="1.A.6 · Estructura y política de los sectores de los transportes y las telecomunicacione">
            <a:hlinkClick r:id="rId5" action="ppaction://hlinksldjump" tooltip="1.A.6 · Estructura y política de los sectores de los transportes y las telecomunicacion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6" name="Tema 1.A.8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1.A.8</a:t>
            </a:r>
            <a:endParaRPr lang="en-US" sz="1200" dirty="0"/>
          </a:p>
        </p:txBody>
      </p:sp>
      <p:pic>
        <p:nvPicPr>
          <p:cNvPr id="17" name="Image 2" descr="1.A.8 · Estructura, políticas y retos de la distribución, con especial referencia al com">
            <a:hlinkClick r:id="rId6" action="ppaction://hlinksldjump" tooltip="1.A.8 · Estructura, políticas y retos de la distribución, con especial referencia al com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1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9" name="Image 3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1" name="Image 4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3" name="Image 5" descr="Listado">
            <a:hlinkClick r:id="rId9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0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financiero español (I): evolución reciente del sistema financiero español. Génesis y desarrollo de la crisis del sistema financiero español iniciada en 2008. La reestructuración de las entidades de crédito. El Programa de Asistencia Financiera.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financiero</a:t>
            </a:r>
            <a:endParaRPr lang="en-US" sz="1700" dirty="0"/>
          </a:p>
        </p:txBody>
      </p:sp>
      <p:sp>
        <p:nvSpPr>
          <p:cNvPr id="9" name="Tema 1.A.10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200" dirty="0"/>
          </a:p>
        </p:txBody>
      </p:sp>
      <p:sp>
        <p:nvSpPr>
          <p:cNvPr id="10" name="Tema 1.A.11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1.A.11</a:t>
            </a:r>
            <a:endParaRPr lang="en-US" sz="1200" dirty="0"/>
          </a:p>
        </p:txBody>
      </p:sp>
      <p:pic>
        <p:nvPicPr>
          <p:cNvPr id="11" name="Image 0" descr="1.A.11 · Sistema financiero español (II): las entidades de crédito en España. Configuraci">
            <a:hlinkClick r:id="rId3" action="ppaction://hlinksldjump" tooltip="1.A.11 · Sistema financiero español (II): las entidades de crédito en España. Configura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4" name="Tema 1.A.1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1.A.11</a:t>
            </a:r>
            <a:endParaRPr lang="en-US" sz="1200" dirty="0"/>
          </a:p>
        </p:txBody>
      </p:sp>
      <p:pic>
        <p:nvPicPr>
          <p:cNvPr id="15" name="Image 1" descr="1.A.11 · Sistema financiero español (II): las entidades de crédito en España. Configuraci">
            <a:hlinkClick r:id="rId3" action="ppaction://hlinksldjump" tooltip="1.A.11 · Sistema financiero español (II): las entidades de crédito en España. Configura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6" name="Tema 1.B.15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200" dirty="0"/>
          </a:p>
        </p:txBody>
      </p:sp>
      <p:pic>
        <p:nvPicPr>
          <p:cNvPr id="17" name="Image 2" descr="1.B.15 · Crisis financieras y pánicos bancarios. Especial referencia a la crisis financie">
            <a:hlinkClick r:id="rId5" action="ppaction://hlinksldjump" tooltip="1.B.15 · Crisis financieras y pánicos bancarios. Especial referencia a la crisis financi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8" name="Tema 1.A.5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1.A.5</a:t>
            </a:r>
            <a:endParaRPr lang="en-US" sz="1200" dirty="0"/>
          </a:p>
        </p:txBody>
      </p:sp>
      <p:pic>
        <p:nvPicPr>
          <p:cNvPr id="19" name="Image 3" descr="1.A.5 · El sector de la construcción en España. El mercado de la vivienda: problemas y s">
            <a:hlinkClick r:id="rId6" action="ppaction://hlinksldjump" tooltip="1.A.5 · El sector de la construcción en España. El mercado de la vivienda: problemas y 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0" name="Tema 1.B.13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1" name="Image 4" descr="1.B.13 · La gobernanza económica de la UE y de la zona euro. El Semestre Europeo. Las reg">
            <a:hlinkClick r:id="rId7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1.A.11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financiero español (II): las entidades de crédito en España. Configuración actual del sector bancario español y principales indicadores. El marco de regulación, supervisión y gestión de la crisis. Referencia a los mercados de valores y otras formas de financiación no bancaria.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financiero</a:t>
            </a:r>
            <a:endParaRPr lang="en-US" sz="1700" dirty="0"/>
          </a:p>
        </p:txBody>
      </p:sp>
      <p:sp>
        <p:nvSpPr>
          <p:cNvPr id="9" name="Tema 1.A.10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200" dirty="0"/>
          </a:p>
        </p:txBody>
      </p:sp>
      <p:pic>
        <p:nvPicPr>
          <p:cNvPr id="10" name="Image 0" descr="1.A.10 · Sistema financiero español (I): evolución reciente del sistema financiero españo">
            <a:hlinkClick r:id="rId3" action="ppaction://hlinksldjump" tooltip="1.A.10 · Sistema financiero español (I): evolución reciente del sistema financiero españ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11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4" name="Tema 1.A.1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200" dirty="0"/>
          </a:p>
        </p:txBody>
      </p:sp>
      <p:pic>
        <p:nvPicPr>
          <p:cNvPr id="15" name="Image 1" descr="1.A.10 · Sistema financiero español (I): evolución reciente del sistema financiero españo">
            <a:hlinkClick r:id="rId3" action="ppaction://hlinksldjump" tooltip="1.A.10 · Sistema financiero español (I): evolución reciente del sistema financiero españ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6" name="Tema 1.B.1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17" name="Image 2" descr="1.B.12 · El origen del euro: funcionamiento y evolución del SME. Los criterios de converg">
            <a:hlinkClick r:id="rId5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9" name="Image 3" descr="Menú">
            <a:hlinkClick r:id="rId6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1" name="Image 4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3" name="Image 5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1.A.12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trabajo en España. Características, funcionamiento y problemas. Las políticas de empleo.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trabajo</a:t>
            </a:r>
            <a:endParaRPr lang="en-US" sz="1700" dirty="0"/>
          </a:p>
        </p:txBody>
      </p:sp>
      <p:sp>
        <p:nvSpPr>
          <p:cNvPr id="9" name="Tema 1.A.12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2" name="Tema 1.B.1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3" name="Image 0" descr="1.B.10 · La Cohesión Económica y Social en la UE: política regional e instrumentos presup">
            <a:hlinkClick r:id="rId3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4" name="Tema 1.B.3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200" dirty="0"/>
          </a:p>
        </p:txBody>
      </p:sp>
      <p:pic>
        <p:nvPicPr>
          <p:cNvPr id="15" name="Image 1" descr="1.B.3 · El Sistema de la Seguridad Social en España. Prestaciones y su financiación. La ">
            <a:hlinkClick r:id="rId5" action="ppaction://hlinksldjump" tooltip="1.B.3 · El Sistema de la Seguridad Social en España. Prestaciones y su financiación. La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7" name="Image 2" descr="Menú">
            <a:hlinkClick r:id="rId6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1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19" name="Image 3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1" name="Image 4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1.A.13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 las regiones españolas: especialización regional, convergencia real y política de desarrollo regional.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regional</a:t>
            </a:r>
            <a:endParaRPr lang="en-US" sz="1700" dirty="0"/>
          </a:p>
        </p:txBody>
      </p:sp>
      <p:sp>
        <p:nvSpPr>
          <p:cNvPr id="9" name="Tema 1.A.13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2" name="Tema 1.B.1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3" name="Image 0" descr="1.B.10 · La Cohesión Económica y Social en la UE: política regional e instrumentos presup">
            <a:hlinkClick r:id="rId3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4" name="Tema 1.B.5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200" dirty="0"/>
          </a:p>
        </p:txBody>
      </p:sp>
      <p:pic>
        <p:nvPicPr>
          <p:cNvPr id="15" name="Image 1" descr="1.B.5 · Las Administraciones Territoriales en España. Competencias y sistemas de financi">
            <a:hlinkClick r:id="rId5" action="ppaction://hlinksldjump" tooltip="1.B.5 · Las Administraciones Territoriales en España. Competencias y sistemas de finan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7" name="Image 2" descr="Menú">
            <a:hlinkClick r:id="rId6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1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19" name="Image 3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1" name="Image 4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internacionalización de la economía española (I): estructura sectorial y geográfica de la balanza de bienes y de servicios en España en la actualidad. La integración de España en las cadenas de valor global.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exterior y cooperación</a:t>
            </a:r>
            <a:endParaRPr lang="en-US" sz="1700" dirty="0"/>
          </a:p>
        </p:txBody>
      </p:sp>
      <p:sp>
        <p:nvSpPr>
          <p:cNvPr id="9" name="Tema 1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200" dirty="0"/>
          </a:p>
        </p:txBody>
      </p:sp>
      <p:sp>
        <p:nvSpPr>
          <p:cNvPr id="10" name="Tema 1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1.A.15</a:t>
            </a:r>
            <a:endParaRPr lang="en-US" sz="1200" dirty="0"/>
          </a:p>
        </p:txBody>
      </p:sp>
      <p:pic>
        <p:nvPicPr>
          <p:cNvPr id="11" name="Image 0" descr="1.A.15 · La internacionalización de la economía española (II): estructura sectorial y geo">
            <a:hlinkClick r:id="rId3" action="ppaction://hlinksldjump" tooltip="1.A.15 · La internacionalización de la economía española (II): estructura sectorial y ge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Tema 1.A.1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200" dirty="0"/>
          </a:p>
        </p:txBody>
      </p:sp>
      <p:pic>
        <p:nvPicPr>
          <p:cNvPr id="13" name="Image 1" descr="1.A.18 · La política española de cooperación al desarrollo. Instrumentos de cooperación t">
            <a:hlinkClick r:id="rId5" action="ppaction://hlinksldjump" tooltip="1.A.18 · La política española de cooperación al desarrollo. Instrumentos de cooperación 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6" name="Tema 1.A.15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1.A.15</a:t>
            </a:r>
            <a:endParaRPr lang="en-US" sz="1200" dirty="0"/>
          </a:p>
        </p:txBody>
      </p:sp>
      <p:pic>
        <p:nvPicPr>
          <p:cNvPr id="17" name="Image 2" descr="1.A.15 · La internacionalización de la economía española (II): estructura sectorial y geo">
            <a:hlinkClick r:id="rId3" action="ppaction://hlinksldjump" tooltip="1.A.15 · La internacionalización de la economía española (II): estructura sectorial y ge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8" name="Tema 1.A.7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1.A.7</a:t>
            </a:r>
            <a:endParaRPr lang="en-US" sz="1200" dirty="0"/>
          </a:p>
        </p:txBody>
      </p:sp>
      <p:pic>
        <p:nvPicPr>
          <p:cNvPr id="19" name="Image 3" descr="1.A.7 · El turismo en España: evolución, retos y política turística.">
            <a:hlinkClick r:id="rId6" action="ppaction://hlinksldjump" tooltip="1.A.7 · El turismo en España: evolución, retos y política turístic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1" name="Image 4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3" name="Image 5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5" name="Image 6" descr="Listado">
            <a:hlinkClick r:id="rId9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1.A.15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internacionalización de la economía española (II): estructura sectorial y geográfica de la inversión extranjera en España y de la inversión española en el exterior en la actualidad.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exterior y cooperación</a:t>
            </a:r>
            <a:endParaRPr lang="en-US" sz="1700" dirty="0"/>
          </a:p>
        </p:txBody>
      </p:sp>
      <p:sp>
        <p:nvSpPr>
          <p:cNvPr id="9" name="Tema 1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200" dirty="0"/>
          </a:p>
        </p:txBody>
      </p:sp>
      <p:pic>
        <p:nvPicPr>
          <p:cNvPr id="10" name="Image 0" descr="1.A.14 · La internacionalización de la economía española (I): estructura sectorial y geog">
            <a:hlinkClick r:id="rId3" action="ppaction://hlinksldjump" tooltip="1.A.14 · La internacionalización de la economía española (I): estructura sectorial y geo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1.A.15</a:t>
            </a:r>
            <a:endParaRPr lang="en-US" sz="1200" dirty="0"/>
          </a:p>
        </p:txBody>
      </p:sp>
      <p:sp>
        <p:nvSpPr>
          <p:cNvPr id="12" name="Tema 1.A.1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200" dirty="0"/>
          </a:p>
        </p:txBody>
      </p:sp>
      <p:pic>
        <p:nvPicPr>
          <p:cNvPr id="13" name="Image 1" descr="1.A.18 · La política española de cooperación al desarrollo. Instrumentos de cooperación t">
            <a:hlinkClick r:id="rId5" action="ppaction://hlinksldjump" tooltip="1.A.18 · La política española de cooperación al desarrollo. Instrumentos de cooperación 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6" name="Tema 1.A.1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200" dirty="0"/>
          </a:p>
        </p:txBody>
      </p:sp>
      <p:pic>
        <p:nvPicPr>
          <p:cNvPr id="17" name="Image 2" descr="1.A.14 · La internacionalización de la economía española (I): estructura sectorial y geog">
            <a:hlinkClick r:id="rId3" action="ppaction://hlinksldjump" tooltip="1.A.14 · La internacionalización de la economía española (I): estructura sectorial y geo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9" name="Image 3" descr="Menú">
            <a:hlinkClick r:id="rId6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1" name="Image 4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3" name="Image 5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economía española en el período 1959-1999. El Plan de Estabilización de 1959. La economía española en la década de 1960. Las crisis energéticas de los años 70. La adhesión a las Comunidades Europeas. El proceso de ajuste macroeconómico para la entrada en la zona euro.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económica</a:t>
            </a:r>
            <a:endParaRPr lang="en-US" sz="1700" dirty="0"/>
          </a:p>
        </p:txBody>
      </p:sp>
      <p:sp>
        <p:nvSpPr>
          <p:cNvPr id="9" name="Tema 1.A.1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200" dirty="0"/>
          </a:p>
        </p:txBody>
      </p:sp>
      <p:sp>
        <p:nvSpPr>
          <p:cNvPr id="10" name="Tema 1.A.1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1.A.17</a:t>
            </a:r>
            <a:endParaRPr lang="en-US" sz="1200" dirty="0"/>
          </a:p>
        </p:txBody>
      </p:sp>
      <p:pic>
        <p:nvPicPr>
          <p:cNvPr id="11" name="Image 0" descr="1.A.17 · Evolución de la economía española desde 1999 hasta la actualidad. Especial refer">
            <a:hlinkClick r:id="rId3" action="ppaction://hlinksldjump" tooltip="1.A.17 · Evolución de la economía española desde 1999 hasta la actualidad. Especial refe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4" name="Tema 1.A.17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1.A.17</a:t>
            </a:r>
            <a:endParaRPr lang="en-US" sz="1200" dirty="0"/>
          </a:p>
        </p:txBody>
      </p:sp>
      <p:pic>
        <p:nvPicPr>
          <p:cNvPr id="15" name="Image 1" descr="1.A.17 · Evolución de la economía española desde 1999 hasta la actualidad. Especial refer">
            <a:hlinkClick r:id="rId3" action="ppaction://hlinksldjump" tooltip="1.A.17 · Evolución de la economía española desde 1999 hasta la actualidad. Especial refe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6" name="Tema 1.B.6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7" name="Image 2" descr="1.B.6 · Tratados, orden jurídico e instituciones de la Unión Europea.">
            <a:hlinkClick r:id="rId5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8" name="Tema 1.B.12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19" name="Image 3" descr="1.B.12 · El origen del euro: funcionamiento y evolución del SME. Los criterios de converg">
            <a:hlinkClick r:id="rId6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1" name="Image 4" descr="Menú">
            <a:hlinkClick r:id="rId7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3" name="Image 5" descr="Esquema">
            <a:hlinkClick r:id="rId8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5" name="Image 6" descr="Listado">
            <a:hlinkClick r:id="rId9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1.A.17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de la economía española desde 1999 hasta la actualidad. Especial referencia a la crisis económica y financiera iniciada en 2008 y a la crisis de la Covid-19. Situación actual de la economía española y perspectivas.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económica</a:t>
            </a:r>
            <a:endParaRPr lang="en-US" sz="1700" dirty="0"/>
          </a:p>
        </p:txBody>
      </p:sp>
      <p:sp>
        <p:nvSpPr>
          <p:cNvPr id="9" name="Tema 1.A.1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200" dirty="0"/>
          </a:p>
        </p:txBody>
      </p:sp>
      <p:pic>
        <p:nvPicPr>
          <p:cNvPr id="10" name="Image 0" descr="1.A.16 · La economía española en el período 1959-1999. El Plan de Estabilización de 1959.">
            <a:hlinkClick r:id="rId3" action="ppaction://hlinksldjump" tooltip="1.A.16 · La economía española en el período 1959-1999. El Plan de Estabilización de 1959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1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1.A.17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4" name="Tema 1.A.16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200" dirty="0"/>
          </a:p>
        </p:txBody>
      </p:sp>
      <p:pic>
        <p:nvPicPr>
          <p:cNvPr id="15" name="Image 1" descr="1.A.16 · La economía española en el período 1959-1999. El Plan de Estabilización de 1959.">
            <a:hlinkClick r:id="rId3" action="ppaction://hlinksldjump" tooltip="1.A.16 · La economía española en el período 1959-1999. El Plan de Estabilización de 1959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6" name="Tema 1.B.13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17" name="Image 2" descr="1.B.13 · La gobernanza económica de la UE y de la zona euro. El Semestre Europeo. Las reg">
            <a:hlinkClick r:id="rId5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1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19" name="Image 3" descr="Menú">
            <a:hlinkClick r:id="rId6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1" name="Image 4" descr="Esquema">
            <a:hlinkClick r:id="rId7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3" name="Image 5" descr="Listado">
            <a:hlinkClick r:id="rId8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A) Economía española</a:t>
            </a:r>
            <a:endParaRPr lang="en-US" sz="1200" dirty="0"/>
          </a:p>
        </p:txBody>
      </p:sp>
      <p:sp>
        <p:nvSpPr>
          <p:cNvPr id="3" name="Tema 1.A.1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española de cooperación al desarrollo. Instrumentos de cooperación técnica y financiera. Evaluación del diseño de la política y análisis del impacto económico.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FF6699"/>
          </a:solidFill>
          <a:ln w="9525">
            <a:solidFill>
              <a:srgbClr val="CC5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exterior y cooperación</a:t>
            </a:r>
            <a:endParaRPr lang="en-US" sz="1700" dirty="0"/>
          </a:p>
        </p:txBody>
      </p:sp>
      <p:sp>
        <p:nvSpPr>
          <p:cNvPr id="9" name="Tema 1.A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1.A.14</a:t>
            </a:r>
            <a:endParaRPr lang="en-US" sz="1200" dirty="0"/>
          </a:p>
        </p:txBody>
      </p:sp>
      <p:pic>
        <p:nvPicPr>
          <p:cNvPr id="10" name="Image 0" descr="1.A.14 · La internacionalización de la economía española (I): estructura sectorial y geog">
            <a:hlinkClick r:id="rId3" action="ppaction://hlinksldjump" tooltip="1.A.14 · La internacionalización de la economía española (I): estructura sectorial y geo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A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1.A.15</a:t>
            </a:r>
            <a:endParaRPr lang="en-US" sz="1200" dirty="0"/>
          </a:p>
        </p:txBody>
      </p:sp>
      <p:pic>
        <p:nvPicPr>
          <p:cNvPr id="12" name="Image 1" descr="1.A.15 · La internacionalización de la economía española (II): estructura sectorial y geo">
            <a:hlinkClick r:id="rId5" action="ppaction://hlinksldjump" tooltip="1.A.15 · La internacionalización de la economía española (II): estructura sectorial y ge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A.1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FF6699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16" name="Tema 1.B.1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17" name="Image 2" descr="1.B.11 · La política comercial de la UE. Las relaciones económicas exteriores de la UE. L">
            <a:hlinkClick r:id="rId6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18" name="Tema 1.B.17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200" dirty="0"/>
          </a:p>
        </p:txBody>
      </p:sp>
      <p:pic>
        <p:nvPicPr>
          <p:cNvPr id="19" name="Image 3" descr="1.B.17 · El Grupo del Banco Mundial. Los Bancos Regionales de Desarrollo. Otras instituci">
            <a:hlinkClick r:id="rId7" action="ppaction://hlinksldjump" tooltip="1.B.17 · El Grupo del Banco Mundial. Los Bancos Regionales de Desarrollo. Otras institu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1" name="Image 4" descr="Menú">
            <a:hlinkClick r:id="rId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3" name="Image 5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5" name="Image 6" descr="Listado">
            <a:hlinkClick r:id="rId1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Concepto, características y tipos de presupuestos. Las grandes cifras de los PGE en España.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F2987"/>
          </a:solidFill>
          <a:ln w="9525">
            <a:solidFill>
              <a:srgbClr val="5F29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público español</a:t>
            </a:r>
            <a:endParaRPr lang="en-US" sz="1700" dirty="0"/>
          </a:p>
        </p:txBody>
      </p:sp>
      <p:sp>
        <p:nvSpPr>
          <p:cNvPr id="9" name="Tema 1.B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F2987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200" dirty="0"/>
          </a:p>
        </p:txBody>
      </p:sp>
      <p:sp>
        <p:nvSpPr>
          <p:cNvPr id="10" name="Tema 1.B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200" dirty="0"/>
          </a:p>
        </p:txBody>
      </p:sp>
      <p:pic>
        <p:nvPicPr>
          <p:cNvPr id="11" name="Image 0" descr="1.B.2 · Sistema fiscal español. Imposición directa e indirecta. La armonización fiscal e">
            <a:hlinkClick r:id="rId3" action="ppaction://hlinksldjump" tooltip="1.B.2 · Sistema fiscal español. Imposición directa e indirecta. La armonización fiscal 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Tema 1.B.3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200" dirty="0"/>
          </a:p>
        </p:txBody>
      </p:sp>
      <p:pic>
        <p:nvPicPr>
          <p:cNvPr id="13" name="Image 1" descr="1.B.3 · El Sistema de la Seguridad Social en España. Prestaciones y su financiación. La ">
            <a:hlinkClick r:id="rId5" action="ppaction://hlinksldjump" tooltip="1.B.3 · El Sistema de la Seguridad Social en España. Prestaciones y su financiación. La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B.4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pic>
        <p:nvPicPr>
          <p:cNvPr id="15" name="Image 2" descr="1.B.4 · El saldo presupuestario y la deuda pública en España. Análisis de su evolución r">
            <a:hlinkClick r:id="rId6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5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200" dirty="0"/>
          </a:p>
        </p:txBody>
      </p:sp>
      <p:pic>
        <p:nvPicPr>
          <p:cNvPr id="17" name="Image 3" descr="1.B.5 · Las Administraciones Territoriales en España. Competencias y sistemas de financi">
            <a:hlinkClick r:id="rId7" action="ppaction://hlinksldjump" tooltip="1.B.5 · Las Administraciones Territoriales en España. Competencias y sistemas de finan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B.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pic>
        <p:nvPicPr>
          <p:cNvPr id="21" name="Image 4" descr="1.B.4 · El saldo presupuestario y la deuda pública en España. Análisis de su evolución r">
            <a:hlinkClick r:id="rId6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Tema 1.B.8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23" name="Image 5" descr="1.B.8 · Las finanzas de la UE y el presupuesto comunitario. El marco financiero plurianu">
            <a:hlinkClick r:id="rId8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5" name="Image 6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7" name="Image 7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9" name="Image 8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fiscal español. Imposición directa e indirecta. La armonización fiscal en la Unión Europea.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F2987"/>
          </a:solidFill>
          <a:ln w="9525">
            <a:solidFill>
              <a:srgbClr val="5F29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público español</a:t>
            </a:r>
            <a:endParaRPr lang="en-US" sz="1700" dirty="0"/>
          </a:p>
        </p:txBody>
      </p:sp>
      <p:sp>
        <p:nvSpPr>
          <p:cNvPr id="9" name="Tema 1.B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200" dirty="0"/>
          </a:p>
        </p:txBody>
      </p:sp>
      <p:pic>
        <p:nvPicPr>
          <p:cNvPr id="10" name="Image 0" descr="1.B.1 · Concepto, características y tipos de presupuestos. Las grandes cifras de los PGE">
            <a:hlinkClick r:id="rId3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F2987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200" dirty="0"/>
          </a:p>
        </p:txBody>
      </p:sp>
      <p:sp>
        <p:nvSpPr>
          <p:cNvPr id="12" name="Tema 1.B.3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200" dirty="0"/>
          </a:p>
        </p:txBody>
      </p:sp>
      <p:pic>
        <p:nvPicPr>
          <p:cNvPr id="13" name="Image 1" descr="1.B.3 · El Sistema de la Seguridad Social en España. Prestaciones y su financiación. La ">
            <a:hlinkClick r:id="rId5" action="ppaction://hlinksldjump" tooltip="1.B.3 · El Sistema de la Seguridad Social en España. Prestaciones y su financiación. La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B.4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pic>
        <p:nvPicPr>
          <p:cNvPr id="15" name="Image 2" descr="1.B.4 · El saldo presupuestario y la deuda pública en España. Análisis de su evolución r">
            <a:hlinkClick r:id="rId6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5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200" dirty="0"/>
          </a:p>
        </p:txBody>
      </p:sp>
      <p:pic>
        <p:nvPicPr>
          <p:cNvPr id="17" name="Image 3" descr="1.B.5 · Las Administraciones Territoriales en España. Competencias y sistemas de financi">
            <a:hlinkClick r:id="rId7" action="ppaction://hlinksldjump" tooltip="1.B.5 · Las Administraciones Territoriales en España. Competencias y sistemas de finan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B.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pic>
        <p:nvPicPr>
          <p:cNvPr id="21" name="Image 4" descr="1.B.4 · El saldo presupuestario y la deuda pública en España. Análisis de su evolución r">
            <a:hlinkClick r:id="rId6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la Seguridad Social en España. Prestaciones y su financiación. La sostenibilidad del sistema público de pensiones.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F2987"/>
          </a:solidFill>
          <a:ln w="9525">
            <a:solidFill>
              <a:srgbClr val="5F29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público español</a:t>
            </a:r>
            <a:endParaRPr lang="en-US" sz="1700" dirty="0"/>
          </a:p>
        </p:txBody>
      </p:sp>
      <p:sp>
        <p:nvSpPr>
          <p:cNvPr id="9" name="Tema 1.B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200" dirty="0"/>
          </a:p>
        </p:txBody>
      </p:sp>
      <p:pic>
        <p:nvPicPr>
          <p:cNvPr id="10" name="Image 0" descr="1.B.1 · Concepto, características y tipos de presupuestos. Las grandes cifras de los PGE">
            <a:hlinkClick r:id="rId3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200" dirty="0"/>
          </a:p>
        </p:txBody>
      </p:sp>
      <p:pic>
        <p:nvPicPr>
          <p:cNvPr id="12" name="Image 1" descr="1.B.2 · Sistema fiscal español. Imposición directa e indirecta. La armonización fiscal e">
            <a:hlinkClick r:id="rId5" action="ppaction://hlinksldjump" tooltip="1.B.2 · Sistema fiscal español. Imposición directa e indirecta. La armonización fiscal 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3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F2987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200" dirty="0"/>
          </a:p>
        </p:txBody>
      </p:sp>
      <p:sp>
        <p:nvSpPr>
          <p:cNvPr id="14" name="Tema 1.B.4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pic>
        <p:nvPicPr>
          <p:cNvPr id="15" name="Image 2" descr="1.B.4 · El saldo presupuestario y la deuda pública en España. Análisis de su evolución r">
            <a:hlinkClick r:id="rId6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5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200" dirty="0"/>
          </a:p>
        </p:txBody>
      </p:sp>
      <p:pic>
        <p:nvPicPr>
          <p:cNvPr id="17" name="Image 3" descr="1.B.5 · Las Administraciones Territoriales en España. Competencias y sistemas de financi">
            <a:hlinkClick r:id="rId7" action="ppaction://hlinksldjump" tooltip="1.B.5 · Las Administraciones Territoriales en España. Competencias y sistemas de finan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A.1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1.A.12</a:t>
            </a:r>
            <a:endParaRPr lang="en-US" sz="1200" dirty="0"/>
          </a:p>
        </p:txBody>
      </p:sp>
      <p:pic>
        <p:nvPicPr>
          <p:cNvPr id="21" name="Image 4" descr="1.A.12 · Mercado de trabajo en España. Características, funcionamiento y problemas. Las p">
            <a:hlinkClick r:id="rId8" action="ppaction://hlinksldjump" tooltip="1.A.12 · Mercado de trabajo en España. Características, funcionamiento y problemas. Las 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saldo presupuestario y la deuda pública en España. Análisis de su evolución reciente. Política de financiación del Tesoro en la actualidad.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F2987"/>
          </a:solidFill>
          <a:ln w="9525">
            <a:solidFill>
              <a:srgbClr val="5F29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público español</a:t>
            </a:r>
            <a:endParaRPr lang="en-US" sz="1700" dirty="0"/>
          </a:p>
        </p:txBody>
      </p:sp>
      <p:sp>
        <p:nvSpPr>
          <p:cNvPr id="9" name="Tema 1.B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200" dirty="0"/>
          </a:p>
        </p:txBody>
      </p:sp>
      <p:pic>
        <p:nvPicPr>
          <p:cNvPr id="10" name="Image 0" descr="1.B.1 · Concepto, características y tipos de presupuestos. Las grandes cifras de los PGE">
            <a:hlinkClick r:id="rId3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200" dirty="0"/>
          </a:p>
        </p:txBody>
      </p:sp>
      <p:pic>
        <p:nvPicPr>
          <p:cNvPr id="12" name="Image 1" descr="1.B.2 · Sistema fiscal español. Imposición directa e indirecta. La armonización fiscal e">
            <a:hlinkClick r:id="rId5" action="ppaction://hlinksldjump" tooltip="1.B.2 · Sistema fiscal español. Imposición directa e indirecta. La armonización fiscal 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3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200" dirty="0"/>
          </a:p>
        </p:txBody>
      </p:sp>
      <p:pic>
        <p:nvPicPr>
          <p:cNvPr id="14" name="Image 2" descr="1.B.3 · El Sistema de la Seguridad Social en España. Prestaciones y su financiación. La ">
            <a:hlinkClick r:id="rId6" action="ppaction://hlinksldjump" tooltip="1.B.3 · El Sistema de la Seguridad Social en España. Prestaciones y su financiación. La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4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F2987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sp>
        <p:nvSpPr>
          <p:cNvPr id="16" name="Tema 1.B.5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200" dirty="0"/>
          </a:p>
        </p:txBody>
      </p:sp>
      <p:pic>
        <p:nvPicPr>
          <p:cNvPr id="17" name="Image 3" descr="1.B.5 · Las Administraciones Territoriales en España. Competencias y sistemas de financi">
            <a:hlinkClick r:id="rId7" action="ppaction://hlinksldjump" tooltip="1.B.5 · Las Administraciones Territoriales en España. Competencias y sistemas de finan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B.2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200" dirty="0"/>
          </a:p>
        </p:txBody>
      </p:sp>
      <p:pic>
        <p:nvPicPr>
          <p:cNvPr id="21" name="Image 4" descr="1.B.2 · Sistema fiscal español. Imposición directa e indirecta. La armonización fiscal e">
            <a:hlinkClick r:id="rId5" action="ppaction://hlinksldjump" tooltip="1.B.2 · Sistema fiscal español. Imposición directa e indirecta. La armonización fiscal 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Tema 1.B.13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5" descr="1.B.13 · La gobernanza económica de la UE y de la zona euro. El Semestre Europeo. Las reg">
            <a:hlinkClick r:id="rId8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24" name="Tema 1.B.1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200" dirty="0"/>
          </a:p>
        </p:txBody>
      </p:sp>
      <p:pic>
        <p:nvPicPr>
          <p:cNvPr id="25" name="Image 6" descr="1.B.1 · Concepto, características y tipos de presupuestos. Las grandes cifras de los PGE">
            <a:hlinkClick r:id="rId3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26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7" name="Image 7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8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9" name="Image 8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0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1" name="Image 9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Administraciones Territoriales en España. Competencias y sistemas de financiación. El endeudamiento de las Administraciones Territoriales.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F2987"/>
          </a:solidFill>
          <a:ln w="9525">
            <a:solidFill>
              <a:srgbClr val="5F29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público español</a:t>
            </a:r>
            <a:endParaRPr lang="en-US" sz="1700" dirty="0"/>
          </a:p>
        </p:txBody>
      </p:sp>
      <p:sp>
        <p:nvSpPr>
          <p:cNvPr id="9" name="Tema 1.B.1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200" dirty="0"/>
          </a:p>
        </p:txBody>
      </p:sp>
      <p:pic>
        <p:nvPicPr>
          <p:cNvPr id="10" name="Image 0" descr="1.B.1 · Concepto, características y tipos de presupuestos. Las grandes cifras de los PGE">
            <a:hlinkClick r:id="rId3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2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1.B.2</a:t>
            </a:r>
            <a:endParaRPr lang="en-US" sz="1200" dirty="0"/>
          </a:p>
        </p:txBody>
      </p:sp>
      <p:pic>
        <p:nvPicPr>
          <p:cNvPr id="12" name="Image 1" descr="1.B.2 · Sistema fiscal español. Imposición directa e indirecta. La armonización fiscal e">
            <a:hlinkClick r:id="rId5" action="ppaction://hlinksldjump" tooltip="1.B.2 · Sistema fiscal español. Imposición directa e indirecta. La armonización fiscal 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3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1.B.3</a:t>
            </a:r>
            <a:endParaRPr lang="en-US" sz="1200" dirty="0"/>
          </a:p>
        </p:txBody>
      </p:sp>
      <p:pic>
        <p:nvPicPr>
          <p:cNvPr id="14" name="Image 2" descr="1.B.3 · El Sistema de la Seguridad Social en España. Prestaciones y su financiación. La ">
            <a:hlinkClick r:id="rId6" action="ppaction://hlinksldjump" tooltip="1.B.3 · El Sistema de la Seguridad Social en España. Prestaciones y su financiación. La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4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pic>
        <p:nvPicPr>
          <p:cNvPr id="16" name="Image 3" descr="1.B.4 · El saldo presupuestario y la deuda pública en España. Análisis de su evolución r">
            <a:hlinkClick r:id="rId7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B.5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F2987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1.B.5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A.13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1.A.13</a:t>
            </a:r>
            <a:endParaRPr lang="en-US" sz="1200" dirty="0"/>
          </a:p>
        </p:txBody>
      </p:sp>
      <p:pic>
        <p:nvPicPr>
          <p:cNvPr id="21" name="Image 4" descr="1.A.13 · Economía de las regiones españolas: especialización regional, convergencia real ">
            <a:hlinkClick r:id="rId8" action="ppaction://hlinksldjump" tooltip="1.A.13 · Economía de las regiones españolas: especialización regional, convergencia real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Tratados, orden jurídico e instituciones de la Unión Europea.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sp>
        <p:nvSpPr>
          <p:cNvPr id="10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1" name="Image 0" descr="1.B.7 · El mercado único de la UE. El principio de libre circulación de mercancías, serv">
            <a:hlinkClick r:id="rId3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13" name="Image 1" descr="1.B.8 · Las finanzas de la UE y el presupuesto comunitario. El marco financiero plurianu">
            <a:hlinkClick r:id="rId5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15" name="Image 2" descr="1.B.9 · La política agrícola de la UE. Problemas económicos y procesos de reforma. La po">
            <a:hlinkClick r:id="rId6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7" name="Image 3" descr="1.B.10 · La Cohesión Económica y Social en la UE: política regional e instrumentos presup">
            <a:hlinkClick r:id="rId7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19" name="Image 4" descr="1.B.11 · La política comercial de la UE. Las relaciones económicas exteriores de la UE. L">
            <a:hlinkClick r:id="rId8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1" name="Image 5" descr="1.B.12 · El origen del euro: funcionamiento y evolución del SME. Los criterios de converg">
            <a:hlinkClick r:id="rId9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2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6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A.16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200" dirty="0"/>
          </a:p>
        </p:txBody>
      </p:sp>
      <p:pic>
        <p:nvPicPr>
          <p:cNvPr id="27" name="Image 7" descr="1.A.16 · La economía española en el período 1959-1999. El Plan de Estabilización de 1959.">
            <a:hlinkClick r:id="rId11" action="ppaction://hlinksldjump" tooltip="1.A.16 · La economía española en el período 1959-1999. El Plan de Estabilización de 1959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8" descr="Menú">
            <a:hlinkClick r:id="rId12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9" descr="Esquema">
            <a:hlinkClick r:id="rId13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10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único de la UE. El principio de libre circulación de mercancías, servicios, personas y capitales. La política de competencia.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0" name="Image 0" descr="1.B.6 · Tratados, orden jurídico e instituciones de la Unión Europea.">
            <a:hlinkClick r:id="rId3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sp>
        <p:nvSpPr>
          <p:cNvPr id="12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13" name="Image 1" descr="1.B.8 · Las finanzas de la UE y el presupuesto comunitario. El marco financiero plurianu">
            <a:hlinkClick r:id="rId5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15" name="Image 2" descr="1.B.9 · La política agrícola de la UE. Problemas económicos y procesos de reforma. La po">
            <a:hlinkClick r:id="rId6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7" name="Image 3" descr="1.B.10 · La Cohesión Económica y Social en la UE: política regional e instrumentos presup">
            <a:hlinkClick r:id="rId7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19" name="Image 4" descr="1.B.11 · La política comercial de la UE. Las relaciones económicas exteriores de la UE. L">
            <a:hlinkClick r:id="rId8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1" name="Image 5" descr="1.B.12 · El origen del euro: funcionamiento y evolución del SME. Los criterios de converg">
            <a:hlinkClick r:id="rId9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2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6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A.9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1.A.9</a:t>
            </a:r>
            <a:endParaRPr lang="en-US" sz="1200" dirty="0"/>
          </a:p>
        </p:txBody>
      </p:sp>
      <p:pic>
        <p:nvPicPr>
          <p:cNvPr id="27" name="Image 7" descr="1.A.9 · La defensa y la promoción de la competencia en España. Principios de regulación ">
            <a:hlinkClick r:id="rId11" action="ppaction://hlinksldjump" tooltip="1.A.9 · La defensa y la promoción de la competencia en España. Principios de regulación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8" descr="Menú">
            <a:hlinkClick r:id="rId12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9" descr="Esquema">
            <a:hlinkClick r:id="rId13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10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finanzas de la UE y el presupuesto comunitario. El marco financiero plurianual actual.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0" name="Image 0" descr="1.B.6 · Tratados, orden jurídico e instituciones de la Unión Europea.">
            <a:hlinkClick r:id="rId3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2" name="Image 1" descr="1.B.7 · El mercado único de la UE. El principio de libre circulación de mercancías, serv">
            <a:hlinkClick r:id="rId5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sp>
        <p:nvSpPr>
          <p:cNvPr id="14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15" name="Image 2" descr="1.B.9 · La política agrícola de la UE. Problemas económicos y procesos de reforma. La po">
            <a:hlinkClick r:id="rId6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7" name="Image 3" descr="1.B.10 · La Cohesión Económica y Social en la UE: política regional e instrumentos presup">
            <a:hlinkClick r:id="rId7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19" name="Image 4" descr="1.B.11 · La política comercial de la UE. Las relaciones económicas exteriores de la UE. L">
            <a:hlinkClick r:id="rId8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1" name="Image 5" descr="1.B.12 · El origen del euro: funcionamiento y evolución del SME. Los criterios de converg">
            <a:hlinkClick r:id="rId9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2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6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B.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</a:t>
            </a:r>
            <a:endParaRPr lang="en-US" sz="1200" dirty="0"/>
          </a:p>
        </p:txBody>
      </p:sp>
      <p:pic>
        <p:nvPicPr>
          <p:cNvPr id="27" name="Image 7" descr="1.B.1 · Concepto, características y tipos de presupuestos. Las grandes cifras de los PGE">
            <a:hlinkClick r:id="rId11" action="ppaction://hlinksldjump" tooltip="1.B.1 · Concepto, características y tipos de presupuestos. Las grandes cifras de los PG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8" descr="Menú">
            <a:hlinkClick r:id="rId12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9" descr="Esquema">
            <a:hlinkClick r:id="rId13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10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9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agrícola de la UE. Problemas económicos y procesos de reforma. La política pesquera común.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0" name="Image 0" descr="1.B.6 · Tratados, orden jurídico e instituciones de la Unión Europea.">
            <a:hlinkClick r:id="rId3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2" name="Image 1" descr="1.B.7 · El mercado único de la UE. El principio de libre circulación de mercancías, serv">
            <a:hlinkClick r:id="rId5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14" name="Image 2" descr="1.B.8 · Las finanzas de la UE y el presupuesto comunitario. El marco financiero plurianu">
            <a:hlinkClick r:id="rId6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sp>
        <p:nvSpPr>
          <p:cNvPr id="16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7" name="Image 3" descr="1.B.10 · La Cohesión Económica y Social en la UE: política regional e instrumentos presup">
            <a:hlinkClick r:id="rId7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19" name="Image 4" descr="1.B.11 · La política comercial de la UE. Las relaciones económicas exteriores de la UE. L">
            <a:hlinkClick r:id="rId8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1" name="Image 5" descr="1.B.12 · El origen del euro: funcionamiento y evolución del SME. Los criterios de converg">
            <a:hlinkClick r:id="rId9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2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6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A.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</a:t>
            </a:r>
            <a:endParaRPr lang="en-US" sz="1200" dirty="0"/>
          </a:p>
        </p:txBody>
      </p:sp>
      <p:pic>
        <p:nvPicPr>
          <p:cNvPr id="27" name="Image 7" descr="1.A.1 · Los sectores agrícola y pesquero en España.">
            <a:hlinkClick r:id="rId11" action="ppaction://hlinksldjump" tooltip="1.A.1 · Los sectores agrícola y pesquero en Españ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9" name="Image 8" descr="Menú">
            <a:hlinkClick r:id="rId12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0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1" name="Image 9" descr="Esquema">
            <a:hlinkClick r:id="rId13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2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3" name="Image 10" descr="Listado">
            <a:hlinkClick r:id="rId14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0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Cohesión Económica y Social en la UE: política regional e instrumentos presupuestarios y financieros. Política social y de empleo. El proceso de convergencia real en la UE.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0" name="Image 0" descr="1.B.6 · Tratados, orden jurídico e instituciones de la Unión Europea.">
            <a:hlinkClick r:id="rId3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2" name="Image 1" descr="1.B.7 · El mercado único de la UE. El principio de libre circulación de mercancías, serv">
            <a:hlinkClick r:id="rId5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14" name="Image 2" descr="1.B.8 · Las finanzas de la UE y el presupuesto comunitario. El marco financiero plurianu">
            <a:hlinkClick r:id="rId6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16" name="Image 3" descr="1.B.9 · La política agrícola de la UE. Problemas económicos y procesos de reforma. La po">
            <a:hlinkClick r:id="rId7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sp>
        <p:nvSpPr>
          <p:cNvPr id="18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19" name="Image 4" descr="1.B.11 · La política comercial de la UE. Las relaciones económicas exteriores de la UE. L">
            <a:hlinkClick r:id="rId8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0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1" name="Image 5" descr="1.B.12 · El origen del euro: funcionamiento y evolución del SME. Los criterios de converg">
            <a:hlinkClick r:id="rId9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2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6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A.13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1.A.13</a:t>
            </a:r>
            <a:endParaRPr lang="en-US" sz="1200" dirty="0"/>
          </a:p>
        </p:txBody>
      </p:sp>
      <p:pic>
        <p:nvPicPr>
          <p:cNvPr id="27" name="Image 7" descr="1.A.13 · Economía de las regiones españolas: especialización regional, convergencia real ">
            <a:hlinkClick r:id="rId11" action="ppaction://hlinksldjump" tooltip="1.A.13 · Economía de las regiones españolas: especialización regional, convergencia real 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Tema 1.A.1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1.A.12</a:t>
            </a:r>
            <a:endParaRPr lang="en-US" sz="1200" dirty="0"/>
          </a:p>
        </p:txBody>
      </p:sp>
      <p:pic>
        <p:nvPicPr>
          <p:cNvPr id="29" name="Image 8" descr="1.A.12 · Mercado de trabajo en España. Características, funcionamiento y problemas. Las p">
            <a:hlinkClick r:id="rId12" action="ppaction://hlinksldjump" tooltip="1.A.12 · Mercado de trabajo en España. Características, funcionamiento y problemas. Las 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1" name="Image 9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3" name="Image 10" descr="Esquema">
            <a:hlinkClick r:id="rId14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5" name="Image 11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1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comercial de la UE. Las relaciones económicas exteriores de la UE. La política de cooperación al desarrollo de la UE.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0" name="Image 0" descr="1.B.6 · Tratados, orden jurídico e instituciones de la Unión Europea.">
            <a:hlinkClick r:id="rId3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2" name="Image 1" descr="1.B.7 · El mercado único de la UE. El principio de libre circulación de mercancías, serv">
            <a:hlinkClick r:id="rId5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14" name="Image 2" descr="1.B.8 · Las finanzas de la UE y el presupuesto comunitario. El marco financiero plurianu">
            <a:hlinkClick r:id="rId6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16" name="Image 3" descr="1.B.9 · La política agrícola de la UE. Problemas económicos y procesos de reforma. La po">
            <a:hlinkClick r:id="rId7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8" name="Image 4" descr="1.B.10 · La Cohesión Económica y Social en la UE: política regional e instrumentos presup">
            <a:hlinkClick r:id="rId8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sp>
        <p:nvSpPr>
          <p:cNvPr id="20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1" name="Image 5" descr="1.B.12 · El origen del euro: funcionamiento y evolución del SME. Los criterios de converg">
            <a:hlinkClick r:id="rId9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2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6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A.18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200" dirty="0"/>
          </a:p>
        </p:txBody>
      </p:sp>
      <p:pic>
        <p:nvPicPr>
          <p:cNvPr id="27" name="Image 7" descr="1.A.18 · La política española de cooperación al desarrollo. Instrumentos de cooperación t">
            <a:hlinkClick r:id="rId11" action="ppaction://hlinksldjump" tooltip="1.A.18 · La política española de cooperación al desarrollo. Instrumentos de cooperación 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Tema 1.B.18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200" dirty="0"/>
          </a:p>
        </p:txBody>
      </p:sp>
      <p:pic>
        <p:nvPicPr>
          <p:cNvPr id="29" name="Image 8" descr="1.B.18 · La OMC. Antecedentes (el GATT) y organización actual. Acuerdos sobre el comercio">
            <a:hlinkClick r:id="rId12" action="ppaction://hlinksldjump" tooltip="1.B.18 · La OMC. Antecedentes (el GATT) y organización actual. Acuerdos sobre el comer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0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1" name="Image 9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2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3" name="Image 10" descr="Esquema">
            <a:hlinkClick r:id="rId14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4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5" name="Image 11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2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origen del euro: funcionamiento y evolución del SME. Los criterios de convergencia nominal. El SEBC. La Unión Bancaria y la Unión de Mercados de Capitales.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0" name="Image 0" descr="1.B.6 · Tratados, orden jurídico e instituciones de la Unión Europea.">
            <a:hlinkClick r:id="rId3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2" name="Image 1" descr="1.B.7 · El mercado único de la UE. El principio de libre circulación de mercancías, serv">
            <a:hlinkClick r:id="rId5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14" name="Image 2" descr="1.B.8 · Las finanzas de la UE y el presupuesto comunitario. El marco financiero plurianu">
            <a:hlinkClick r:id="rId6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16" name="Image 3" descr="1.B.9 · La política agrícola de la UE. Problemas económicos y procesos de reforma. La po">
            <a:hlinkClick r:id="rId7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8" name="Image 4" descr="1.B.10 · La Cohesión Económica y Social en la UE: política regional e instrumentos presup">
            <a:hlinkClick r:id="rId8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20" name="Image 5" descr="1.B.11 · La política comercial de la UE. Las relaciones económicas exteriores de la UE. L">
            <a:hlinkClick r:id="rId9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sp>
        <p:nvSpPr>
          <p:cNvPr id="22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3" name="Image 6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148072"/>
            <a:ext cx="868680" cy="36576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B.13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pic>
        <p:nvPicPr>
          <p:cNvPr id="27" name="Image 7" descr="1.B.13 · La gobernanza económica de la UE y de la zona euro. El Semestre Europeo. Las reg">
            <a:hlinkClick r:id="rId10" action="ppaction://hlinksldjump" tooltip="1.B.13 · La gobernanza económica de la UE y de la zona euro. El Semestre Europeo. Las re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Tema 1.A.11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1.A.11</a:t>
            </a:r>
            <a:endParaRPr lang="en-US" sz="1200" dirty="0"/>
          </a:p>
        </p:txBody>
      </p:sp>
      <p:pic>
        <p:nvPicPr>
          <p:cNvPr id="29" name="Image 8" descr="1.A.11 · Sistema financiero español (II): las entidades de crédito en España. Configuraci">
            <a:hlinkClick r:id="rId11" action="ppaction://hlinksldjump" tooltip="1.A.11 · Sistema financiero español (II): las entidades de crédito en España. Configura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0" name="Tema 1.A.16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1.A.16</a:t>
            </a:r>
            <a:endParaRPr lang="en-US" sz="1200" dirty="0"/>
          </a:p>
        </p:txBody>
      </p:sp>
      <p:pic>
        <p:nvPicPr>
          <p:cNvPr id="31" name="Image 9" descr="1.A.16 · La economía española en el período 1959-1999. El Plan de Estabilización de 1959.">
            <a:hlinkClick r:id="rId12" action="ppaction://hlinksldjump" tooltip="1.A.16 · La economía española en el período 1959-1999. El Plan de Estabilización de 1959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3" name="Image 10" descr="Menú">
            <a:hlinkClick r:id="rId13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5" name="Image 11" descr="Esquema">
            <a:hlinkClick r:id="rId14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7" name="Image 12" descr="Listado">
            <a:hlinkClick r:id="rId15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3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gobernanza económica de la UE y de la zona euro. El Semestre Europeo. Las reglas fiscales y el Procedimiento de Desequilibrios Macroeconómicos. El Mecanismo Europeo de Estabilidad. Mención a la respuesta común de la política fiscal a partir de la COVID-19.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325EEA"/>
          </a:solidFill>
          <a:ln w="9525">
            <a:solidFill>
              <a:srgbClr val="325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700" dirty="0"/>
          </a:p>
        </p:txBody>
      </p:sp>
      <p:sp>
        <p:nvSpPr>
          <p:cNvPr id="9" name="Tema 1.B.6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1.B.6</a:t>
            </a:r>
            <a:endParaRPr lang="en-US" sz="1200" dirty="0"/>
          </a:p>
        </p:txBody>
      </p:sp>
      <p:pic>
        <p:nvPicPr>
          <p:cNvPr id="10" name="Image 0" descr="1.B.6 · Tratados, orden jurídico e instituciones de la Unión Europea.">
            <a:hlinkClick r:id="rId3" action="ppaction://hlinksldjump" tooltip="1.B.6 · Tratados, orden jurídico e instituciones de la Unión Europea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7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1.B.7</a:t>
            </a:r>
            <a:endParaRPr lang="en-US" sz="1200" dirty="0"/>
          </a:p>
        </p:txBody>
      </p:sp>
      <p:pic>
        <p:nvPicPr>
          <p:cNvPr id="12" name="Image 1" descr="1.B.7 · El mercado único de la UE. El principio de libre circulación de mercancías, serv">
            <a:hlinkClick r:id="rId5" action="ppaction://hlinksldjump" tooltip="1.B.7 · El mercado único de la UE. El principio de libre circulación de mercancías, serv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8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1.B.8</a:t>
            </a:r>
            <a:endParaRPr lang="en-US" sz="1200" dirty="0"/>
          </a:p>
        </p:txBody>
      </p:sp>
      <p:pic>
        <p:nvPicPr>
          <p:cNvPr id="14" name="Image 2" descr="1.B.8 · Las finanzas de la UE y el presupuesto comunitario. El marco financiero plurianu">
            <a:hlinkClick r:id="rId6" action="ppaction://hlinksldjump" tooltip="1.B.8 · Las finanzas de la UE y el presupuesto comunitario. El marco financiero plurian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9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1.B.9</a:t>
            </a:r>
            <a:endParaRPr lang="en-US" sz="1200" dirty="0"/>
          </a:p>
        </p:txBody>
      </p:sp>
      <p:pic>
        <p:nvPicPr>
          <p:cNvPr id="16" name="Image 3" descr="1.B.9 · La política agrícola de la UE. Problemas económicos y procesos de reforma. La po">
            <a:hlinkClick r:id="rId7" action="ppaction://hlinksldjump" tooltip="1.B.9 · La política agrícola de la UE. Problemas económicos y procesos de reforma. La p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B.10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1.B.10</a:t>
            </a:r>
            <a:endParaRPr lang="en-US" sz="1200" dirty="0"/>
          </a:p>
        </p:txBody>
      </p:sp>
      <p:pic>
        <p:nvPicPr>
          <p:cNvPr id="18" name="Image 4" descr="1.B.10 · La Cohesión Económica y Social en la UE: política regional e instrumentos presup">
            <a:hlinkClick r:id="rId8" action="ppaction://hlinksldjump" tooltip="1.B.10 · La Cohesión Económica y Social en la UE: política regional e instrumentos presu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9" name="Tema 1.B.11"/>
          <p:cNvSpPr txBox="1"/>
          <p:nvPr/>
        </p:nvSpPr>
        <p:spPr>
          <a:xfrm>
            <a:off x="822960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20" name="Image 5" descr="1.B.11 · La política comercial de la UE. Las relaciones económicas exteriores de la UE. L">
            <a:hlinkClick r:id="rId9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868680" cy="365760"/>
          </a:xfrm>
          <a:prstGeom prst="rect">
            <a:avLst/>
          </a:prstGeom>
        </p:spPr>
      </p:pic>
      <p:sp>
        <p:nvSpPr>
          <p:cNvPr id="21" name="Tema 1.B.12"/>
          <p:cNvSpPr txBox="1"/>
          <p:nvPr/>
        </p:nvSpPr>
        <p:spPr>
          <a:xfrm>
            <a:off x="1810512" y="5148072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2" name="Image 6" descr="1.B.12 · El origen del euro: funcionamiento y evolución del SME. Los criterios de converg">
            <a:hlinkClick r:id="rId10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5148072"/>
            <a:ext cx="868680" cy="365760"/>
          </a:xfrm>
          <a:prstGeom prst="rect">
            <a:avLst/>
          </a:prstGeom>
        </p:spPr>
      </p:pic>
      <p:sp>
        <p:nvSpPr>
          <p:cNvPr id="23" name="Tema 1.B.13"/>
          <p:cNvSpPr txBox="1"/>
          <p:nvPr/>
        </p:nvSpPr>
        <p:spPr>
          <a:xfrm>
            <a:off x="2798064" y="5148072"/>
            <a:ext cx="868680" cy="365760"/>
          </a:xfrm>
          <a:prstGeom prst="rect">
            <a:avLst/>
          </a:prstGeom>
          <a:solidFill>
            <a:srgbClr val="325EEA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1.B.13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6" name="Tema 1.B.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5F2987"/>
          </a:solidFill>
          <a:ln w="6350">
            <a:solidFill>
              <a:srgbClr val="5F298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1.B.4</a:t>
            </a:r>
            <a:endParaRPr lang="en-US" sz="1200" dirty="0"/>
          </a:p>
        </p:txBody>
      </p:sp>
      <p:pic>
        <p:nvPicPr>
          <p:cNvPr id="27" name="Image 7" descr="1.B.4 · El saldo presupuestario y la deuda pública en España. Análisis de su evolución r">
            <a:hlinkClick r:id="rId11" action="ppaction://hlinksldjump" tooltip="1.B.4 · El saldo presupuestario y la deuda pública en España. Análisis de su evolución 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8" name="Tema 1.B.12"/>
          <p:cNvSpPr txBox="1"/>
          <p:nvPr/>
        </p:nvSpPr>
        <p:spPr>
          <a:xfrm>
            <a:off x="7517740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1.B.12</a:t>
            </a:r>
            <a:endParaRPr lang="en-US" sz="1200" dirty="0"/>
          </a:p>
        </p:txBody>
      </p:sp>
      <p:pic>
        <p:nvPicPr>
          <p:cNvPr id="29" name="Image 8" descr="1.B.12 · El origen del euro: funcionamiento y evolución del SME. Los criterios de converg">
            <a:hlinkClick r:id="rId10" action="ppaction://hlinksldjump" tooltip="1.B.12 · El origen del euro: funcionamiento y evolución del SME. Los criterios de conver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740" y="4178808"/>
            <a:ext cx="868680" cy="365760"/>
          </a:xfrm>
          <a:prstGeom prst="rect">
            <a:avLst/>
          </a:prstGeom>
        </p:spPr>
      </p:pic>
      <p:sp>
        <p:nvSpPr>
          <p:cNvPr id="30" name="Tema 1.A.10"/>
          <p:cNvSpPr txBox="1"/>
          <p:nvPr/>
        </p:nvSpPr>
        <p:spPr>
          <a:xfrm>
            <a:off x="8505292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200" dirty="0"/>
          </a:p>
        </p:txBody>
      </p:sp>
      <p:pic>
        <p:nvPicPr>
          <p:cNvPr id="31" name="Image 9" descr="1.A.10 · Sistema financiero español (I): evolución reciente del sistema financiero españo">
            <a:hlinkClick r:id="rId12" action="ppaction://hlinksldjump" tooltip="1.A.10 · Sistema financiero español (I): evolución reciente del sistema financiero españ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2" y="4178808"/>
            <a:ext cx="868680" cy="365760"/>
          </a:xfrm>
          <a:prstGeom prst="rect">
            <a:avLst/>
          </a:prstGeom>
        </p:spPr>
      </p:pic>
      <p:sp>
        <p:nvSpPr>
          <p:cNvPr id="32" name="Tema 1.A.17"/>
          <p:cNvSpPr txBox="1"/>
          <p:nvPr/>
        </p:nvSpPr>
        <p:spPr>
          <a:xfrm>
            <a:off x="9492844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1.A.17</a:t>
            </a:r>
            <a:endParaRPr lang="en-US" sz="1200" dirty="0"/>
          </a:p>
        </p:txBody>
      </p:sp>
      <p:pic>
        <p:nvPicPr>
          <p:cNvPr id="33" name="Image 10" descr="1.A.17 · Evolución de la economía española desde 1999 hasta la actualidad. Especial refer">
            <a:hlinkClick r:id="rId13" action="ppaction://hlinksldjump" tooltip="1.A.17 · Evolución de la economía española desde 1999 hasta la actualidad. Especial refe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4178808"/>
            <a:ext cx="868680" cy="365760"/>
          </a:xfrm>
          <a:prstGeom prst="rect">
            <a:avLst/>
          </a:prstGeom>
        </p:spPr>
      </p:pic>
      <p:sp>
        <p:nvSpPr>
          <p:cNvPr id="34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35" name="Image 11" descr="Menú">
            <a:hlinkClick r:id="rId14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36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37" name="Image 12" descr="Esquema">
            <a:hlinkClick r:id="rId15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38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39" name="Image 13" descr="Listado">
            <a:hlinkClick r:id="rId16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4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Económico Internacional: de Bretton Woods a la actualidad.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B9BD5"/>
          </a:solidFill>
          <a:ln w="9525">
            <a:solidFill>
              <a:srgbClr val="497C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económico e instituciones internacionales</a:t>
            </a:r>
            <a:endParaRPr lang="en-US" sz="1700" dirty="0"/>
          </a:p>
        </p:txBody>
      </p:sp>
      <p:sp>
        <p:nvSpPr>
          <p:cNvPr id="9" name="Tema 1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B9BD5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200" dirty="0"/>
          </a:p>
        </p:txBody>
      </p:sp>
      <p:sp>
        <p:nvSpPr>
          <p:cNvPr id="10" name="Tema 1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200" dirty="0"/>
          </a:p>
        </p:txBody>
      </p:sp>
      <p:pic>
        <p:nvPicPr>
          <p:cNvPr id="11" name="Image 0" descr="1.B.15 · Crisis financieras y pánicos bancarios. Especial referencia a la crisis financie">
            <a:hlinkClick r:id="rId3" action="ppaction://hlinksldjump" tooltip="1.B.15 · Crisis financieras y pánicos bancarios. Especial referencia a la crisis financi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2" name="Tema 1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200" dirty="0"/>
          </a:p>
        </p:txBody>
      </p:sp>
      <p:pic>
        <p:nvPicPr>
          <p:cNvPr id="13" name="Image 1" descr="1.B.16 · El Fondo Monetario Internacional. Estructura y políticas. Referencias a la coord">
            <a:hlinkClick r:id="rId5" action="ppaction://hlinksldjump" tooltip="1.B.16 · El Fondo Monetario Internacional. Estructura y políticas. Referencias a la coo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200" dirty="0"/>
          </a:p>
        </p:txBody>
      </p:sp>
      <p:pic>
        <p:nvPicPr>
          <p:cNvPr id="15" name="Image 2" descr="1.B.17 · El Grupo del Banco Mundial. Los Bancos Regionales de Desarrollo. Otras instituci">
            <a:hlinkClick r:id="rId6" action="ppaction://hlinksldjump" tooltip="1.B.17 · El Grupo del Banco Mundial. Los Bancos Regionales de Desarrollo. Otras institu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200" dirty="0"/>
          </a:p>
        </p:txBody>
      </p:sp>
      <p:pic>
        <p:nvPicPr>
          <p:cNvPr id="17" name="Image 3" descr="1.B.18 · La OMC. Antecedentes (el GATT) y organización actual. Acuerdos sobre el comercio">
            <a:hlinkClick r:id="rId7" action="ppaction://hlinksldjump" tooltip="1.B.18 · La OMC. Antecedentes (el GATT) y organización actual. Acuerdos sobre el comer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B.16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200" dirty="0"/>
          </a:p>
        </p:txBody>
      </p:sp>
      <p:pic>
        <p:nvPicPr>
          <p:cNvPr id="21" name="Image 4" descr="1.B.16 · El Fondo Monetario Internacional. Estructura y políticas. Referencias a la coord">
            <a:hlinkClick r:id="rId5" action="ppaction://hlinksldjump" tooltip="1.B.16 · El Fondo Monetario Internacional. Estructura y políticas. Referencias a la coo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5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 financieras y pánicos bancarios. Especial referencia a la crisis financiera internacional iniciada en 2007-2008.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B9BD5"/>
          </a:solidFill>
          <a:ln w="9525">
            <a:solidFill>
              <a:srgbClr val="497C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económico e instituciones internacionales</a:t>
            </a:r>
            <a:endParaRPr lang="en-US" sz="1700" dirty="0"/>
          </a:p>
        </p:txBody>
      </p:sp>
      <p:sp>
        <p:nvSpPr>
          <p:cNvPr id="9" name="Tema 1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200" dirty="0"/>
          </a:p>
        </p:txBody>
      </p:sp>
      <p:pic>
        <p:nvPicPr>
          <p:cNvPr id="10" name="Image 0" descr="1.B.14 · Sistema Económico Internacional: de Bretton Woods a la actualidad.">
            <a:hlinkClick r:id="rId3" action="ppaction://hlinksldjump" tooltip="1.B.14 · Sistema Económico Internacional: de Bretton Woods a la actua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B9BD5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200" dirty="0"/>
          </a:p>
        </p:txBody>
      </p:sp>
      <p:sp>
        <p:nvSpPr>
          <p:cNvPr id="12" name="Tema 1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200" dirty="0"/>
          </a:p>
        </p:txBody>
      </p:sp>
      <p:pic>
        <p:nvPicPr>
          <p:cNvPr id="13" name="Image 1" descr="1.B.16 · El Fondo Monetario Internacional. Estructura y políticas. Referencias a la coord">
            <a:hlinkClick r:id="rId5" action="ppaction://hlinksldjump" tooltip="1.B.16 · El Fondo Monetario Internacional. Estructura y políticas. Referencias a la coo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4" name="Tema 1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200" dirty="0"/>
          </a:p>
        </p:txBody>
      </p:sp>
      <p:pic>
        <p:nvPicPr>
          <p:cNvPr id="15" name="Image 2" descr="1.B.17 · El Grupo del Banco Mundial. Los Bancos Regionales de Desarrollo. Otras instituci">
            <a:hlinkClick r:id="rId6" action="ppaction://hlinksldjump" tooltip="1.B.17 · El Grupo del Banco Mundial. Los Bancos Regionales de Desarrollo. Otras institu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200" dirty="0"/>
          </a:p>
        </p:txBody>
      </p:sp>
      <p:pic>
        <p:nvPicPr>
          <p:cNvPr id="17" name="Image 3" descr="1.B.18 · La OMC. Antecedentes (el GATT) y organización actual. Acuerdos sobre el comercio">
            <a:hlinkClick r:id="rId7" action="ppaction://hlinksldjump" tooltip="1.B.18 · La OMC. Antecedentes (el GATT) y organización actual. Acuerdos sobre el comer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A.10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1.A.10</a:t>
            </a:r>
            <a:endParaRPr lang="en-US" sz="1200" dirty="0"/>
          </a:p>
        </p:txBody>
      </p:sp>
      <p:pic>
        <p:nvPicPr>
          <p:cNvPr id="21" name="Image 4" descr="1.A.10 · Sistema financiero español (I): evolución reciente del sistema financiero españo">
            <a:hlinkClick r:id="rId8" action="ppaction://hlinksldjump" tooltip="1.A.10 · Sistema financiero español (I): evolución reciente del sistema financiero españ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6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Fondo Monetario Internacional. Estructura y políticas. Referencias a la coordinación internacional de políticas económicas: el G-20, la OCDE y otros foros internacionales.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B9BD5"/>
          </a:solidFill>
          <a:ln w="9525">
            <a:solidFill>
              <a:srgbClr val="497C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económico e instituciones internacionales</a:t>
            </a:r>
            <a:endParaRPr lang="en-US" sz="1700" dirty="0"/>
          </a:p>
        </p:txBody>
      </p:sp>
      <p:sp>
        <p:nvSpPr>
          <p:cNvPr id="9" name="Tema 1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200" dirty="0"/>
          </a:p>
        </p:txBody>
      </p:sp>
      <p:pic>
        <p:nvPicPr>
          <p:cNvPr id="10" name="Image 0" descr="1.B.14 · Sistema Económico Internacional: de Bretton Woods a la actualidad.">
            <a:hlinkClick r:id="rId3" action="ppaction://hlinksldjump" tooltip="1.B.14 · Sistema Económico Internacional: de Bretton Woods a la actua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200" dirty="0"/>
          </a:p>
        </p:txBody>
      </p:sp>
      <p:pic>
        <p:nvPicPr>
          <p:cNvPr id="12" name="Image 1" descr="1.B.15 · Crisis financieras y pánicos bancarios. Especial referencia a la crisis financie">
            <a:hlinkClick r:id="rId5" action="ppaction://hlinksldjump" tooltip="1.B.15 · Crisis financieras y pánicos bancarios. Especial referencia a la crisis financi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B9BD5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200" dirty="0"/>
          </a:p>
        </p:txBody>
      </p:sp>
      <p:sp>
        <p:nvSpPr>
          <p:cNvPr id="14" name="Tema 1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200" dirty="0"/>
          </a:p>
        </p:txBody>
      </p:sp>
      <p:pic>
        <p:nvPicPr>
          <p:cNvPr id="15" name="Image 2" descr="1.B.17 · El Grupo del Banco Mundial. Los Bancos Regionales de Desarrollo. Otras instituci">
            <a:hlinkClick r:id="rId6" action="ppaction://hlinksldjump" tooltip="1.B.17 · El Grupo del Banco Mundial. Los Bancos Regionales de Desarrollo. Otras institu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6" name="Tema 1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200" dirty="0"/>
          </a:p>
        </p:txBody>
      </p:sp>
      <p:pic>
        <p:nvPicPr>
          <p:cNvPr id="17" name="Image 3" descr="1.B.18 · La OMC. Antecedentes (el GATT) y organización actual. Acuerdos sobre el comercio">
            <a:hlinkClick r:id="rId7" action="ppaction://hlinksldjump" tooltip="1.B.18 · La OMC. Antecedentes (el GATT) y organización actual. Acuerdos sobre el comer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B.14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200" dirty="0"/>
          </a:p>
        </p:txBody>
      </p:sp>
      <p:pic>
        <p:nvPicPr>
          <p:cNvPr id="21" name="Image 4" descr="1.B.14 · Sistema Económico Internacional: de Bretton Woods a la actualidad.">
            <a:hlinkClick r:id="rId3" action="ppaction://hlinksldjump" tooltip="1.B.14 · Sistema Económico Internacional: de Bretton Woods a la actua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8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9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0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7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Grupo del Banco Mundial. Los Bancos Regionales de Desarrollo. Otras instituciones multilaterales de desarrollo.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B9BD5"/>
          </a:solidFill>
          <a:ln w="9525">
            <a:solidFill>
              <a:srgbClr val="497C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económico e instituciones internacionales</a:t>
            </a:r>
            <a:endParaRPr lang="en-US" sz="1700" dirty="0"/>
          </a:p>
        </p:txBody>
      </p:sp>
      <p:sp>
        <p:nvSpPr>
          <p:cNvPr id="9" name="Tema 1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200" dirty="0"/>
          </a:p>
        </p:txBody>
      </p:sp>
      <p:pic>
        <p:nvPicPr>
          <p:cNvPr id="10" name="Image 0" descr="1.B.14 · Sistema Económico Internacional: de Bretton Woods a la actualidad.">
            <a:hlinkClick r:id="rId3" action="ppaction://hlinksldjump" tooltip="1.B.14 · Sistema Económico Internacional: de Bretton Woods a la actua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200" dirty="0"/>
          </a:p>
        </p:txBody>
      </p:sp>
      <p:pic>
        <p:nvPicPr>
          <p:cNvPr id="12" name="Image 1" descr="1.B.15 · Crisis financieras y pánicos bancarios. Especial referencia a la crisis financie">
            <a:hlinkClick r:id="rId5" action="ppaction://hlinksldjump" tooltip="1.B.15 · Crisis financieras y pánicos bancarios. Especial referencia a la crisis financi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200" dirty="0"/>
          </a:p>
        </p:txBody>
      </p:sp>
      <p:pic>
        <p:nvPicPr>
          <p:cNvPr id="14" name="Image 2" descr="1.B.16 · El Fondo Monetario Internacional. Estructura y políticas. Referencias a la coord">
            <a:hlinkClick r:id="rId6" action="ppaction://hlinksldjump" tooltip="1.B.16 · El Fondo Monetario Internacional. Estructura y políticas. Referencias a la coo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B9BD5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200" dirty="0"/>
          </a:p>
        </p:txBody>
      </p:sp>
      <p:sp>
        <p:nvSpPr>
          <p:cNvPr id="16" name="Tema 1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200" dirty="0"/>
          </a:p>
        </p:txBody>
      </p:sp>
      <p:pic>
        <p:nvPicPr>
          <p:cNvPr id="17" name="Image 3" descr="1.B.18 · La OMC. Antecedentes (el GATT) y organización actual. Acuerdos sobre el comercio">
            <a:hlinkClick r:id="rId7" action="ppaction://hlinksldjump" tooltip="1.B.18 · La OMC. Antecedentes (el GATT) y organización actual. Acuerdos sobre el comerci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663440"/>
            <a:ext cx="86868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A.18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FF6699"/>
          </a:solidFill>
          <a:ln w="6350">
            <a:solidFill>
              <a:srgbClr val="FF66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1.A.18</a:t>
            </a:r>
            <a:endParaRPr lang="en-US" sz="1200" dirty="0"/>
          </a:p>
        </p:txBody>
      </p:sp>
      <p:pic>
        <p:nvPicPr>
          <p:cNvPr id="21" name="Image 4" descr="1.A.18 · La política española de cooperación al desarrollo. Instrumentos de cooperación t">
            <a:hlinkClick r:id="rId8" action="ppaction://hlinksldjump" tooltip="1.A.18 · La política española de cooperación al desarrollo. Instrumentos de cooperación 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ejercicio · Parte B) Economía pública, Políticas comunitarias e Instituciones multilaterales</a:t>
            </a:r>
            <a:endParaRPr lang="en-US" sz="1200" dirty="0"/>
          </a:p>
        </p:txBody>
      </p:sp>
      <p:sp>
        <p:nvSpPr>
          <p:cNvPr id="3" name="Tema 1.B.18"/>
          <p:cNvSpPr txBox="1"/>
          <p:nvPr/>
        </p:nvSpPr>
        <p:spPr>
          <a:xfrm>
            <a:off x="548640" y="777240"/>
            <a:ext cx="1234440" cy="50292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800" dirty="0"/>
          </a:p>
        </p:txBody>
      </p:sp>
      <p:sp>
        <p:nvSpPr>
          <p:cNvPr id="4" name="Título oficial"/>
          <p:cNvSpPr txBox="1"/>
          <p:nvPr/>
        </p:nvSpPr>
        <p:spPr>
          <a:xfrm>
            <a:off x="548640" y="15087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OMC. Antecedentes (el GATT) y organización actual. Acuerdos sobre el comercio de mercancías y resto de acuerdos, en especial servicios e inversiones. Situación actual.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01168" cy="201168"/>
          </a:xfrm>
          <a:prstGeom prst="rect">
            <a:avLst/>
          </a:prstGeom>
          <a:solidFill>
            <a:srgbClr val="5B9BD5"/>
          </a:solidFill>
          <a:ln w="9525">
            <a:solidFill>
              <a:srgbClr val="497C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4518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económico e instituciones internacionales</a:t>
            </a:r>
            <a:endParaRPr lang="en-US" sz="1700" dirty="0"/>
          </a:p>
        </p:txBody>
      </p:sp>
      <p:sp>
        <p:nvSpPr>
          <p:cNvPr id="9" name="Tema 1.B.14"/>
          <p:cNvSpPr txBox="1"/>
          <p:nvPr/>
        </p:nvSpPr>
        <p:spPr>
          <a:xfrm>
            <a:off x="822960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1.B.14</a:t>
            </a:r>
            <a:endParaRPr lang="en-US" sz="1200" dirty="0"/>
          </a:p>
        </p:txBody>
      </p:sp>
      <p:pic>
        <p:nvPicPr>
          <p:cNvPr id="10" name="Image 0" descr="1.B.14 · Sistema Económico Internacional: de Bretton Woods a la actualidad.">
            <a:hlinkClick r:id="rId3" action="ppaction://hlinksldjump" tooltip="1.B.14 · Sistema Económico Internacional: de Bretton Woods a la actualidad.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868680" cy="365760"/>
          </a:xfrm>
          <a:prstGeom prst="rect">
            <a:avLst/>
          </a:prstGeom>
        </p:spPr>
      </p:pic>
      <p:sp>
        <p:nvSpPr>
          <p:cNvPr id="11" name="Tema 1.B.15"/>
          <p:cNvSpPr txBox="1"/>
          <p:nvPr/>
        </p:nvSpPr>
        <p:spPr>
          <a:xfrm>
            <a:off x="1810512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1.B.15</a:t>
            </a:r>
            <a:endParaRPr lang="en-US" sz="1200" dirty="0"/>
          </a:p>
        </p:txBody>
      </p:sp>
      <p:pic>
        <p:nvPicPr>
          <p:cNvPr id="12" name="Image 1" descr="1.B.15 · Crisis financieras y pánicos bancarios. Especial referencia a la crisis financie">
            <a:hlinkClick r:id="rId5" action="ppaction://hlinksldjump" tooltip="1.B.15 · Crisis financieras y pánicos bancarios. Especial referencia a la crisis financi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4663440"/>
            <a:ext cx="868680" cy="365760"/>
          </a:xfrm>
          <a:prstGeom prst="rect">
            <a:avLst/>
          </a:prstGeom>
        </p:spPr>
      </p:pic>
      <p:sp>
        <p:nvSpPr>
          <p:cNvPr id="13" name="Tema 1.B.16"/>
          <p:cNvSpPr txBox="1"/>
          <p:nvPr/>
        </p:nvSpPr>
        <p:spPr>
          <a:xfrm>
            <a:off x="2798064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1.B.16</a:t>
            </a:r>
            <a:endParaRPr lang="en-US" sz="1200" dirty="0"/>
          </a:p>
        </p:txBody>
      </p:sp>
      <p:pic>
        <p:nvPicPr>
          <p:cNvPr id="14" name="Image 2" descr="1.B.16 · El Fondo Monetario Internacional. Estructura y políticas. Referencias a la coord">
            <a:hlinkClick r:id="rId6" action="ppaction://hlinksldjump" tooltip="1.B.16 · El Fondo Monetario Internacional. Estructura y políticas. Referencias a la coo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663440"/>
            <a:ext cx="868680" cy="365760"/>
          </a:xfrm>
          <a:prstGeom prst="rect">
            <a:avLst/>
          </a:prstGeom>
        </p:spPr>
      </p:pic>
      <p:sp>
        <p:nvSpPr>
          <p:cNvPr id="15" name="Tema 1.B.17"/>
          <p:cNvSpPr txBox="1"/>
          <p:nvPr/>
        </p:nvSpPr>
        <p:spPr>
          <a:xfrm>
            <a:off x="3785616" y="4663440"/>
            <a:ext cx="868680" cy="36576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1.B.17</a:t>
            </a:r>
            <a:endParaRPr lang="en-US" sz="1200" dirty="0"/>
          </a:p>
        </p:txBody>
      </p:sp>
      <p:pic>
        <p:nvPicPr>
          <p:cNvPr id="16" name="Image 3" descr="1.B.17 · El Grupo del Banco Mundial. Los Bancos Regionales de Desarrollo. Otras instituci">
            <a:hlinkClick r:id="rId7" action="ppaction://hlinksldjump" tooltip="1.B.17 · El Grupo del Banco Mundial. Los Bancos Regionales de Desarrollo. Otras instituci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663440"/>
            <a:ext cx="868680" cy="365760"/>
          </a:xfrm>
          <a:prstGeom prst="rect">
            <a:avLst/>
          </a:prstGeom>
        </p:spPr>
      </p:pic>
      <p:sp>
        <p:nvSpPr>
          <p:cNvPr id="17" name="Tema 1.B.18"/>
          <p:cNvSpPr txBox="1"/>
          <p:nvPr/>
        </p:nvSpPr>
        <p:spPr>
          <a:xfrm>
            <a:off x="4773168" y="4663440"/>
            <a:ext cx="868680" cy="365760"/>
          </a:xfrm>
          <a:prstGeom prst="rect">
            <a:avLst/>
          </a:prstGeom>
          <a:solidFill>
            <a:srgbClr val="5B9BD5"/>
          </a:solidFill>
          <a:ln w="28575">
            <a:solidFill>
              <a:srgbClr val="2B2A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1.B.18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55868" y="3611880"/>
            <a:ext cx="53871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301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</a:t>
            </a:r>
            <a:endParaRPr lang="en-US" sz="1100" dirty="0"/>
          </a:p>
        </p:txBody>
      </p:sp>
      <p:sp>
        <p:nvSpPr>
          <p:cNvPr id="20" name="Tema 1.B.11"/>
          <p:cNvSpPr txBox="1"/>
          <p:nvPr/>
        </p:nvSpPr>
        <p:spPr>
          <a:xfrm>
            <a:off x="6530188" y="4178808"/>
            <a:ext cx="868680" cy="365760"/>
          </a:xfrm>
          <a:prstGeom prst="rect">
            <a:avLst/>
          </a:prstGeom>
          <a:solidFill>
            <a:srgbClr val="325EEA"/>
          </a:solidFill>
          <a:ln w="6350">
            <a:solidFill>
              <a:srgbClr val="325E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1.B.11</a:t>
            </a:r>
            <a:endParaRPr lang="en-US" sz="1200" dirty="0"/>
          </a:p>
        </p:txBody>
      </p:sp>
      <p:pic>
        <p:nvPicPr>
          <p:cNvPr id="21" name="Image 4" descr="1.B.11 · La política comercial de la UE. Las relaciones económicas exteriores de la UE. L">
            <a:hlinkClick r:id="rId8" action="ppaction://hlinksldjump" tooltip="1.B.11 · La política comercial de la UE. Las relaciones económicas exteriores de la UE. 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188" y="4178808"/>
            <a:ext cx="868680" cy="365760"/>
          </a:xfrm>
          <a:prstGeom prst="rect">
            <a:avLst/>
          </a:prstGeom>
        </p:spPr>
      </p:pic>
      <p:sp>
        <p:nvSpPr>
          <p:cNvPr id="22" name="Botón Menú"/>
          <p:cNvSpPr txBox="1"/>
          <p:nvPr/>
        </p:nvSpPr>
        <p:spPr>
          <a:xfrm>
            <a:off x="11332159" y="6355080"/>
            <a:ext cx="53949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100" dirty="0"/>
          </a:p>
        </p:txBody>
      </p:sp>
      <p:pic>
        <p:nvPicPr>
          <p:cNvPr id="23" name="Image 5" descr="Menú">
            <a:hlinkClick r:id="rId9" action="ppaction://hlinksldjump" tooltip="Menú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159" y="6355080"/>
            <a:ext cx="539496" cy="310896"/>
          </a:xfrm>
          <a:prstGeom prst="rect">
            <a:avLst/>
          </a:prstGeom>
        </p:spPr>
      </p:pic>
      <p:sp>
        <p:nvSpPr>
          <p:cNvPr id="24" name="Botón Esquema"/>
          <p:cNvSpPr txBox="1"/>
          <p:nvPr/>
        </p:nvSpPr>
        <p:spPr>
          <a:xfrm>
            <a:off x="10449763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00" dirty="0"/>
          </a:p>
        </p:txBody>
      </p:sp>
      <p:pic>
        <p:nvPicPr>
          <p:cNvPr id="25" name="Image 6" descr="Esquema">
            <a:hlinkClick r:id="rId10" action="ppaction://hlinksldjump" tooltip="Esquema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6355080"/>
            <a:ext cx="772668" cy="310896"/>
          </a:xfrm>
          <a:prstGeom prst="rect">
            <a:avLst/>
          </a:prstGeom>
        </p:spPr>
      </p:pic>
      <p:sp>
        <p:nvSpPr>
          <p:cNvPr id="26" name="Botón Listado"/>
          <p:cNvSpPr txBox="1"/>
          <p:nvPr/>
        </p:nvSpPr>
        <p:spPr>
          <a:xfrm>
            <a:off x="9567367" y="6355080"/>
            <a:ext cx="7726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DD6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</a:t>
            </a:r>
            <a:endParaRPr lang="en-US" sz="1100" dirty="0"/>
          </a:p>
        </p:txBody>
      </p:sp>
      <p:pic>
        <p:nvPicPr>
          <p:cNvPr id="27" name="Image 7" descr="Listado">
            <a:hlinkClick r:id="rId11" action="ppaction://hlinksldjump" tooltip="Listado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367" y="6355080"/>
            <a:ext cx="772668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puntes DCE">
  <a:themeElements>
    <a:clrScheme name="Apuntes DCE">
      <a:dk1>
        <a:srgbClr val="2B2A28"/>
      </a:dk1>
      <a:lt1>
        <a:srgbClr val="FFFFFF"/>
      </a:lt1>
      <a:dk2>
        <a:srgbClr val="234A6B"/>
      </a:dk2>
      <a:lt2>
        <a:srgbClr val="F7F4EC"/>
      </a:lt2>
      <a:accent1>
        <a:srgbClr val="7A1F4B"/>
      </a:accent1>
      <a:accent2>
        <a:srgbClr val="234A6B"/>
      </a:accent2>
      <a:accent3>
        <a:srgbClr val="92D050"/>
      </a:accent3>
      <a:accent4>
        <a:srgbClr val="FFC000"/>
      </a:accent4>
      <a:accent5>
        <a:srgbClr val="FF9999"/>
      </a:accent5>
      <a:accent6>
        <a:srgbClr val="75C4FF"/>
      </a:accent6>
      <a:hlink>
        <a:srgbClr val="7A1F4B"/>
      </a:hlink>
      <a:folHlink>
        <a:srgbClr val="5F2987"/>
      </a:folHlink>
    </a:clrScheme>
    <a:fontScheme name="Apuntes D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9062</Words>
  <Application>Microsoft Office PowerPoint</Application>
  <PresentationFormat>Panorámica</PresentationFormat>
  <Paragraphs>1774</Paragraphs>
  <Slides>88</Slides>
  <Notes>88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88</vt:i4>
      </vt:variant>
    </vt:vector>
  </HeadingPairs>
  <TitlesOfParts>
    <vt:vector size="92" baseType="lpstr">
      <vt:lpstr>Arial</vt:lpstr>
      <vt:lpstr>Calibri</vt:lpstr>
      <vt:lpstr>Cambria</vt:lpstr>
      <vt:lpstr>Apuntes DCE</vt:lpstr>
      <vt:lpstr>Presentación de PowerPoint</vt:lpstr>
      <vt:lpstr>Organización del temario</vt:lpstr>
      <vt:lpstr>Tercer ejercicio · Listado de temas</vt:lpstr>
      <vt:lpstr>Tercer ejercicio · Esquema por temas</vt:lpstr>
      <vt:lpstr>Tercer ejercicio · Bloques</vt:lpstr>
      <vt:lpstr>Primer ejercicio · Listado de temas</vt:lpstr>
      <vt:lpstr>Primer ejercicio · Esquema por temas</vt:lpstr>
      <vt:lpstr>Primer ejercicio · Bloques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Organización del temario · Diplomados Comerciales del Estado</dc:title>
  <dc:subject>PptxGenJS Presentation</dc:subject>
  <dc:creator>Manuel Cabado García</dc:creator>
  <cp:lastModifiedBy>Manuel Cabado García</cp:lastModifiedBy>
  <cp:revision>1</cp:revision>
  <dcterms:created xsi:type="dcterms:W3CDTF">2026-10-27T18:32:48Z</dcterms:created>
  <dcterms:modified xsi:type="dcterms:W3CDTF">2026-10-27T18:33:18Z</dcterms:modified>
</cp:coreProperties>
</file>